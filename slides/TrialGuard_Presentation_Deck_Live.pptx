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824f59d87a48f0" /><Relationship Type="http://schemas.openxmlformats.org/officeDocument/2006/relationships/extended-properties" Target="/docProps/app.xml" Id="Rf6e0e01b9f084f16" /><Relationship Type="http://schemas.openxmlformats.org/officeDocument/2006/relationships/officeDocument" Target="/ppt/presentation.xml" Id="Redc3475e9daa4f75" /></Relationships>
</file>

<file path=ppt/presentation.xml><?xml version="1.0" encoding="utf-8"?>
<p:presentation xmlns:p="http://schemas.openxmlformats.org/presentationml/2006/main">
  <p:sldMasterIdLst>
    <p:sldMasterId xmlns:r="http://schemas.openxmlformats.org/officeDocument/2006/relationships" id="2147483648" r:id="R62b34e6467ef46b4"/>
  </p:sldMasterIdLst>
  <p:notesMasterIdLst>
    <p:notesMasterId xmlns:r="http://schemas.openxmlformats.org/officeDocument/2006/relationships" r:id="Rf8f4575654cd4baa"/>
  </p:notesMasterIdLst>
  <p:sldIdLst>
    <p:sldId xmlns:r="http://schemas.openxmlformats.org/officeDocument/2006/relationships" id="256" r:id="Rbf195fe6914b4e58"/>
    <p:sldId xmlns:r="http://schemas.openxmlformats.org/officeDocument/2006/relationships" id="257" r:id="R4c91b9c530d84d16"/>
    <p:sldId xmlns:r="http://schemas.openxmlformats.org/officeDocument/2006/relationships" id="258" r:id="R0b714758a2be4498"/>
    <p:sldId xmlns:r="http://schemas.openxmlformats.org/officeDocument/2006/relationships" id="259" r:id="Reaea9ab69dc3441a"/>
    <p:sldId xmlns:r="http://schemas.openxmlformats.org/officeDocument/2006/relationships" id="260" r:id="R425d183cad9c4226"/>
    <p:sldId xmlns:r="http://schemas.openxmlformats.org/officeDocument/2006/relationships" id="261" r:id="R725f62337a0c4d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b37dd4662b4f58" /><Relationship Type="http://schemas.openxmlformats.org/officeDocument/2006/relationships/slideMaster" Target="/ppt/slideMasters/slideMaster1.xml" Id="R62b34e6467ef46b4" /><Relationship Type="http://schemas.openxmlformats.org/officeDocument/2006/relationships/notesMaster" Target="/ppt/notesMasters/notesMaster1.xml" Id="Rf8f4575654cd4baa" /><Relationship Type="http://schemas.openxmlformats.org/officeDocument/2006/relationships/presProps" Target="/ppt/presProps.xml" Id="Re8ece4697ee3497e" /><Relationship Type="http://schemas.openxmlformats.org/officeDocument/2006/relationships/tableStyles" Target="/ppt/tableStyles.xml" Id="Rf7ced2f651f043c8" /><Relationship Type="http://schemas.openxmlformats.org/officeDocument/2006/relationships/slide" Target="/ppt/slides/slide1.xml" Id="Rbf195fe6914b4e58" /><Relationship Type="http://schemas.openxmlformats.org/officeDocument/2006/relationships/slide" Target="/ppt/slides/slide2.xml" Id="R4c91b9c530d84d16" /><Relationship Type="http://schemas.openxmlformats.org/officeDocument/2006/relationships/slide" Target="/ppt/slides/slide3.xml" Id="R0b714758a2be4498" /><Relationship Type="http://schemas.openxmlformats.org/officeDocument/2006/relationships/slide" Target="/ppt/slides/slide4.xml" Id="Reaea9ab69dc3441a" /><Relationship Type="http://schemas.openxmlformats.org/officeDocument/2006/relationships/slide" Target="/ppt/slides/slide5.xml" Id="R425d183cad9c4226" /><Relationship Type="http://schemas.openxmlformats.org/officeDocument/2006/relationships/slide" Target="/ppt/slides/slide6.xml" Id="R725f62337a0c4d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ffc1cff1cc43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6559598d344700" /><Relationship Type="http://schemas.openxmlformats.org/officeDocument/2006/relationships/notesMaster" Target="/ppt/notesMasters/notesMaster1.xml" Id="R3247f56d56284e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7c236ca31c49b3" /><Relationship Type="http://schemas.openxmlformats.org/officeDocument/2006/relationships/notesMaster" Target="/ppt/notesMasters/notesMaster1.xml" Id="R25de2ec92bbe4e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8e26db50fe40ed" /><Relationship Type="http://schemas.openxmlformats.org/officeDocument/2006/relationships/notesMaster" Target="/ppt/notesMasters/notesMaster1.xml" Id="R8c26584ec5ad4a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b7c8d510844e1d" /><Relationship Type="http://schemas.openxmlformats.org/officeDocument/2006/relationships/notesMaster" Target="/ppt/notesMasters/notesMaster1.xml" Id="R7eb68c2e697845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0d1a884c6a4519" /><Relationship Type="http://schemas.openxmlformats.org/officeDocument/2006/relationships/notesMaster" Target="/ppt/notesMasters/notesMaster1.xml" Id="Rf6f20184ee784f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64d035d1954142" /><Relationship Type="http://schemas.openxmlformats.org/officeDocument/2006/relationships/notesMaster" Target="/ppt/notesMasters/notesMaster1.xml" Id="Ra58e93c1beac43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TrialGuard Development Plan, sections 1 and 15. TrialGuard is a bounded decision-support demonstration, not a clinical decision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TrialGuard Development Plan, sections 1, 4, and 7. No external statistics appear on this template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TrialGuard Development Plan, sections 4 and 15. Product image: slides/assets/trialguard-report.png, captured from the implemented checked-report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implemented TrialGuard runtime and deployment status verified 2026-09-26. The live route uses a Cloudflare quick tunnel to the local FastAPI process, which invokes Amazon Bedrock Claude Haiku 4.5 in us-east-1 with a configured Bedrock Guardrail. Render hosts a durable checked-demo fallback without AWS credentials. CloudWatch receives metadata-only logs and metrics. The diagram uses editable native PowerPoint shapes.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values from the stable TrialGuard build on 2026-09-26: 80/80 tests pass; 7/7 fixed synthetic evaluations matched; NCT06513364 reached full release with five precedents and three review questions; report chat returned a checked source-linked answer; a separate prompt-injection test was blocked; CloudWatch received the metadata-only event. One recent report used three Bedrock calls, 10,282 input tokens, 923 output tokens, and about 15.9 seconds. One observation is not a benchmark. TrialGuard records measured tokens and applies configured per-million-token rates rather than hard-coding a current Haiku price.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implemented deployment status verified 2026-09-26. Live Bedrock URL: https://commerce-terminal-contamination-chosen.trycloudflare.com/. It accepts arbitrary valid NCT IDs, uses ClinicalTrials.gov and Amazon Bedrock in us-east-1, and remains available only while the laptop, app process, and quick tunnel stay awake. Durable fallback: https://trialguard-5erc.onrender.com/. Render cannot currently retrieve ClinicalTrials.gov from its outbound address, so it serves clearly labeled reviewed replays for NCT06860815 and NCT06513364 with no AWS credentials or model calls. Free Render instances may cold-start after inactivity. Static fallback: https://shubhamkragrawal.github.io/TrialGuard/. Keep the intended-use boundary in the final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e46a6a08ba42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8c56089a1a4cfd" /><Relationship Type="http://schemas.openxmlformats.org/officeDocument/2006/relationships/slideLayout" Target="/ppt/slideLayouts/slideLayout1.xml" Id="Rb04d76c039194f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4d76c039194f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8374ef9a314878" /><Relationship Type="http://schemas.openxmlformats.org/officeDocument/2006/relationships/notesSlide" Target="/ppt/notesSlides/notesSlide1.xml" Id="Rc9bada1405294a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deef6f930043f7" /><Relationship Type="http://schemas.openxmlformats.org/officeDocument/2006/relationships/notesSlide" Target="/ppt/notesSlides/notesSlide2.xml" Id="R22d5582d214140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1f821fa74e403c" /><Relationship Type="http://schemas.openxmlformats.org/officeDocument/2006/relationships/image" Target="/ppt/media/image.png" Id="R01627c8f6c0f4424" /><Relationship Type="http://schemas.openxmlformats.org/officeDocument/2006/relationships/notesSlide" Target="/ppt/notesSlides/notesSlide3.xml" Id="R1b5e3303f4a842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a36a4a38324158" /><Relationship Type="http://schemas.openxmlformats.org/officeDocument/2006/relationships/notesSlide" Target="/ppt/notesSlides/notesSlide4.xml" Id="R309745fad4ab41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11ed1c18894570" /><Relationship Type="http://schemas.openxmlformats.org/officeDocument/2006/relationships/notesSlide" Target="/ppt/notesSlides/notesSlide5.xml" Id="R208eca06bb2a4c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bbb05b6f754c81" /><Relationship Type="http://schemas.openxmlformats.org/officeDocument/2006/relationships/notesSlide" Target="/ppt/notesSlides/notesSlide6.xml" Id="R4681ef4cdabf43cb" /></Relationships>
</file>

<file path=ppt/slides/slide1.xml><?xml version="1.0" encoding="utf-8"?>
<p:sld xmlns:p="http://schemas.openxmlformats.org/presentationml/2006/main">
  <p:cSld>
    <p:bg>
      <p:bgPr>
        <a:solidFill xmlns:a="http://schemas.openxmlformats.org/drawingml/2006/main">
          <a:srgbClr val="0A253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CB7D0DC-6A62-407E-869D-847948FA63F6}"/>
              </a:ext>
            </a:extLst>
          </p:cNvPr>
          <p:cNvSpPr>
            <a:spLocks xmlns:a="http://schemas.openxmlformats.org/drawingml/2006/main" noGrp="1"/>
          </p:cNvSpPr>
          <p:nvPr/>
        </p:nvSpPr>
        <p:spPr>
          <a:xfrm xmlns:a="http://schemas.openxmlformats.org/drawingml/2006/main">
            <a:off x="9096375" y="0"/>
            <a:ext cx="3095625" cy="6858000"/>
          </a:xfrm>
          <a:prstGeom xmlns:a="http://schemas.openxmlformats.org/drawingml/2006/main" prst="rect">
            <a:avLst/>
          </a:prstGeom>
          <a:solidFill xmlns:a="http://schemas.openxmlformats.org/drawingml/2006/main">
            <a:srgbClr val="0A8A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FDF146-CFE8-4866-B549-3A8B6E6324EF}"/>
              </a:ext>
            </a:extLst>
          </p:cNvPr>
          <p:cNvSpPr>
            <a:spLocks xmlns:a="http://schemas.openxmlformats.org/drawingml/2006/main" noGrp="1"/>
          </p:cNvSpPr>
          <p:nvPr/>
        </p:nvSpPr>
        <p:spPr>
          <a:xfrm xmlns:a="http://schemas.openxmlformats.org/drawingml/2006/main">
            <a:off x="9096375" y="0"/>
            <a:ext cx="171450" cy="6858000"/>
          </a:xfrm>
          <a:prstGeom xmlns:a="http://schemas.openxmlformats.org/drawingml/2006/main" prst="rect">
            <a:avLst/>
          </a:prstGeom>
          <a:solidFill xmlns:a="http://schemas.openxmlformats.org/drawingml/2006/main">
            <a:srgbClr val="BEEBE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85C2D2-54A4-4EC9-8A72-663FB9491C43}"/>
              </a:ext>
            </a:extLst>
          </p:cNvPr>
          <p:cNvSpPr>
            <a:spLocks xmlns:a="http://schemas.openxmlformats.org/drawingml/2006/main" noGrp="1"/>
          </p:cNvSpPr>
          <p:nvPr/>
        </p:nvSpPr>
        <p:spPr>
          <a:xfrm xmlns:a="http://schemas.openxmlformats.org/drawingml/2006/main">
            <a:off x="704850" y="66675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BEEBE4"/>
                </a:solidFill>
                <a:latin typeface="Avenir Next"/>
                <a:ea typeface="Avenir Next"/>
                <a:cs typeface="Avenir Next"/>
              </a:defRPr>
            </a:pPr>
            <a:r>
              <a:rPr sz="1125" b="1">
                <a:solidFill>
                  <a:srgbClr val="BEEBE4"/>
                </a:solidFill>
                <a:latin typeface="Avenir Next"/>
                <a:ea typeface="Avenir Next"/>
                <a:cs typeface="Avenir Next"/>
              </a:rPr>
              <a:t>HACKATHON DECISION-SUPPORT DEMONSTRATION</a:t>
            </a:r>
          </a:p>
        </p:txBody>
      </p:sp>
      <p:sp>
        <p:nvSpPr>
          <p:cNvPr id="4" name="">
            <a:extLst xmlns:a="http://schemas.openxmlformats.org/drawingml/2006/main">
              <a:ext uri="{FF2B5EF4-FFF2-40B4-BE49-F238E27FC236}">
                <a16:creationId xmlns:a16="http://schemas.microsoft.com/office/drawing/2014/main" id="{54F54F29-5F12-4474-A1EB-7632CF78E289}"/>
              </a:ext>
            </a:extLst>
          </p:cNvPr>
          <p:cNvSpPr>
            <a:spLocks xmlns:a="http://schemas.openxmlformats.org/drawingml/2006/main" noGrp="1"/>
          </p:cNvSpPr>
          <p:nvPr/>
        </p:nvSpPr>
        <p:spPr>
          <a:xfrm xmlns:a="http://schemas.openxmlformats.org/drawingml/2006/main">
            <a:off x="666750" y="1571625"/>
            <a:ext cx="752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6150" b="1">
                <a:solidFill>
                  <a:srgbClr val="FFFFFF"/>
                </a:solidFill>
                <a:latin typeface="Avenir Next"/>
                <a:ea typeface="Avenir Next"/>
                <a:cs typeface="Avenir Next"/>
              </a:defRPr>
            </a:pPr>
            <a:r>
              <a:rPr sz="6150" b="1">
                <a:solidFill>
                  <a:srgbClr val="FFFFFF"/>
                </a:solidFill>
                <a:latin typeface="Avenir Next"/>
                <a:ea typeface="Avenir Next"/>
                <a:cs typeface="Avenir Next"/>
              </a:rPr>
              <a:t>TrialGuard</a:t>
            </a:r>
          </a:p>
        </p:txBody>
      </p:sp>
      <p:sp>
        <p:nvSpPr>
          <p:cNvPr id="5" name="">
            <a:extLst xmlns:a="http://schemas.openxmlformats.org/drawingml/2006/main">
              <a:ext uri="{FF2B5EF4-FFF2-40B4-BE49-F238E27FC236}">
                <a16:creationId xmlns:a16="http://schemas.microsoft.com/office/drawing/2014/main" id="{802B8708-D471-41A1-A3A1-AE426B033F28}"/>
              </a:ext>
            </a:extLst>
          </p:cNvPr>
          <p:cNvSpPr>
            <a:spLocks xmlns:a="http://schemas.openxmlformats.org/drawingml/2006/main" noGrp="1"/>
          </p:cNvSpPr>
          <p:nvPr/>
        </p:nvSpPr>
        <p:spPr>
          <a:xfrm xmlns:a="http://schemas.openxmlformats.org/drawingml/2006/main">
            <a:off x="704850" y="2714625"/>
            <a:ext cx="7334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FFFFFF"/>
                </a:solidFill>
                <a:latin typeface="Avenir Next"/>
                <a:ea typeface="Avenir Next"/>
                <a:cs typeface="Avenir Next"/>
              </a:defRPr>
            </a:pPr>
            <a:r>
              <a:rPr sz="2325" b="0">
                <a:solidFill>
                  <a:srgbClr val="FFFFFF"/>
                </a:solidFill>
                <a:latin typeface="Avenir Next"/>
                <a:ea typeface="Avenir Next"/>
                <a:cs typeface="Avenir Next"/>
              </a:rPr>
              <a:t>Evidence-linked trial review and grounded follow-up chat from public records</a:t>
            </a:r>
          </a:p>
        </p:txBody>
      </p:sp>
      <p:sp>
        <p:nvSpPr>
          <p:cNvPr id="6" name="">
            <a:extLst xmlns:a="http://schemas.openxmlformats.org/drawingml/2006/main">
              <a:ext uri="{FF2B5EF4-FFF2-40B4-BE49-F238E27FC236}">
                <a16:creationId xmlns:a16="http://schemas.microsoft.com/office/drawing/2014/main" id="{4A8380D3-43A1-4D3F-9BE4-075F85EEB863}"/>
              </a:ext>
            </a:extLst>
          </p:cNvPr>
          <p:cNvSpPr>
            <a:spLocks xmlns:a="http://schemas.openxmlformats.org/drawingml/2006/main" noGrp="1"/>
          </p:cNvSpPr>
          <p:nvPr/>
        </p:nvSpPr>
        <p:spPr>
          <a:xfrm xmlns:a="http://schemas.openxmlformats.org/drawingml/2006/main">
            <a:off x="704850" y="4095750"/>
            <a:ext cx="1143000" cy="0"/>
          </a:xfrm>
          <a:prstGeom xmlns:a="http://schemas.openxmlformats.org/drawingml/2006/main" prst="line">
            <a:avLst/>
          </a:prstGeom>
          <a:noFill xmlns:a="http://schemas.openxmlformats.org/drawingml/2006/main"/>
          <a:ln xmlns:a="http://schemas.openxmlformats.org/drawingml/2006/main" w="47625">
            <a:solidFill>
              <a:srgbClr val="BEEBE4"/>
            </a:solidFill>
          </a:ln>
        </p:spPr>
      </p:sp>
      <p:sp>
        <p:nvSpPr>
          <p:cNvPr id="7" name="">
            <a:extLst xmlns:a="http://schemas.openxmlformats.org/drawingml/2006/main">
              <a:ext uri="{FF2B5EF4-FFF2-40B4-BE49-F238E27FC236}">
                <a16:creationId xmlns:a16="http://schemas.microsoft.com/office/drawing/2014/main" id="{7C7F837A-0A8C-4F21-A9D6-CA5EF7CDC844}"/>
              </a:ext>
            </a:extLst>
          </p:cNvPr>
          <p:cNvSpPr>
            <a:spLocks xmlns:a="http://schemas.openxmlformats.org/drawingml/2006/main" noGrp="1"/>
          </p:cNvSpPr>
          <p:nvPr/>
        </p:nvSpPr>
        <p:spPr>
          <a:xfrm xmlns:a="http://schemas.openxmlformats.org/drawingml/2006/main">
            <a:off x="704850" y="4333875"/>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BEEBE4"/>
                </a:solidFill>
                <a:latin typeface="Avenir Next"/>
                <a:ea typeface="Avenir Next"/>
                <a:cs typeface="Avenir Next"/>
              </a:defRPr>
            </a:pPr>
            <a:r>
              <a:rPr sz="1500" b="0">
                <a:solidFill>
                  <a:srgbClr val="BEEBE4"/>
                </a:solidFill>
                <a:latin typeface="Avenir Next"/>
                <a:ea typeface="Avenir Next"/>
                <a:cs typeface="Avenir Next"/>
              </a:rPr>
              <a:t>For clinical operations and trial-review teams</a:t>
            </a:r>
          </a:p>
        </p:txBody>
      </p:sp>
      <p:sp>
        <p:nvSpPr>
          <p:cNvPr id="8" name="">
            <a:extLst xmlns:a="http://schemas.openxmlformats.org/drawingml/2006/main">
              <a:ext uri="{FF2B5EF4-FFF2-40B4-BE49-F238E27FC236}">
                <a16:creationId xmlns:a16="http://schemas.microsoft.com/office/drawing/2014/main" id="{65AB0DAF-0A07-4609-94F5-A237AEE0E099}"/>
              </a:ext>
            </a:extLst>
          </p:cNvPr>
          <p:cNvSpPr>
            <a:spLocks xmlns:a="http://schemas.openxmlformats.org/drawingml/2006/main" noGrp="1"/>
          </p:cNvSpPr>
          <p:nvPr/>
        </p:nvSpPr>
        <p:spPr>
          <a:xfrm xmlns:a="http://schemas.openxmlformats.org/drawingml/2006/main">
            <a:off x="9639300" y="14478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PUBLIC RECORD</a:t>
            </a:r>
          </a:p>
        </p:txBody>
      </p:sp>
      <p:sp>
        <p:nvSpPr>
          <p:cNvPr id="9" name="">
            <a:extLst xmlns:a="http://schemas.openxmlformats.org/drawingml/2006/main">
              <a:ext uri="{FF2B5EF4-FFF2-40B4-BE49-F238E27FC236}">
                <a16:creationId xmlns:a16="http://schemas.microsoft.com/office/drawing/2014/main" id="{2E660550-C1B3-46CC-AEBB-C5E42ECEB68E}"/>
              </a:ext>
            </a:extLst>
          </p:cNvPr>
          <p:cNvSpPr>
            <a:spLocks xmlns:a="http://schemas.openxmlformats.org/drawingml/2006/main" noGrp="1"/>
          </p:cNvSpPr>
          <p:nvPr/>
        </p:nvSpPr>
        <p:spPr>
          <a:xfrm xmlns:a="http://schemas.openxmlformats.org/drawingml/2006/main">
            <a:off x="9639300" y="24003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BOUNDED COHORT</a:t>
            </a:r>
          </a:p>
        </p:txBody>
      </p:sp>
      <p:sp>
        <p:nvSpPr>
          <p:cNvPr id="10" name="">
            <a:extLst xmlns:a="http://schemas.openxmlformats.org/drawingml/2006/main">
              <a:ext uri="{FF2B5EF4-FFF2-40B4-BE49-F238E27FC236}">
                <a16:creationId xmlns:a16="http://schemas.microsoft.com/office/drawing/2014/main" id="{3DC399F2-19A7-4182-AE07-67A5F5A05DF8}"/>
              </a:ext>
            </a:extLst>
          </p:cNvPr>
          <p:cNvSpPr>
            <a:spLocks xmlns:a="http://schemas.openxmlformats.org/drawingml/2006/main" noGrp="1"/>
          </p:cNvSpPr>
          <p:nvPr/>
        </p:nvSpPr>
        <p:spPr>
          <a:xfrm xmlns:a="http://schemas.openxmlformats.org/drawingml/2006/main">
            <a:off x="9639300" y="33528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RELEASE GATE</a:t>
            </a:r>
          </a:p>
        </p:txBody>
      </p:sp>
      <p:sp>
        <p:nvSpPr>
          <p:cNvPr id="11" name="">
            <a:extLst xmlns:a="http://schemas.openxmlformats.org/drawingml/2006/main">
              <a:ext uri="{FF2B5EF4-FFF2-40B4-BE49-F238E27FC236}">
                <a16:creationId xmlns:a16="http://schemas.microsoft.com/office/drawing/2014/main" id="{CE35F431-D18E-4A00-933E-6F4ED1744081}"/>
              </a:ext>
            </a:extLst>
          </p:cNvPr>
          <p:cNvSpPr>
            <a:spLocks xmlns:a="http://schemas.openxmlformats.org/drawingml/2006/main" noGrp="1"/>
          </p:cNvSpPr>
          <p:nvPr/>
        </p:nvSpPr>
        <p:spPr>
          <a:xfrm xmlns:a="http://schemas.openxmlformats.org/drawingml/2006/main">
            <a:off x="9639300" y="1943100"/>
            <a:ext cx="1390650" cy="0"/>
          </a:xfrm>
          <a:prstGeom xmlns:a="http://schemas.openxmlformats.org/drawingml/2006/main" prst="line">
            <a:avLst/>
          </a:prstGeom>
          <a:noFill xmlns:a="http://schemas.openxmlformats.org/drawingml/2006/main"/>
          <a:ln xmlns:a="http://schemas.openxmlformats.org/drawingml/2006/main" w="19050">
            <a:solidFill>
              <a:srgbClr val="BEEBE4"/>
            </a:solidFill>
          </a:ln>
        </p:spPr>
      </p:sp>
      <p:sp>
        <p:nvSpPr>
          <p:cNvPr id="12" name="">
            <a:extLst xmlns:a="http://schemas.openxmlformats.org/drawingml/2006/main">
              <a:ext uri="{FF2B5EF4-FFF2-40B4-BE49-F238E27FC236}">
                <a16:creationId xmlns:a16="http://schemas.microsoft.com/office/drawing/2014/main" id="{F55601D0-91EF-4809-8978-6D1A15DF405C}"/>
              </a:ext>
            </a:extLst>
          </p:cNvPr>
          <p:cNvSpPr>
            <a:spLocks xmlns:a="http://schemas.openxmlformats.org/drawingml/2006/main" noGrp="1"/>
          </p:cNvSpPr>
          <p:nvPr/>
        </p:nvSpPr>
        <p:spPr>
          <a:xfrm xmlns:a="http://schemas.openxmlformats.org/drawingml/2006/main">
            <a:off x="9639300" y="2895600"/>
            <a:ext cx="1390650" cy="0"/>
          </a:xfrm>
          <a:prstGeom xmlns:a="http://schemas.openxmlformats.org/drawingml/2006/main" prst="line">
            <a:avLst/>
          </a:prstGeom>
          <a:noFill xmlns:a="http://schemas.openxmlformats.org/drawingml/2006/main"/>
          <a:ln xmlns:a="http://schemas.openxmlformats.org/drawingml/2006/main" w="19050">
            <a:solidFill>
              <a:srgbClr val="BEEBE4"/>
            </a:solidFill>
          </a:ln>
        </p:spPr>
      </p:sp>
      <p:sp>
        <p:nvSpPr>
          <p:cNvPr id="13" name="">
            <a:extLst xmlns:a="http://schemas.openxmlformats.org/drawingml/2006/main">
              <a:ext uri="{FF2B5EF4-FFF2-40B4-BE49-F238E27FC236}">
                <a16:creationId xmlns:a16="http://schemas.microsoft.com/office/drawing/2014/main" id="{869CEF16-AB9C-476B-8603-BF42E9A2D3C9}"/>
              </a:ext>
            </a:extLst>
          </p:cNvPr>
          <p:cNvSpPr>
            <a:spLocks xmlns:a="http://schemas.openxmlformats.org/drawingml/2006/main" noGrp="1"/>
          </p:cNvSpPr>
          <p:nvPr/>
        </p:nvSpPr>
        <p:spPr>
          <a:xfrm xmlns:a="http://schemas.openxmlformats.org/drawingml/2006/main">
            <a:off x="9639300" y="3848100"/>
            <a:ext cx="1390650" cy="0"/>
          </a:xfrm>
          <a:prstGeom xmlns:a="http://schemas.openxmlformats.org/drawingml/2006/main" prst="line">
            <a:avLst/>
          </a:prstGeom>
          <a:noFill xmlns:a="http://schemas.openxmlformats.org/drawingml/2006/main"/>
          <a:ln xmlns:a="http://schemas.openxmlformats.org/drawingml/2006/main" w="19050">
            <a:solidFill>
              <a:srgbClr val="BEEBE4"/>
            </a:solidFill>
          </a:ln>
        </p:spPr>
      </p:sp>
      <p:sp>
        <p:nvSpPr>
          <p:cNvPr id="14" name="">
            <a:extLst xmlns:a="http://schemas.openxmlformats.org/drawingml/2006/main">
              <a:ext uri="{FF2B5EF4-FFF2-40B4-BE49-F238E27FC236}">
                <a16:creationId xmlns:a16="http://schemas.microsoft.com/office/drawing/2014/main" id="{688ED094-F74D-43A0-85E7-9F901F72629A}"/>
              </a:ext>
            </a:extLst>
          </p:cNvPr>
          <p:cNvSpPr>
            <a:spLocks xmlns:a="http://schemas.openxmlformats.org/drawingml/2006/main" noGrp="1"/>
          </p:cNvSpPr>
          <p:nvPr/>
        </p:nvSpPr>
        <p:spPr>
          <a:xfrm xmlns:a="http://schemas.openxmlformats.org/drawingml/2006/main">
            <a:off x="704850" y="61912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IMPLEMENTED DEMONSTRATION</a:t>
            </a:r>
          </a:p>
        </p:txBody>
      </p:sp>
    </p:spTree>
    <p:extLst>
      <p:ext uri="{BB962C8B-B14F-4D97-AF65-F5344CB8AC3E}">
        <p14:creationId xmlns:p14="http://schemas.microsoft.com/office/powerpoint/2010/main" val="16372514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EEBB592-7E17-47DD-973E-449CE15A3708}"/>
              </a:ext>
            </a:extLst>
          </p:cNvPr>
          <p:cNvSpPr>
            <a:spLocks xmlns:a="http://schemas.openxmlformats.org/drawingml/2006/main" noGrp="1"/>
          </p:cNvSpPr>
          <p:nvPr/>
        </p:nvSpPr>
        <p:spPr>
          <a:xfrm xmlns:a="http://schemas.openxmlformats.org/drawingml/2006/main">
            <a:off x="609600" y="466725"/>
            <a:ext cx="514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A8A88"/>
                </a:solidFill>
                <a:latin typeface="Avenir Next"/>
                <a:ea typeface="Avenir Next"/>
                <a:cs typeface="Avenir Next"/>
              </a:defRPr>
            </a:pPr>
            <a:r>
              <a:rPr sz="1275" b="1">
                <a:solidFill>
                  <a:srgbClr val="0A8A88"/>
                </a:solidFill>
                <a:latin typeface="Avenir Next"/>
                <a:ea typeface="Avenir Next"/>
                <a:cs typeface="Avenir Next"/>
              </a:rPr>
              <a:t>02</a:t>
            </a:r>
          </a:p>
        </p:txBody>
      </p:sp>
      <p:sp>
        <p:nvSpPr>
          <p:cNvPr id="2" name="">
            <a:extLst xmlns:a="http://schemas.openxmlformats.org/drawingml/2006/main">
              <a:ext uri="{FF2B5EF4-FFF2-40B4-BE49-F238E27FC236}">
                <a16:creationId xmlns:a16="http://schemas.microsoft.com/office/drawing/2014/main" id="{2FC02499-312E-4C15-8610-47182B2CDC52}"/>
              </a:ext>
            </a:extLst>
          </p:cNvPr>
          <p:cNvSpPr>
            <a:spLocks xmlns:a="http://schemas.openxmlformats.org/drawingml/2006/main" noGrp="1"/>
          </p:cNvSpPr>
          <p:nvPr/>
        </p:nvSpPr>
        <p:spPr>
          <a:xfrm xmlns:a="http://schemas.openxmlformats.org/drawingml/2006/main">
            <a:off x="609600" y="7524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0A2538"/>
                </a:solidFill>
                <a:latin typeface="Avenir Next"/>
                <a:ea typeface="Avenir Next"/>
                <a:cs typeface="Avenir Next"/>
              </a:defRPr>
            </a:pPr>
            <a:r>
              <a:rPr sz="3450" b="1">
                <a:solidFill>
                  <a:srgbClr val="0A2538"/>
                </a:solidFill>
                <a:latin typeface="Avenir Next"/>
                <a:ea typeface="Avenir Next"/>
                <a:cs typeface="Avenir Next"/>
              </a:rPr>
              <a:t>The trial review problem</a:t>
            </a:r>
          </a:p>
        </p:txBody>
      </p:sp>
      <p:sp>
        <p:nvSpPr>
          <p:cNvPr id="3" name="">
            <a:extLst xmlns:a="http://schemas.openxmlformats.org/drawingml/2006/main">
              <a:ext uri="{FF2B5EF4-FFF2-40B4-BE49-F238E27FC236}">
                <a16:creationId xmlns:a16="http://schemas.microsoft.com/office/drawing/2014/main" id="{04A95BA1-8E39-4A44-B72E-22AE4C04791B}"/>
              </a:ext>
            </a:extLst>
          </p:cNvPr>
          <p:cNvSpPr>
            <a:spLocks xmlns:a="http://schemas.openxmlformats.org/drawingml/2006/main" noGrp="1"/>
          </p:cNvSpPr>
          <p:nvPr/>
        </p:nvSpPr>
        <p:spPr>
          <a:xfrm xmlns:a="http://schemas.openxmlformats.org/drawingml/2006/main">
            <a:off x="628650" y="13144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Operational review starts with fragments spread across public records</a:t>
            </a:r>
          </a:p>
        </p:txBody>
      </p:sp>
      <p:sp>
        <p:nvSpPr>
          <p:cNvPr id="4" name="">
            <a:extLst xmlns:a="http://schemas.openxmlformats.org/drawingml/2006/main">
              <a:ext uri="{FF2B5EF4-FFF2-40B4-BE49-F238E27FC236}">
                <a16:creationId xmlns:a16="http://schemas.microsoft.com/office/drawing/2014/main" id="{3D53E274-0701-47E8-AA0E-621B7BA2D128}"/>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5" name="">
            <a:extLst xmlns:a="http://schemas.openxmlformats.org/drawingml/2006/main">
              <a:ext uri="{FF2B5EF4-FFF2-40B4-BE49-F238E27FC236}">
                <a16:creationId xmlns:a16="http://schemas.microsoft.com/office/drawing/2014/main" id="{41C1B4C4-5590-4C06-BB81-FBA8129D4952}"/>
              </a:ext>
            </a:extLst>
          </p:cNvPr>
          <p:cNvSpPr>
            <a:spLocks xmlns:a="http://schemas.openxmlformats.org/drawingml/2006/main" noGrp="1"/>
          </p:cNvSpPr>
          <p:nvPr/>
        </p:nvSpPr>
        <p:spPr>
          <a:xfrm xmlns:a="http://schemas.openxmlformats.org/drawingml/2006/main">
            <a:off x="628650" y="223837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BEEBE4"/>
                </a:solidFill>
                <a:latin typeface="Avenir Next"/>
                <a:ea typeface="Avenir Next"/>
                <a:cs typeface="Avenir Next"/>
              </a:defRPr>
            </a:pPr>
            <a:r>
              <a:rPr sz="2850" b="1">
                <a:solidFill>
                  <a:srgbClr val="BEEBE4"/>
                </a:solidFill>
                <a:latin typeface="Avenir Next"/>
                <a:ea typeface="Avenir Next"/>
                <a:cs typeface="Avenir Next"/>
              </a:rPr>
              <a:t>01</a:t>
            </a:r>
          </a:p>
        </p:txBody>
      </p:sp>
      <p:sp>
        <p:nvSpPr>
          <p:cNvPr id="6" name="">
            <a:extLst xmlns:a="http://schemas.openxmlformats.org/drawingml/2006/main">
              <a:ext uri="{FF2B5EF4-FFF2-40B4-BE49-F238E27FC236}">
                <a16:creationId xmlns:a16="http://schemas.microsoft.com/office/drawing/2014/main" id="{D44852FE-17C1-4AD7-88E4-F20A5B8CE527}"/>
              </a:ext>
            </a:extLst>
          </p:cNvPr>
          <p:cNvSpPr>
            <a:spLocks xmlns:a="http://schemas.openxmlformats.org/drawingml/2006/main" noGrp="1"/>
          </p:cNvSpPr>
          <p:nvPr/>
        </p:nvSpPr>
        <p:spPr>
          <a:xfrm xmlns:a="http://schemas.openxmlformats.org/drawingml/2006/main">
            <a:off x="628650" y="28765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0A8A88"/>
                </a:solidFill>
                <a:latin typeface="Avenir Next"/>
                <a:ea typeface="Avenir Next"/>
                <a:cs typeface="Avenir Next"/>
              </a:defRPr>
            </a:pPr>
            <a:r>
              <a:rPr sz="1125" b="1">
                <a:solidFill>
                  <a:srgbClr val="0A8A88"/>
                </a:solidFill>
                <a:latin typeface="Avenir Next"/>
                <a:ea typeface="Avenir Next"/>
                <a:cs typeface="Avenir Next"/>
              </a:rPr>
              <a:t>CONTEXT</a:t>
            </a:r>
          </a:p>
        </p:txBody>
      </p:sp>
      <p:sp>
        <p:nvSpPr>
          <p:cNvPr id="7" name="">
            <a:extLst xmlns:a="http://schemas.openxmlformats.org/drawingml/2006/main">
              <a:ext uri="{FF2B5EF4-FFF2-40B4-BE49-F238E27FC236}">
                <a16:creationId xmlns:a16="http://schemas.microsoft.com/office/drawing/2014/main" id="{C4377E73-1078-4064-A7B5-FCCDD0878753}"/>
              </a:ext>
            </a:extLst>
          </p:cNvPr>
          <p:cNvSpPr>
            <a:spLocks xmlns:a="http://schemas.openxmlformats.org/drawingml/2006/main" noGrp="1"/>
          </p:cNvSpPr>
          <p:nvPr/>
        </p:nvSpPr>
        <p:spPr>
          <a:xfrm xmlns:a="http://schemas.openxmlformats.org/drawingml/2006/main">
            <a:off x="628650" y="3305175"/>
            <a:ext cx="3095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5354A"/>
                </a:solidFill>
                <a:latin typeface="Avenir Next"/>
                <a:ea typeface="Avenir Next"/>
                <a:cs typeface="Avenir Next"/>
              </a:defRPr>
            </a:pPr>
            <a:r>
              <a:rPr sz="1875" b="0">
                <a:solidFill>
                  <a:srgbClr val="15354A"/>
                </a:solidFill>
                <a:latin typeface="Avenir Next"/>
                <a:ea typeface="Avenir Next"/>
                <a:cs typeface="Avenir Next"/>
              </a:rPr>
              <a:t>A trial status has little meaning without a bounded peer cohort.</a:t>
            </a:r>
          </a:p>
        </p:txBody>
      </p:sp>
      <p:sp>
        <p:nvSpPr>
          <p:cNvPr id="8" name="">
            <a:extLst xmlns:a="http://schemas.openxmlformats.org/drawingml/2006/main">
              <a:ext uri="{FF2B5EF4-FFF2-40B4-BE49-F238E27FC236}">
                <a16:creationId xmlns:a16="http://schemas.microsoft.com/office/drawing/2014/main" id="{B787212C-62FB-4417-95EE-BF47CB72D88D}"/>
              </a:ext>
            </a:extLst>
          </p:cNvPr>
          <p:cNvSpPr>
            <a:spLocks xmlns:a="http://schemas.openxmlformats.org/drawingml/2006/main" noGrp="1"/>
          </p:cNvSpPr>
          <p:nvPr/>
        </p:nvSpPr>
        <p:spPr>
          <a:xfrm xmlns:a="http://schemas.openxmlformats.org/drawingml/2006/main">
            <a:off x="3962400" y="2190750"/>
            <a:ext cx="0" cy="238125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9" name="">
            <a:extLst xmlns:a="http://schemas.openxmlformats.org/drawingml/2006/main">
              <a:ext uri="{FF2B5EF4-FFF2-40B4-BE49-F238E27FC236}">
                <a16:creationId xmlns:a16="http://schemas.microsoft.com/office/drawing/2014/main" id="{D74B6858-3995-4643-AAFF-6307D5B1EC27}"/>
              </a:ext>
            </a:extLst>
          </p:cNvPr>
          <p:cNvSpPr>
            <a:spLocks xmlns:a="http://schemas.openxmlformats.org/drawingml/2006/main" noGrp="1"/>
          </p:cNvSpPr>
          <p:nvPr/>
        </p:nvSpPr>
        <p:spPr>
          <a:xfrm xmlns:a="http://schemas.openxmlformats.org/drawingml/2006/main">
            <a:off x="4295775" y="223837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BEEBE4"/>
                </a:solidFill>
                <a:latin typeface="Avenir Next"/>
                <a:ea typeface="Avenir Next"/>
                <a:cs typeface="Avenir Next"/>
              </a:defRPr>
            </a:pPr>
            <a:r>
              <a:rPr sz="2850" b="1">
                <a:solidFill>
                  <a:srgbClr val="BEEBE4"/>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5B3E1AD5-9F15-4DE4-9FDD-D9DD0693D362}"/>
              </a:ext>
            </a:extLst>
          </p:cNvPr>
          <p:cNvSpPr>
            <a:spLocks xmlns:a="http://schemas.openxmlformats.org/drawingml/2006/main" noGrp="1"/>
          </p:cNvSpPr>
          <p:nvPr/>
        </p:nvSpPr>
        <p:spPr>
          <a:xfrm xmlns:a="http://schemas.openxmlformats.org/drawingml/2006/main">
            <a:off x="4295775" y="28765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0A8A88"/>
                </a:solidFill>
                <a:latin typeface="Avenir Next"/>
                <a:ea typeface="Avenir Next"/>
                <a:cs typeface="Avenir Next"/>
              </a:defRPr>
            </a:pPr>
            <a:r>
              <a:rPr sz="1125" b="1">
                <a:solidFill>
                  <a:srgbClr val="0A8A88"/>
                </a:solidFill>
                <a:latin typeface="Avenir Next"/>
                <a:ea typeface="Avenir Next"/>
                <a:cs typeface="Avenir Next"/>
              </a:rPr>
              <a:t>COMPARABILITY</a:t>
            </a:r>
          </a:p>
        </p:txBody>
      </p:sp>
      <p:sp>
        <p:nvSpPr>
          <p:cNvPr id="11" name="">
            <a:extLst xmlns:a="http://schemas.openxmlformats.org/drawingml/2006/main">
              <a:ext uri="{FF2B5EF4-FFF2-40B4-BE49-F238E27FC236}">
                <a16:creationId xmlns:a16="http://schemas.microsoft.com/office/drawing/2014/main" id="{73B0EA56-B62F-48A8-8937-F5F3FF02520F}"/>
              </a:ext>
            </a:extLst>
          </p:cNvPr>
          <p:cNvSpPr>
            <a:spLocks xmlns:a="http://schemas.openxmlformats.org/drawingml/2006/main" noGrp="1"/>
          </p:cNvSpPr>
          <p:nvPr/>
        </p:nvSpPr>
        <p:spPr>
          <a:xfrm xmlns:a="http://schemas.openxmlformats.org/drawingml/2006/main">
            <a:off x="4295775" y="3305175"/>
            <a:ext cx="3095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5354A"/>
                </a:solidFill>
                <a:latin typeface="Avenir Next"/>
                <a:ea typeface="Avenir Next"/>
                <a:cs typeface="Avenir Next"/>
              </a:defRPr>
            </a:pPr>
            <a:r>
              <a:rPr sz="1875" b="0">
                <a:solidFill>
                  <a:srgbClr val="15354A"/>
                </a:solidFill>
                <a:latin typeface="Avenir Next"/>
                <a:ea typeface="Avenir Next"/>
                <a:cs typeface="Avenir Next"/>
              </a:rPr>
              <a:t>Phase, condition, intervention, and design vary across candidate records.</a:t>
            </a:r>
          </a:p>
        </p:txBody>
      </p:sp>
      <p:sp>
        <p:nvSpPr>
          <p:cNvPr id="12" name="">
            <a:extLst xmlns:a="http://schemas.openxmlformats.org/drawingml/2006/main">
              <a:ext uri="{FF2B5EF4-FFF2-40B4-BE49-F238E27FC236}">
                <a16:creationId xmlns:a16="http://schemas.microsoft.com/office/drawing/2014/main" id="{D62AE3AC-2D6A-421F-BFE0-2A5DC9A3A199}"/>
              </a:ext>
            </a:extLst>
          </p:cNvPr>
          <p:cNvSpPr>
            <a:spLocks xmlns:a="http://schemas.openxmlformats.org/drawingml/2006/main" noGrp="1"/>
          </p:cNvSpPr>
          <p:nvPr/>
        </p:nvSpPr>
        <p:spPr>
          <a:xfrm xmlns:a="http://schemas.openxmlformats.org/drawingml/2006/main">
            <a:off x="7629525" y="2190750"/>
            <a:ext cx="0" cy="238125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13" name="">
            <a:extLst xmlns:a="http://schemas.openxmlformats.org/drawingml/2006/main">
              <a:ext uri="{FF2B5EF4-FFF2-40B4-BE49-F238E27FC236}">
                <a16:creationId xmlns:a16="http://schemas.microsoft.com/office/drawing/2014/main" id="{A8F85CA0-4F69-4A40-AABA-070E33BFD7B2}"/>
              </a:ext>
            </a:extLst>
          </p:cNvPr>
          <p:cNvSpPr>
            <a:spLocks xmlns:a="http://schemas.openxmlformats.org/drawingml/2006/main" noGrp="1"/>
          </p:cNvSpPr>
          <p:nvPr/>
        </p:nvSpPr>
        <p:spPr>
          <a:xfrm xmlns:a="http://schemas.openxmlformats.org/drawingml/2006/main">
            <a:off x="7962900" y="223837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BEEBE4"/>
                </a:solidFill>
                <a:latin typeface="Avenir Next"/>
                <a:ea typeface="Avenir Next"/>
                <a:cs typeface="Avenir Next"/>
              </a:defRPr>
            </a:pPr>
            <a:r>
              <a:rPr sz="2850" b="1">
                <a:solidFill>
                  <a:srgbClr val="BEEBE4"/>
                </a:solidFill>
                <a:latin typeface="Avenir Next"/>
                <a:ea typeface="Avenir Next"/>
                <a:cs typeface="Avenir Next"/>
              </a:rPr>
              <a:t>03</a:t>
            </a:r>
          </a:p>
        </p:txBody>
      </p:sp>
      <p:sp>
        <p:nvSpPr>
          <p:cNvPr id="14" name="">
            <a:extLst xmlns:a="http://schemas.openxmlformats.org/drawingml/2006/main">
              <a:ext uri="{FF2B5EF4-FFF2-40B4-BE49-F238E27FC236}">
                <a16:creationId xmlns:a16="http://schemas.microsoft.com/office/drawing/2014/main" id="{1038927F-3DFE-4472-AF30-C94B1286F0E1}"/>
              </a:ext>
            </a:extLst>
          </p:cNvPr>
          <p:cNvSpPr>
            <a:spLocks xmlns:a="http://schemas.openxmlformats.org/drawingml/2006/main" noGrp="1"/>
          </p:cNvSpPr>
          <p:nvPr/>
        </p:nvSpPr>
        <p:spPr>
          <a:xfrm xmlns:a="http://schemas.openxmlformats.org/drawingml/2006/main">
            <a:off x="7962900" y="28765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0A8A88"/>
                </a:solidFill>
                <a:latin typeface="Avenir Next"/>
                <a:ea typeface="Avenir Next"/>
                <a:cs typeface="Avenir Next"/>
              </a:defRPr>
            </a:pPr>
            <a:r>
              <a:rPr sz="1125" b="1">
                <a:solidFill>
                  <a:srgbClr val="0A8A88"/>
                </a:solidFill>
                <a:latin typeface="Avenir Next"/>
                <a:ea typeface="Avenir Next"/>
                <a:cs typeface="Avenir Next"/>
              </a:rPr>
              <a:t>VERIFICATION</a:t>
            </a:r>
          </a:p>
        </p:txBody>
      </p:sp>
      <p:sp>
        <p:nvSpPr>
          <p:cNvPr id="15" name="">
            <a:extLst xmlns:a="http://schemas.openxmlformats.org/drawingml/2006/main">
              <a:ext uri="{FF2B5EF4-FFF2-40B4-BE49-F238E27FC236}">
                <a16:creationId xmlns:a16="http://schemas.microsoft.com/office/drawing/2014/main" id="{97976726-E58D-483E-A0FE-846ADF725B32}"/>
              </a:ext>
            </a:extLst>
          </p:cNvPr>
          <p:cNvSpPr>
            <a:spLocks xmlns:a="http://schemas.openxmlformats.org/drawingml/2006/main" noGrp="1"/>
          </p:cNvSpPr>
          <p:nvPr/>
        </p:nvSpPr>
        <p:spPr>
          <a:xfrm xmlns:a="http://schemas.openxmlformats.org/drawingml/2006/main">
            <a:off x="7962900" y="3305175"/>
            <a:ext cx="3095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5354A"/>
                </a:solidFill>
                <a:latin typeface="Avenir Next"/>
                <a:ea typeface="Avenir Next"/>
                <a:cs typeface="Avenir Next"/>
              </a:defRPr>
            </a:pPr>
            <a:r>
              <a:rPr sz="1875" b="0">
                <a:solidFill>
                  <a:srgbClr val="15354A"/>
                </a:solidFill>
                <a:latin typeface="Avenir Next"/>
                <a:ea typeface="Avenir Next"/>
                <a:cs typeface="Avenir Next"/>
              </a:rPr>
              <a:t>Stop reasons must trace back to the exact source field and registry record.</a:t>
            </a:r>
          </a:p>
        </p:txBody>
      </p:sp>
      <p:sp>
        <p:nvSpPr>
          <p:cNvPr id="16" name="">
            <a:extLst xmlns:a="http://schemas.openxmlformats.org/drawingml/2006/main">
              <a:ext uri="{FF2B5EF4-FFF2-40B4-BE49-F238E27FC236}">
                <a16:creationId xmlns:a16="http://schemas.microsoft.com/office/drawing/2014/main" id="{84038979-610E-40F1-A5C8-484DBF7FF85A}"/>
              </a:ext>
            </a:extLst>
          </p:cNvPr>
          <p:cNvSpPr>
            <a:spLocks xmlns:a="http://schemas.openxmlformats.org/drawingml/2006/main" noGrp="1"/>
          </p:cNvSpPr>
          <p:nvPr/>
        </p:nvSpPr>
        <p:spPr>
          <a:xfrm xmlns:a="http://schemas.openxmlformats.org/drawingml/2006/main">
            <a:off x="609600" y="5000625"/>
            <a:ext cx="10972800" cy="971550"/>
          </a:xfrm>
          <a:prstGeom xmlns:a="http://schemas.openxmlformats.org/drawingml/2006/main" prst="rect">
            <a:avLst/>
          </a:prstGeom>
          <a:solidFill xmlns:a="http://schemas.openxmlformats.org/drawingml/2006/main">
            <a:srgbClr val="EAF7F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17F878A-C3C4-432C-8A38-DF57F27C99D5}"/>
              </a:ext>
            </a:extLst>
          </p:cNvPr>
          <p:cNvSpPr>
            <a:spLocks xmlns:a="http://schemas.openxmlformats.org/drawingml/2006/main" noGrp="1"/>
          </p:cNvSpPr>
          <p:nvPr/>
        </p:nvSpPr>
        <p:spPr>
          <a:xfrm xmlns:a="http://schemas.openxmlformats.org/drawingml/2006/main">
            <a:off x="914400" y="5219700"/>
            <a:ext cx="10363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A2538"/>
                </a:solidFill>
                <a:latin typeface="Avenir Next"/>
                <a:ea typeface="Avenir Next"/>
                <a:cs typeface="Avenir Next"/>
              </a:defRPr>
            </a:pPr>
            <a:r>
              <a:rPr sz="1875" b="1">
                <a:solidFill>
                  <a:srgbClr val="0A2538"/>
                </a:solidFill>
                <a:latin typeface="Avenir Next"/>
                <a:ea typeface="Avenir Next"/>
                <a:cs typeface="Avenir Next"/>
              </a:rPr>
              <a:t>A useful review keeps source links visible and leaves the decision with a qualified reviewer. Uncertainty stays explicit.</a:t>
            </a:r>
          </a:p>
        </p:txBody>
      </p:sp>
      <p:sp>
        <p:nvSpPr>
          <p:cNvPr id="18" name="">
            <a:extLst xmlns:a="http://schemas.openxmlformats.org/drawingml/2006/main">
              <a:ext uri="{FF2B5EF4-FFF2-40B4-BE49-F238E27FC236}">
                <a16:creationId xmlns:a16="http://schemas.microsoft.com/office/drawing/2014/main" id="{0AB20615-6FF7-4AAE-A061-DBABF0A45AFF}"/>
              </a:ext>
            </a:extLst>
          </p:cNvPr>
          <p:cNvSpPr>
            <a:spLocks xmlns:a="http://schemas.openxmlformats.org/drawingml/2006/main" noGrp="1"/>
          </p:cNvSpPr>
          <p:nvPr/>
        </p:nvSpPr>
        <p:spPr>
          <a:xfrm xmlns:a="http://schemas.openxmlformats.org/drawingml/2006/main">
            <a:off x="609600" y="64389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TRIALGUARD  ·  PRESENTATION DECK</a:t>
            </a:r>
          </a:p>
        </p:txBody>
      </p:sp>
      <p:sp>
        <p:nvSpPr>
          <p:cNvPr id="19" name="">
            <a:extLst xmlns:a="http://schemas.openxmlformats.org/drawingml/2006/main">
              <a:ext uri="{FF2B5EF4-FFF2-40B4-BE49-F238E27FC236}">
                <a16:creationId xmlns:a16="http://schemas.microsoft.com/office/drawing/2014/main" id="{D167E250-E735-44E7-B6DE-AAF22BF2DB69}"/>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02</a:t>
            </a:r>
          </a:p>
        </p:txBody>
      </p:sp>
    </p:spTree>
    <p:extLst>
      <p:ext uri="{BB962C8B-B14F-4D97-AF65-F5344CB8AC3E}">
        <p14:creationId xmlns:p14="http://schemas.microsoft.com/office/powerpoint/2010/main" val="9754066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4F71C6C-60A5-4966-9955-B50CD9EAD500}"/>
              </a:ext>
            </a:extLst>
          </p:cNvPr>
          <p:cNvSpPr>
            <a:spLocks xmlns:a="http://schemas.openxmlformats.org/drawingml/2006/main" noGrp="1"/>
          </p:cNvSpPr>
          <p:nvPr/>
        </p:nvSpPr>
        <p:spPr>
          <a:xfrm xmlns:a="http://schemas.openxmlformats.org/drawingml/2006/main">
            <a:off x="609600" y="466725"/>
            <a:ext cx="514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A8A88"/>
                </a:solidFill>
                <a:latin typeface="Avenir Next"/>
                <a:ea typeface="Avenir Next"/>
                <a:cs typeface="Avenir Next"/>
              </a:defRPr>
            </a:pPr>
            <a:r>
              <a:rPr sz="1275" b="1">
                <a:solidFill>
                  <a:srgbClr val="0A8A88"/>
                </a:solidFill>
                <a:latin typeface="Avenir Next"/>
                <a:ea typeface="Avenir Next"/>
                <a:cs typeface="Avenir Next"/>
              </a:rPr>
              <a:t>03</a:t>
            </a:r>
          </a:p>
        </p:txBody>
      </p:sp>
      <p:sp>
        <p:nvSpPr>
          <p:cNvPr id="2" name="">
            <a:extLst xmlns:a="http://schemas.openxmlformats.org/drawingml/2006/main">
              <a:ext uri="{FF2B5EF4-FFF2-40B4-BE49-F238E27FC236}">
                <a16:creationId xmlns:a16="http://schemas.microsoft.com/office/drawing/2014/main" id="{6B798D45-4889-4D60-BA64-1349C67D8E23}"/>
              </a:ext>
            </a:extLst>
          </p:cNvPr>
          <p:cNvSpPr>
            <a:spLocks xmlns:a="http://schemas.openxmlformats.org/drawingml/2006/main" noGrp="1"/>
          </p:cNvSpPr>
          <p:nvPr/>
        </p:nvSpPr>
        <p:spPr>
          <a:xfrm xmlns:a="http://schemas.openxmlformats.org/drawingml/2006/main">
            <a:off x="609600" y="7524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0A2538"/>
                </a:solidFill>
                <a:latin typeface="Avenir Next"/>
                <a:ea typeface="Avenir Next"/>
                <a:cs typeface="Avenir Next"/>
              </a:defRPr>
            </a:pPr>
            <a:r>
              <a:rPr sz="3450" b="1">
                <a:solidFill>
                  <a:srgbClr val="0A2538"/>
                </a:solidFill>
                <a:latin typeface="Avenir Next"/>
                <a:ea typeface="Avenir Next"/>
                <a:cs typeface="Avenir Next"/>
              </a:rPr>
              <a:t>Product workflow</a:t>
            </a:r>
          </a:p>
        </p:txBody>
      </p:sp>
      <p:sp>
        <p:nvSpPr>
          <p:cNvPr id="3" name="">
            <a:extLst xmlns:a="http://schemas.openxmlformats.org/drawingml/2006/main">
              <a:ext uri="{FF2B5EF4-FFF2-40B4-BE49-F238E27FC236}">
                <a16:creationId xmlns:a16="http://schemas.microsoft.com/office/drawing/2014/main" id="{39C9DA21-008D-4687-ACF1-E4AE9671ACCD}"/>
              </a:ext>
            </a:extLst>
          </p:cNvPr>
          <p:cNvSpPr>
            <a:spLocks xmlns:a="http://schemas.openxmlformats.org/drawingml/2006/main" noGrp="1"/>
          </p:cNvSpPr>
          <p:nvPr/>
        </p:nvSpPr>
        <p:spPr>
          <a:xfrm xmlns:a="http://schemas.openxmlformats.org/drawingml/2006/main">
            <a:off x="628650" y="13144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One NCT ID becomes a checked review brief with visible evidence</a:t>
            </a:r>
          </a:p>
        </p:txBody>
      </p:sp>
      <p:sp>
        <p:nvSpPr>
          <p:cNvPr id="4" name="">
            <a:extLst xmlns:a="http://schemas.openxmlformats.org/drawingml/2006/main">
              <a:ext uri="{FF2B5EF4-FFF2-40B4-BE49-F238E27FC236}">
                <a16:creationId xmlns:a16="http://schemas.microsoft.com/office/drawing/2014/main" id="{1B0B43CF-F4BD-4EAF-96A2-3ABFCE0AFA36}"/>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5" name="">
            <a:extLst xmlns:a="http://schemas.openxmlformats.org/drawingml/2006/main">
              <a:ext uri="{FF2B5EF4-FFF2-40B4-BE49-F238E27FC236}">
                <a16:creationId xmlns:a16="http://schemas.microsoft.com/office/drawing/2014/main" id="{E0D50147-D804-4784-B544-0B351DF8270F}"/>
              </a:ext>
            </a:extLst>
          </p:cNvPr>
          <p:cNvSpPr>
            <a:spLocks xmlns:a="http://schemas.openxmlformats.org/drawingml/2006/main" noGrp="1"/>
          </p:cNvSpPr>
          <p:nvPr/>
        </p:nvSpPr>
        <p:spPr>
          <a:xfrm xmlns:a="http://schemas.openxmlformats.org/drawingml/2006/main">
            <a:off x="666750" y="2152650"/>
            <a:ext cx="400050" cy="400050"/>
          </a:xfrm>
          <a:prstGeom xmlns:a="http://schemas.openxmlformats.org/drawingml/2006/main" prst="ellipse">
            <a:avLst/>
          </a:prstGeom>
          <a:solidFill xmlns:a="http://schemas.openxmlformats.org/drawingml/2006/main">
            <a:srgbClr val="0A8A8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B33EFC-3390-42B6-B2D8-254D1EAB317F}"/>
              </a:ext>
            </a:extLst>
          </p:cNvPr>
          <p:cNvSpPr>
            <a:spLocks xmlns:a="http://schemas.openxmlformats.org/drawingml/2006/main" noGrp="1"/>
          </p:cNvSpPr>
          <p:nvPr/>
        </p:nvSpPr>
        <p:spPr>
          <a:xfrm xmlns:a="http://schemas.openxmlformats.org/drawingml/2006/main">
            <a:off x="666750" y="22193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2BFB51E3-59DF-4476-9174-118DE9A1994D}"/>
              </a:ext>
            </a:extLst>
          </p:cNvPr>
          <p:cNvSpPr>
            <a:spLocks xmlns:a="http://schemas.openxmlformats.org/drawingml/2006/main" noGrp="1"/>
          </p:cNvSpPr>
          <p:nvPr/>
        </p:nvSpPr>
        <p:spPr>
          <a:xfrm xmlns:a="http://schemas.openxmlformats.org/drawingml/2006/main">
            <a:off x="1257300" y="21336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A2538"/>
                </a:solidFill>
                <a:latin typeface="Avenir Next"/>
                <a:ea typeface="Avenir Next"/>
                <a:cs typeface="Avenir Next"/>
              </a:defRPr>
            </a:pPr>
            <a:r>
              <a:rPr sz="1725" b="1">
                <a:solidFill>
                  <a:srgbClr val="0A2538"/>
                </a:solidFill>
                <a:latin typeface="Avenir Next"/>
                <a:ea typeface="Avenir Next"/>
                <a:cs typeface="Avenir Next"/>
              </a:rPr>
              <a:t>Validate</a:t>
            </a:r>
          </a:p>
        </p:txBody>
      </p:sp>
      <p:sp>
        <p:nvSpPr>
          <p:cNvPr id="8" name="">
            <a:extLst xmlns:a="http://schemas.openxmlformats.org/drawingml/2006/main">
              <a:ext uri="{FF2B5EF4-FFF2-40B4-BE49-F238E27FC236}">
                <a16:creationId xmlns:a16="http://schemas.microsoft.com/office/drawing/2014/main" id="{9A34E031-9510-4BED-87EB-20B85BAE6D12}"/>
              </a:ext>
            </a:extLst>
          </p:cNvPr>
          <p:cNvSpPr>
            <a:spLocks xmlns:a="http://schemas.openxmlformats.org/drawingml/2006/main" noGrp="1"/>
          </p:cNvSpPr>
          <p:nvPr/>
        </p:nvSpPr>
        <p:spPr>
          <a:xfrm xmlns:a="http://schemas.openxmlformats.org/drawingml/2006/main">
            <a:off x="1257300" y="24288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27781"/>
                </a:solidFill>
                <a:latin typeface="Avenir Next"/>
                <a:ea typeface="Avenir Next"/>
                <a:cs typeface="Avenir Next"/>
              </a:defRPr>
            </a:pPr>
            <a:r>
              <a:rPr sz="1275" b="0">
                <a:solidFill>
                  <a:srgbClr val="627781"/>
                </a:solidFill>
                <a:latin typeface="Avenir Next"/>
                <a:ea typeface="Avenir Next"/>
                <a:cs typeface="Avenir Next"/>
              </a:rPr>
              <a:t>Confirm the NCT ID before any model call.</a:t>
            </a:r>
          </a:p>
        </p:txBody>
      </p:sp>
      <p:sp>
        <p:nvSpPr>
          <p:cNvPr id="9" name="">
            <a:extLst xmlns:a="http://schemas.openxmlformats.org/drawingml/2006/main">
              <a:ext uri="{FF2B5EF4-FFF2-40B4-BE49-F238E27FC236}">
                <a16:creationId xmlns:a16="http://schemas.microsoft.com/office/drawing/2014/main" id="{9724D6D8-F99D-45B4-A46D-411E09D361D7}"/>
              </a:ext>
            </a:extLst>
          </p:cNvPr>
          <p:cNvSpPr>
            <a:spLocks xmlns:a="http://schemas.openxmlformats.org/drawingml/2006/main" noGrp="1"/>
          </p:cNvSpPr>
          <p:nvPr/>
        </p:nvSpPr>
        <p:spPr>
          <a:xfrm xmlns:a="http://schemas.openxmlformats.org/drawingml/2006/main">
            <a:off x="866775" y="2562225"/>
            <a:ext cx="0" cy="314325"/>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10" name="">
            <a:extLst xmlns:a="http://schemas.openxmlformats.org/drawingml/2006/main">
              <a:ext uri="{FF2B5EF4-FFF2-40B4-BE49-F238E27FC236}">
                <a16:creationId xmlns:a16="http://schemas.microsoft.com/office/drawing/2014/main" id="{789520A5-9900-4865-858F-9B451407D440}"/>
              </a:ext>
            </a:extLst>
          </p:cNvPr>
          <p:cNvSpPr>
            <a:spLocks xmlns:a="http://schemas.openxmlformats.org/drawingml/2006/main" noGrp="1"/>
          </p:cNvSpPr>
          <p:nvPr/>
        </p:nvSpPr>
        <p:spPr>
          <a:xfrm xmlns:a="http://schemas.openxmlformats.org/drawingml/2006/main">
            <a:off x="666750" y="2895600"/>
            <a:ext cx="400050" cy="400050"/>
          </a:xfrm>
          <a:prstGeom xmlns:a="http://schemas.openxmlformats.org/drawingml/2006/main" prst="ellipse">
            <a:avLst/>
          </a:prstGeom>
          <a:solidFill xmlns:a="http://schemas.openxmlformats.org/drawingml/2006/main">
            <a:srgbClr val="0A8A8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E958CBB-50C5-42BC-80A5-2ABD045DE8C3}"/>
              </a:ext>
            </a:extLst>
          </p:cNvPr>
          <p:cNvSpPr>
            <a:spLocks xmlns:a="http://schemas.openxmlformats.org/drawingml/2006/main" noGrp="1"/>
          </p:cNvSpPr>
          <p:nvPr/>
        </p:nvSpPr>
        <p:spPr>
          <a:xfrm xmlns:a="http://schemas.openxmlformats.org/drawingml/2006/main">
            <a:off x="666750" y="29622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02</a:t>
            </a:r>
          </a:p>
        </p:txBody>
      </p:sp>
      <p:sp>
        <p:nvSpPr>
          <p:cNvPr id="12" name="">
            <a:extLst xmlns:a="http://schemas.openxmlformats.org/drawingml/2006/main">
              <a:ext uri="{FF2B5EF4-FFF2-40B4-BE49-F238E27FC236}">
                <a16:creationId xmlns:a16="http://schemas.microsoft.com/office/drawing/2014/main" id="{27CC456F-B90A-45E4-92B0-98123841A10B}"/>
              </a:ext>
            </a:extLst>
          </p:cNvPr>
          <p:cNvSpPr>
            <a:spLocks xmlns:a="http://schemas.openxmlformats.org/drawingml/2006/main" noGrp="1"/>
          </p:cNvSpPr>
          <p:nvPr/>
        </p:nvSpPr>
        <p:spPr>
          <a:xfrm xmlns:a="http://schemas.openxmlformats.org/drawingml/2006/main">
            <a:off x="1257300" y="28765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A2538"/>
                </a:solidFill>
                <a:latin typeface="Avenir Next"/>
                <a:ea typeface="Avenir Next"/>
                <a:cs typeface="Avenir Next"/>
              </a:defRPr>
            </a:pPr>
            <a:r>
              <a:rPr sz="1725" b="1">
                <a:solidFill>
                  <a:srgbClr val="0A2538"/>
                </a:solidFill>
                <a:latin typeface="Avenir Next"/>
                <a:ea typeface="Avenir Next"/>
                <a:cs typeface="Avenir Next"/>
              </a:rPr>
              <a:t>Retrieve</a:t>
            </a:r>
          </a:p>
        </p:txBody>
      </p:sp>
      <p:sp>
        <p:nvSpPr>
          <p:cNvPr id="13" name="">
            <a:extLst xmlns:a="http://schemas.openxmlformats.org/drawingml/2006/main">
              <a:ext uri="{FF2B5EF4-FFF2-40B4-BE49-F238E27FC236}">
                <a16:creationId xmlns:a16="http://schemas.microsoft.com/office/drawing/2014/main" id="{2AB9AEBF-4FBF-4909-B378-9B20204BD2A9}"/>
              </a:ext>
            </a:extLst>
          </p:cNvPr>
          <p:cNvSpPr>
            <a:spLocks xmlns:a="http://schemas.openxmlformats.org/drawingml/2006/main" noGrp="1"/>
          </p:cNvSpPr>
          <p:nvPr/>
        </p:nvSpPr>
        <p:spPr>
          <a:xfrm xmlns:a="http://schemas.openxmlformats.org/drawingml/2006/main">
            <a:off x="1257300" y="31718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27781"/>
                </a:solidFill>
                <a:latin typeface="Avenir Next"/>
                <a:ea typeface="Avenir Next"/>
                <a:cs typeface="Avenir Next"/>
              </a:defRPr>
            </a:pPr>
            <a:r>
              <a:rPr sz="1275" b="0">
                <a:solidFill>
                  <a:srgbClr val="627781"/>
                </a:solidFill>
                <a:latin typeface="Avenir Next"/>
                <a:ea typeface="Avenir Next"/>
                <a:cs typeface="Avenir Next"/>
              </a:rPr>
              <a:t>Load an allowlisted public trial record.</a:t>
            </a:r>
          </a:p>
        </p:txBody>
      </p:sp>
      <p:sp>
        <p:nvSpPr>
          <p:cNvPr id="14" name="">
            <a:extLst xmlns:a="http://schemas.openxmlformats.org/drawingml/2006/main">
              <a:ext uri="{FF2B5EF4-FFF2-40B4-BE49-F238E27FC236}">
                <a16:creationId xmlns:a16="http://schemas.microsoft.com/office/drawing/2014/main" id="{B6F06874-90B0-4897-9BD8-7944055C46B9}"/>
              </a:ext>
            </a:extLst>
          </p:cNvPr>
          <p:cNvSpPr>
            <a:spLocks xmlns:a="http://schemas.openxmlformats.org/drawingml/2006/main" noGrp="1"/>
          </p:cNvSpPr>
          <p:nvPr/>
        </p:nvSpPr>
        <p:spPr>
          <a:xfrm xmlns:a="http://schemas.openxmlformats.org/drawingml/2006/main">
            <a:off x="866775" y="3305175"/>
            <a:ext cx="0" cy="314325"/>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15" name="">
            <a:extLst xmlns:a="http://schemas.openxmlformats.org/drawingml/2006/main">
              <a:ext uri="{FF2B5EF4-FFF2-40B4-BE49-F238E27FC236}">
                <a16:creationId xmlns:a16="http://schemas.microsoft.com/office/drawing/2014/main" id="{7BD8F31C-A89B-4AFF-AC1B-6FE897EBF09A}"/>
              </a:ext>
            </a:extLst>
          </p:cNvPr>
          <p:cNvSpPr>
            <a:spLocks xmlns:a="http://schemas.openxmlformats.org/drawingml/2006/main" noGrp="1"/>
          </p:cNvSpPr>
          <p:nvPr/>
        </p:nvSpPr>
        <p:spPr>
          <a:xfrm xmlns:a="http://schemas.openxmlformats.org/drawingml/2006/main">
            <a:off x="666750" y="3638550"/>
            <a:ext cx="400050" cy="400050"/>
          </a:xfrm>
          <a:prstGeom xmlns:a="http://schemas.openxmlformats.org/drawingml/2006/main" prst="ellipse">
            <a:avLst/>
          </a:prstGeom>
          <a:solidFill xmlns:a="http://schemas.openxmlformats.org/drawingml/2006/main">
            <a:srgbClr val="0A8A8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FA8E647-624D-48B8-8F0E-246C4363FFFC}"/>
              </a:ext>
            </a:extLst>
          </p:cNvPr>
          <p:cNvSpPr>
            <a:spLocks xmlns:a="http://schemas.openxmlformats.org/drawingml/2006/main" noGrp="1"/>
          </p:cNvSpPr>
          <p:nvPr/>
        </p:nvSpPr>
        <p:spPr>
          <a:xfrm xmlns:a="http://schemas.openxmlformats.org/drawingml/2006/main">
            <a:off x="666750" y="37052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03</a:t>
            </a:r>
          </a:p>
        </p:txBody>
      </p:sp>
      <p:sp>
        <p:nvSpPr>
          <p:cNvPr id="17" name="">
            <a:extLst xmlns:a="http://schemas.openxmlformats.org/drawingml/2006/main">
              <a:ext uri="{FF2B5EF4-FFF2-40B4-BE49-F238E27FC236}">
                <a16:creationId xmlns:a16="http://schemas.microsoft.com/office/drawing/2014/main" id="{BF8E424A-F306-4A02-8560-76D1F9229A80}"/>
              </a:ext>
            </a:extLst>
          </p:cNvPr>
          <p:cNvSpPr>
            <a:spLocks xmlns:a="http://schemas.openxmlformats.org/drawingml/2006/main" noGrp="1"/>
          </p:cNvSpPr>
          <p:nvPr/>
        </p:nvSpPr>
        <p:spPr>
          <a:xfrm xmlns:a="http://schemas.openxmlformats.org/drawingml/2006/main">
            <a:off x="1257300" y="36195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A2538"/>
                </a:solidFill>
                <a:latin typeface="Avenir Next"/>
                <a:ea typeface="Avenir Next"/>
                <a:cs typeface="Avenir Next"/>
              </a:defRPr>
            </a:pPr>
            <a:r>
              <a:rPr sz="1725" b="1">
                <a:solidFill>
                  <a:srgbClr val="0A2538"/>
                </a:solidFill>
                <a:latin typeface="Avenir Next"/>
                <a:ea typeface="Avenir Next"/>
                <a:cs typeface="Avenir Next"/>
              </a:rPr>
              <a:t>Compare</a:t>
            </a:r>
          </a:p>
        </p:txBody>
      </p:sp>
      <p:sp>
        <p:nvSpPr>
          <p:cNvPr id="18" name="">
            <a:extLst xmlns:a="http://schemas.openxmlformats.org/drawingml/2006/main">
              <a:ext uri="{FF2B5EF4-FFF2-40B4-BE49-F238E27FC236}">
                <a16:creationId xmlns:a16="http://schemas.microsoft.com/office/drawing/2014/main" id="{812394B7-A3F3-4902-83B7-62CEF2DF168E}"/>
              </a:ext>
            </a:extLst>
          </p:cNvPr>
          <p:cNvSpPr>
            <a:spLocks xmlns:a="http://schemas.openxmlformats.org/drawingml/2006/main" noGrp="1"/>
          </p:cNvSpPr>
          <p:nvPr/>
        </p:nvSpPr>
        <p:spPr>
          <a:xfrm xmlns:a="http://schemas.openxmlformats.org/drawingml/2006/main">
            <a:off x="1257300" y="39147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27781"/>
                </a:solidFill>
                <a:latin typeface="Avenir Next"/>
                <a:ea typeface="Avenir Next"/>
                <a:cs typeface="Avenir Next"/>
              </a:defRPr>
            </a:pPr>
            <a:r>
              <a:rPr sz="1275" b="0">
                <a:solidFill>
                  <a:srgbClr val="627781"/>
                </a:solidFill>
                <a:latin typeface="Avenir Next"/>
                <a:ea typeface="Avenir Next"/>
                <a:cs typeface="Avenir Next"/>
              </a:rPr>
              <a:t>Build the cohort and rank stopped precedents.</a:t>
            </a:r>
          </a:p>
        </p:txBody>
      </p:sp>
      <p:sp>
        <p:nvSpPr>
          <p:cNvPr id="19" name="">
            <a:extLst xmlns:a="http://schemas.openxmlformats.org/drawingml/2006/main">
              <a:ext uri="{FF2B5EF4-FFF2-40B4-BE49-F238E27FC236}">
                <a16:creationId xmlns:a16="http://schemas.microsoft.com/office/drawing/2014/main" id="{64CF5C40-AD16-4C4A-AE85-25DCD23ECC08}"/>
              </a:ext>
            </a:extLst>
          </p:cNvPr>
          <p:cNvSpPr>
            <a:spLocks xmlns:a="http://schemas.openxmlformats.org/drawingml/2006/main" noGrp="1"/>
          </p:cNvSpPr>
          <p:nvPr/>
        </p:nvSpPr>
        <p:spPr>
          <a:xfrm xmlns:a="http://schemas.openxmlformats.org/drawingml/2006/main">
            <a:off x="866775" y="4048125"/>
            <a:ext cx="0" cy="314325"/>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20" name="">
            <a:extLst xmlns:a="http://schemas.openxmlformats.org/drawingml/2006/main">
              <a:ext uri="{FF2B5EF4-FFF2-40B4-BE49-F238E27FC236}">
                <a16:creationId xmlns:a16="http://schemas.microsoft.com/office/drawing/2014/main" id="{6B1AA8FF-3568-4742-972D-D4444BCB4D52}"/>
              </a:ext>
            </a:extLst>
          </p:cNvPr>
          <p:cNvSpPr>
            <a:spLocks xmlns:a="http://schemas.openxmlformats.org/drawingml/2006/main" noGrp="1"/>
          </p:cNvSpPr>
          <p:nvPr/>
        </p:nvSpPr>
        <p:spPr>
          <a:xfrm xmlns:a="http://schemas.openxmlformats.org/drawingml/2006/main">
            <a:off x="666750" y="4381500"/>
            <a:ext cx="400050" cy="400050"/>
          </a:xfrm>
          <a:prstGeom xmlns:a="http://schemas.openxmlformats.org/drawingml/2006/main" prst="ellipse">
            <a:avLst/>
          </a:prstGeom>
          <a:solidFill xmlns:a="http://schemas.openxmlformats.org/drawingml/2006/main">
            <a:srgbClr val="0A8A8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03FBEEA-DA0C-493A-821B-31EDD06A6B9E}"/>
              </a:ext>
            </a:extLst>
          </p:cNvPr>
          <p:cNvSpPr>
            <a:spLocks xmlns:a="http://schemas.openxmlformats.org/drawingml/2006/main" noGrp="1"/>
          </p:cNvSpPr>
          <p:nvPr/>
        </p:nvSpPr>
        <p:spPr>
          <a:xfrm xmlns:a="http://schemas.openxmlformats.org/drawingml/2006/main">
            <a:off x="666750" y="44481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04</a:t>
            </a:r>
          </a:p>
        </p:txBody>
      </p:sp>
      <p:sp>
        <p:nvSpPr>
          <p:cNvPr id="22" name="">
            <a:extLst xmlns:a="http://schemas.openxmlformats.org/drawingml/2006/main">
              <a:ext uri="{FF2B5EF4-FFF2-40B4-BE49-F238E27FC236}">
                <a16:creationId xmlns:a16="http://schemas.microsoft.com/office/drawing/2014/main" id="{4429C87E-B33C-4D00-845E-2F3D5E7332F8}"/>
              </a:ext>
            </a:extLst>
          </p:cNvPr>
          <p:cNvSpPr>
            <a:spLocks xmlns:a="http://schemas.openxmlformats.org/drawingml/2006/main" noGrp="1"/>
          </p:cNvSpPr>
          <p:nvPr/>
        </p:nvSpPr>
        <p:spPr>
          <a:xfrm xmlns:a="http://schemas.openxmlformats.org/drawingml/2006/main">
            <a:off x="1257300" y="43624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A2538"/>
                </a:solidFill>
                <a:latin typeface="Avenir Next"/>
                <a:ea typeface="Avenir Next"/>
                <a:cs typeface="Avenir Next"/>
              </a:defRPr>
            </a:pPr>
            <a:r>
              <a:rPr sz="1725" b="1">
                <a:solidFill>
                  <a:srgbClr val="0A2538"/>
                </a:solidFill>
                <a:latin typeface="Avenir Next"/>
                <a:ea typeface="Avenir Next"/>
                <a:cs typeface="Avenir Next"/>
              </a:rPr>
              <a:t>Draft</a:t>
            </a:r>
          </a:p>
        </p:txBody>
      </p:sp>
      <p:sp>
        <p:nvSpPr>
          <p:cNvPr id="23" name="">
            <a:extLst xmlns:a="http://schemas.openxmlformats.org/drawingml/2006/main">
              <a:ext uri="{FF2B5EF4-FFF2-40B4-BE49-F238E27FC236}">
                <a16:creationId xmlns:a16="http://schemas.microsoft.com/office/drawing/2014/main" id="{3D550FEB-490E-4C42-9E03-B188F0299D05}"/>
              </a:ext>
            </a:extLst>
          </p:cNvPr>
          <p:cNvSpPr>
            <a:spLocks xmlns:a="http://schemas.openxmlformats.org/drawingml/2006/main" noGrp="1"/>
          </p:cNvSpPr>
          <p:nvPr/>
        </p:nvSpPr>
        <p:spPr>
          <a:xfrm xmlns:a="http://schemas.openxmlformats.org/drawingml/2006/main">
            <a:off x="1257300" y="46577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27781"/>
                </a:solidFill>
                <a:latin typeface="Avenir Next"/>
                <a:ea typeface="Avenir Next"/>
                <a:cs typeface="Avenir Next"/>
              </a:defRPr>
            </a:pPr>
            <a:r>
              <a:rPr sz="1275" b="0">
                <a:solidFill>
                  <a:srgbClr val="627781"/>
                </a:solidFill>
                <a:latin typeface="Avenir Next"/>
                <a:ea typeface="Avenir Next"/>
                <a:cs typeface="Avenir Next"/>
              </a:rPr>
              <a:t>Create evidence-linked review questions.</a:t>
            </a:r>
          </a:p>
        </p:txBody>
      </p:sp>
      <p:sp>
        <p:nvSpPr>
          <p:cNvPr id="24" name="">
            <a:extLst xmlns:a="http://schemas.openxmlformats.org/drawingml/2006/main">
              <a:ext uri="{FF2B5EF4-FFF2-40B4-BE49-F238E27FC236}">
                <a16:creationId xmlns:a16="http://schemas.microsoft.com/office/drawing/2014/main" id="{478BD82E-63A8-4C06-B08E-65F0DFB9A663}"/>
              </a:ext>
            </a:extLst>
          </p:cNvPr>
          <p:cNvSpPr>
            <a:spLocks xmlns:a="http://schemas.openxmlformats.org/drawingml/2006/main" noGrp="1"/>
          </p:cNvSpPr>
          <p:nvPr/>
        </p:nvSpPr>
        <p:spPr>
          <a:xfrm xmlns:a="http://schemas.openxmlformats.org/drawingml/2006/main">
            <a:off x="866775" y="4791075"/>
            <a:ext cx="0" cy="314325"/>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25" name="">
            <a:extLst xmlns:a="http://schemas.openxmlformats.org/drawingml/2006/main">
              <a:ext uri="{FF2B5EF4-FFF2-40B4-BE49-F238E27FC236}">
                <a16:creationId xmlns:a16="http://schemas.microsoft.com/office/drawing/2014/main" id="{B8B30AF4-6B4E-42FA-953B-8A1ACB1EECE4}"/>
              </a:ext>
            </a:extLst>
          </p:cNvPr>
          <p:cNvSpPr>
            <a:spLocks xmlns:a="http://schemas.openxmlformats.org/drawingml/2006/main" noGrp="1"/>
          </p:cNvSpPr>
          <p:nvPr/>
        </p:nvSpPr>
        <p:spPr>
          <a:xfrm xmlns:a="http://schemas.openxmlformats.org/drawingml/2006/main">
            <a:off x="666750" y="5124450"/>
            <a:ext cx="400050" cy="400050"/>
          </a:xfrm>
          <a:prstGeom xmlns:a="http://schemas.openxmlformats.org/drawingml/2006/main" prst="ellipse">
            <a:avLst/>
          </a:prstGeom>
          <a:solidFill xmlns:a="http://schemas.openxmlformats.org/drawingml/2006/main">
            <a:srgbClr val="E56B5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1D85953-91A0-4CF0-8BB7-809267A61B56}"/>
              </a:ext>
            </a:extLst>
          </p:cNvPr>
          <p:cNvSpPr>
            <a:spLocks xmlns:a="http://schemas.openxmlformats.org/drawingml/2006/main" noGrp="1"/>
          </p:cNvSpPr>
          <p:nvPr/>
        </p:nvSpPr>
        <p:spPr>
          <a:xfrm xmlns:a="http://schemas.openxmlformats.org/drawingml/2006/main">
            <a:off x="666750" y="51911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05</a:t>
            </a:r>
          </a:p>
        </p:txBody>
      </p:sp>
      <p:sp>
        <p:nvSpPr>
          <p:cNvPr id="27" name="">
            <a:extLst xmlns:a="http://schemas.openxmlformats.org/drawingml/2006/main">
              <a:ext uri="{FF2B5EF4-FFF2-40B4-BE49-F238E27FC236}">
                <a16:creationId xmlns:a16="http://schemas.microsoft.com/office/drawing/2014/main" id="{B29A3E96-57E0-4B53-89B8-696836D5BCC2}"/>
              </a:ext>
            </a:extLst>
          </p:cNvPr>
          <p:cNvSpPr>
            <a:spLocks xmlns:a="http://schemas.openxmlformats.org/drawingml/2006/main" noGrp="1"/>
          </p:cNvSpPr>
          <p:nvPr/>
        </p:nvSpPr>
        <p:spPr>
          <a:xfrm xmlns:a="http://schemas.openxmlformats.org/drawingml/2006/main">
            <a:off x="1257300" y="51054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A2538"/>
                </a:solidFill>
                <a:latin typeface="Avenir Next"/>
                <a:ea typeface="Avenir Next"/>
                <a:cs typeface="Avenir Next"/>
              </a:defRPr>
            </a:pPr>
            <a:r>
              <a:rPr sz="1725" b="1">
                <a:solidFill>
                  <a:srgbClr val="0A2538"/>
                </a:solidFill>
                <a:latin typeface="Avenir Next"/>
                <a:ea typeface="Avenir Next"/>
                <a:cs typeface="Avenir Next"/>
              </a:rPr>
              <a:t>Release</a:t>
            </a:r>
          </a:p>
        </p:txBody>
      </p:sp>
      <p:sp>
        <p:nvSpPr>
          <p:cNvPr id="28" name="">
            <a:extLst xmlns:a="http://schemas.openxmlformats.org/drawingml/2006/main">
              <a:ext uri="{FF2B5EF4-FFF2-40B4-BE49-F238E27FC236}">
                <a16:creationId xmlns:a16="http://schemas.microsoft.com/office/drawing/2014/main" id="{914FFF25-A734-4AC2-A52A-A00A5FA38CB7}"/>
              </a:ext>
            </a:extLst>
          </p:cNvPr>
          <p:cNvSpPr>
            <a:spLocks xmlns:a="http://schemas.openxmlformats.org/drawingml/2006/main" noGrp="1"/>
          </p:cNvSpPr>
          <p:nvPr/>
        </p:nvSpPr>
        <p:spPr>
          <a:xfrm xmlns:a="http://schemas.openxmlformats.org/drawingml/2006/main">
            <a:off x="1257300" y="54006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27781"/>
                </a:solidFill>
                <a:latin typeface="Avenir Next"/>
                <a:ea typeface="Avenir Next"/>
                <a:cs typeface="Avenir Next"/>
              </a:defRPr>
            </a:pPr>
            <a:r>
              <a:rPr sz="1275" b="0">
                <a:solidFill>
                  <a:srgbClr val="627781"/>
                </a:solidFill>
                <a:latin typeface="Avenir Next"/>
                <a:ea typeface="Avenir Next"/>
                <a:cs typeface="Avenir Next"/>
              </a:rPr>
              <a:t>Run release gates, then open bounded report-grounded chat.</a:t>
            </a:r>
          </a:p>
        </p:txBody>
      </p:sp>
      <p:sp>
        <p:nvSpPr>
          <p:cNvPr id="29" name="">
            <a:extLst xmlns:a="http://schemas.openxmlformats.org/drawingml/2006/main">
              <a:ext uri="{FF2B5EF4-FFF2-40B4-BE49-F238E27FC236}">
                <a16:creationId xmlns:a16="http://schemas.microsoft.com/office/drawing/2014/main" id="{2DAF83BC-2115-452E-9787-405D19C37EAF}"/>
              </a:ext>
            </a:extLst>
          </p:cNvPr>
          <p:cNvSpPr>
            <a:spLocks xmlns:a="http://schemas.openxmlformats.org/drawingml/2006/main" noGrp="1"/>
          </p:cNvSpPr>
          <p:nvPr/>
        </p:nvSpPr>
        <p:spPr>
          <a:xfrm xmlns:a="http://schemas.openxmlformats.org/drawingml/2006/main">
            <a:off x="5238750" y="2076450"/>
            <a:ext cx="6334125" cy="3981450"/>
          </a:xfrm>
          <a:prstGeom xmlns:a="http://schemas.openxmlformats.org/drawingml/2006/main" prst="rect">
            <a:avLst/>
          </a:prstGeom>
          <a:solidFill xmlns:a="http://schemas.openxmlformats.org/drawingml/2006/main">
            <a:srgbClr val="F5FAF9"/>
          </a:solidFill>
          <a:ln xmlns:a="http://schemas.openxmlformats.org/drawingml/2006/main" w="19050">
            <a:solidFill>
              <a:srgbClr val="0A8A88"/>
            </a:solidFill>
          </a:ln>
        </p:spPr>
      </p:sp>
      <p:sp>
        <p:nvSpPr>
          <p:cNvPr id="30" name="">
            <a:extLst xmlns:a="http://schemas.openxmlformats.org/drawingml/2006/main">
              <a:ext uri="{FF2B5EF4-FFF2-40B4-BE49-F238E27FC236}">
                <a16:creationId xmlns:a16="http://schemas.microsoft.com/office/drawing/2014/main" id="{FB54C5F4-04B5-4320-B0DC-FCA155AC7C2D}"/>
              </a:ext>
            </a:extLst>
          </p:cNvPr>
          <p:cNvSpPr>
            <a:spLocks xmlns:a="http://schemas.openxmlformats.org/drawingml/2006/main" noGrp="1"/>
          </p:cNvSpPr>
          <p:nvPr/>
        </p:nvSpPr>
        <p:spPr>
          <a:xfrm xmlns:a="http://schemas.openxmlformats.org/drawingml/2006/main">
            <a:off x="5238750" y="1885950"/>
            <a:ext cx="2286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CHECKED DEMO REPORT</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01627c8f6c0f4424"/>
          <a:stretch xmlns:a="http://schemas.openxmlformats.org/drawingml/2006/main"/>
        </p:blipFill>
        <p:spPr>
          <a:xfrm xmlns:a="http://schemas.openxmlformats.org/drawingml/2006/main">
            <a:off x="5314950" y="2154436"/>
            <a:ext cx="6181725" cy="3863578"/>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09240099-302E-481C-AC7F-8D4260382291}"/>
              </a:ext>
            </a:extLst>
          </p:cNvPr>
          <p:cNvSpPr>
            <a:spLocks xmlns:a="http://schemas.openxmlformats.org/drawingml/2006/main" noGrp="1"/>
          </p:cNvSpPr>
          <p:nvPr/>
        </p:nvSpPr>
        <p:spPr>
          <a:xfrm xmlns:a="http://schemas.openxmlformats.org/drawingml/2006/main">
            <a:off x="609600" y="64389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TRIALGUARD  ·  PRESENTATION DECK</a:t>
            </a:r>
          </a:p>
        </p:txBody>
      </p:sp>
      <p:sp>
        <p:nvSpPr>
          <p:cNvPr id="33" name="">
            <a:extLst xmlns:a="http://schemas.openxmlformats.org/drawingml/2006/main">
              <a:ext uri="{FF2B5EF4-FFF2-40B4-BE49-F238E27FC236}">
                <a16:creationId xmlns:a16="http://schemas.microsoft.com/office/drawing/2014/main" id="{2E8D94B5-0E9B-4DEB-BDE9-5E488455BEBD}"/>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03</a:t>
            </a:r>
          </a:p>
        </p:txBody>
      </p:sp>
    </p:spTree>
    <p:extLst>
      <p:ext uri="{BB962C8B-B14F-4D97-AF65-F5344CB8AC3E}">
        <p14:creationId xmlns:p14="http://schemas.microsoft.com/office/powerpoint/2010/main" val="18196813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E39AE1E8-34A3-42D2-B826-3D7A9F302AAC}"/>
              </a:ext>
            </a:extLst>
          </p:cNvPr>
          <p:cNvSpPr>
            <a:spLocks xmlns:a="http://schemas.openxmlformats.org/drawingml/2006/main" noGrp="1"/>
          </p:cNvSpPr>
          <p:nvPr/>
        </p:nvSpPr>
        <p:spPr>
          <a:xfrm xmlns:a="http://schemas.openxmlformats.org/drawingml/2006/main">
            <a:off x="609600" y="466725"/>
            <a:ext cx="514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A8A88"/>
                </a:solidFill>
                <a:latin typeface="Avenir Next"/>
                <a:ea typeface="Avenir Next"/>
                <a:cs typeface="Avenir Next"/>
              </a:defRPr>
            </a:pPr>
            <a:r>
              <a:rPr sz="1275" b="1">
                <a:solidFill>
                  <a:srgbClr val="0A8A88"/>
                </a:solidFill>
                <a:latin typeface="Avenir Next"/>
                <a:ea typeface="Avenir Next"/>
                <a:cs typeface="Avenir Next"/>
              </a:rPr>
              <a:t>04</a:t>
            </a:r>
          </a:p>
        </p:txBody>
      </p:sp>
      <p:sp>
        <p:nvSpPr>
          <p:cNvPr id="2" name="">
            <a:extLst xmlns:a="http://schemas.openxmlformats.org/drawingml/2006/main">
              <a:ext uri="{FF2B5EF4-FFF2-40B4-BE49-F238E27FC236}">
                <a16:creationId xmlns:a16="http://schemas.microsoft.com/office/drawing/2014/main" id="{C0CD3BAB-BDD7-48DC-B430-6AF351E753BC}"/>
              </a:ext>
            </a:extLst>
          </p:cNvPr>
          <p:cNvSpPr>
            <a:spLocks xmlns:a="http://schemas.openxmlformats.org/drawingml/2006/main" noGrp="1"/>
          </p:cNvSpPr>
          <p:nvPr/>
        </p:nvSpPr>
        <p:spPr>
          <a:xfrm xmlns:a="http://schemas.openxmlformats.org/drawingml/2006/main">
            <a:off x="609600" y="7524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0A2538"/>
                </a:solidFill>
                <a:latin typeface="Avenir Next"/>
                <a:ea typeface="Avenir Next"/>
                <a:cs typeface="Avenir Next"/>
              </a:defRPr>
            </a:pPr>
            <a:r>
              <a:rPr sz="3450" b="1">
                <a:solidFill>
                  <a:srgbClr val="0A2538"/>
                </a:solidFill>
                <a:latin typeface="Avenir Next"/>
                <a:ea typeface="Avenir Next"/>
                <a:cs typeface="Avenir Next"/>
              </a:rPr>
              <a:t>Live hybrid architecture</a:t>
            </a:r>
          </a:p>
        </p:txBody>
      </p:sp>
      <p:sp>
        <p:nvSpPr>
          <p:cNvPr id="3" name="">
            <a:extLst xmlns:a="http://schemas.openxmlformats.org/drawingml/2006/main">
              <a:ext uri="{FF2B5EF4-FFF2-40B4-BE49-F238E27FC236}">
                <a16:creationId xmlns:a16="http://schemas.microsoft.com/office/drawing/2014/main" id="{A5699D87-C5FF-4A6A-8D5A-F046FF21D2FA}"/>
              </a:ext>
            </a:extLst>
          </p:cNvPr>
          <p:cNvSpPr>
            <a:spLocks xmlns:a="http://schemas.openxmlformats.org/drawingml/2006/main" noGrp="1"/>
          </p:cNvSpPr>
          <p:nvPr/>
        </p:nvSpPr>
        <p:spPr>
          <a:xfrm xmlns:a="http://schemas.openxmlformats.org/drawingml/2006/main">
            <a:off x="628650" y="13144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Cloudflare exposes live Bedrock; Render provides the durable checked-demo fallback</a:t>
            </a:r>
          </a:p>
        </p:txBody>
      </p:sp>
      <p:sp>
        <p:nvSpPr>
          <p:cNvPr id="4" name="">
            <a:extLst xmlns:a="http://schemas.openxmlformats.org/drawingml/2006/main">
              <a:ext uri="{FF2B5EF4-FFF2-40B4-BE49-F238E27FC236}">
                <a16:creationId xmlns:a16="http://schemas.microsoft.com/office/drawing/2014/main" id="{16EF6A56-A5BD-462B-A673-210BEF16E193}"/>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5" name="">
            <a:extLst xmlns:a="http://schemas.openxmlformats.org/drawingml/2006/main">
              <a:ext uri="{FF2B5EF4-FFF2-40B4-BE49-F238E27FC236}">
                <a16:creationId xmlns:a16="http://schemas.microsoft.com/office/drawing/2014/main" id="{A0B1DCA0-496C-4C66-B4B9-94CEF813EB5E}"/>
              </a:ext>
            </a:extLst>
          </p:cNvPr>
          <p:cNvSpPr>
            <a:spLocks xmlns:a="http://schemas.openxmlformats.org/drawingml/2006/main" noGrp="1"/>
          </p:cNvSpPr>
          <p:nvPr/>
        </p:nvSpPr>
        <p:spPr>
          <a:xfrm xmlns:a="http://schemas.openxmlformats.org/drawingml/2006/main">
            <a:off x="2000250" y="2543175"/>
            <a:ext cx="304800" cy="171450"/>
          </a:xfrm>
          <a:prstGeom xmlns:a="http://schemas.openxmlformats.org/drawingml/2006/main" prst="rightArrow">
            <a:avLst/>
          </a:prstGeom>
          <a:solidFill xmlns:a="http://schemas.openxmlformats.org/drawingml/2006/main">
            <a:srgbClr val="BEEBE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FC7F15-1BE7-4DF1-8C9A-9D325FB3D4F7}"/>
              </a:ext>
            </a:extLst>
          </p:cNvPr>
          <p:cNvSpPr>
            <a:spLocks xmlns:a="http://schemas.openxmlformats.org/drawingml/2006/main" noGrp="1"/>
          </p:cNvSpPr>
          <p:nvPr/>
        </p:nvSpPr>
        <p:spPr>
          <a:xfrm xmlns:a="http://schemas.openxmlformats.org/drawingml/2006/main">
            <a:off x="4210050" y="2543175"/>
            <a:ext cx="304800" cy="171450"/>
          </a:xfrm>
          <a:prstGeom xmlns:a="http://schemas.openxmlformats.org/drawingml/2006/main" prst="rightArrow">
            <a:avLst/>
          </a:prstGeom>
          <a:solidFill xmlns:a="http://schemas.openxmlformats.org/drawingml/2006/main">
            <a:srgbClr val="BEEBE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A974C9-FD7B-4034-A6E5-1C140FA99B82}"/>
              </a:ext>
            </a:extLst>
          </p:cNvPr>
          <p:cNvSpPr>
            <a:spLocks xmlns:a="http://schemas.openxmlformats.org/drawingml/2006/main" noGrp="1"/>
          </p:cNvSpPr>
          <p:nvPr/>
        </p:nvSpPr>
        <p:spPr>
          <a:xfrm xmlns:a="http://schemas.openxmlformats.org/drawingml/2006/main">
            <a:off x="6991350" y="2543175"/>
            <a:ext cx="304800" cy="171450"/>
          </a:xfrm>
          <a:prstGeom xmlns:a="http://schemas.openxmlformats.org/drawingml/2006/main" prst="rightArrow">
            <a:avLst/>
          </a:prstGeom>
          <a:solidFill xmlns:a="http://schemas.openxmlformats.org/drawingml/2006/main">
            <a:srgbClr val="BEEBE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220CC0-31E3-43D8-A207-99ADAF22B19E}"/>
              </a:ext>
            </a:extLst>
          </p:cNvPr>
          <p:cNvSpPr>
            <a:spLocks xmlns:a="http://schemas.openxmlformats.org/drawingml/2006/main" noGrp="1"/>
          </p:cNvSpPr>
          <p:nvPr/>
        </p:nvSpPr>
        <p:spPr>
          <a:xfrm xmlns:a="http://schemas.openxmlformats.org/drawingml/2006/main">
            <a:off x="9886950" y="2543175"/>
            <a:ext cx="304800" cy="171450"/>
          </a:xfrm>
          <a:prstGeom xmlns:a="http://schemas.openxmlformats.org/drawingml/2006/main" prst="rightArrow">
            <a:avLst/>
          </a:prstGeom>
          <a:solidFill xmlns:a="http://schemas.openxmlformats.org/drawingml/2006/main">
            <a:srgbClr val="BEEBE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E79BAEE-08F8-4DB6-A2F8-8DE135B9EE25}"/>
              </a:ext>
            </a:extLst>
          </p:cNvPr>
          <p:cNvSpPr>
            <a:spLocks xmlns:a="http://schemas.openxmlformats.org/drawingml/2006/main" noGrp="1"/>
          </p:cNvSpPr>
          <p:nvPr/>
        </p:nvSpPr>
        <p:spPr>
          <a:xfrm xmlns:a="http://schemas.openxmlformats.org/drawingml/2006/main">
            <a:off x="609600" y="2133600"/>
            <a:ext cx="1352550" cy="990600"/>
          </a:xfrm>
          <a:prstGeom xmlns:a="http://schemas.openxmlformats.org/drawingml/2006/main" prst="roundRect">
            <a:avLst>
              <a:gd name="adj" fmla="val 7692"/>
            </a:avLst>
          </a:prstGeom>
          <a:solidFill xmlns:a="http://schemas.openxmlformats.org/drawingml/2006/main">
            <a:srgbClr val="F5FAF9"/>
          </a:solidFill>
          <a:ln xmlns:a="http://schemas.openxmlformats.org/drawingml/2006/main" w="19050">
            <a:solidFill>
              <a:srgbClr val="0A8A88"/>
            </a:solidFill>
          </a:ln>
        </p:spPr>
      </p:sp>
      <p:sp>
        <p:nvSpPr>
          <p:cNvPr id="10" name="">
            <a:extLst xmlns:a="http://schemas.openxmlformats.org/drawingml/2006/main">
              <a:ext uri="{FF2B5EF4-FFF2-40B4-BE49-F238E27FC236}">
                <a16:creationId xmlns:a16="http://schemas.microsoft.com/office/drawing/2014/main" id="{6954F314-6210-431A-B3A3-A071865C09B6}"/>
              </a:ext>
            </a:extLst>
          </p:cNvPr>
          <p:cNvSpPr>
            <a:spLocks xmlns:a="http://schemas.openxmlformats.org/drawingml/2006/main" noGrp="1"/>
          </p:cNvSpPr>
          <p:nvPr/>
        </p:nvSpPr>
        <p:spPr>
          <a:xfrm xmlns:a="http://schemas.openxmlformats.org/drawingml/2006/main">
            <a:off x="742950" y="2257425"/>
            <a:ext cx="1085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USER</a:t>
            </a:r>
          </a:p>
        </p:txBody>
      </p:sp>
      <p:sp>
        <p:nvSpPr>
          <p:cNvPr id="11" name="">
            <a:extLst xmlns:a="http://schemas.openxmlformats.org/drawingml/2006/main">
              <a:ext uri="{FF2B5EF4-FFF2-40B4-BE49-F238E27FC236}">
                <a16:creationId xmlns:a16="http://schemas.microsoft.com/office/drawing/2014/main" id="{ABAC55D1-B40F-4CBD-A92E-2C23B9BD09F8}"/>
              </a:ext>
            </a:extLst>
          </p:cNvPr>
          <p:cNvSpPr>
            <a:spLocks xmlns:a="http://schemas.openxmlformats.org/drawingml/2006/main" noGrp="1"/>
          </p:cNvSpPr>
          <p:nvPr/>
        </p:nvSpPr>
        <p:spPr>
          <a:xfrm xmlns:a="http://schemas.openxmlformats.org/drawingml/2006/main">
            <a:off x="723900" y="2476500"/>
            <a:ext cx="112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Browser</a:t>
            </a:r>
          </a:p>
        </p:txBody>
      </p:sp>
      <p:sp>
        <p:nvSpPr>
          <p:cNvPr id="12" name="">
            <a:extLst xmlns:a="http://schemas.openxmlformats.org/drawingml/2006/main">
              <a:ext uri="{FF2B5EF4-FFF2-40B4-BE49-F238E27FC236}">
                <a16:creationId xmlns:a16="http://schemas.microsoft.com/office/drawing/2014/main" id="{FC744AC8-8B4B-40F7-824D-8A75856275F0}"/>
              </a:ext>
            </a:extLst>
          </p:cNvPr>
          <p:cNvSpPr>
            <a:spLocks xmlns:a="http://schemas.openxmlformats.org/drawingml/2006/main" noGrp="1"/>
          </p:cNvSpPr>
          <p:nvPr/>
        </p:nvSpPr>
        <p:spPr>
          <a:xfrm xmlns:a="http://schemas.openxmlformats.org/drawingml/2006/main">
            <a:off x="723900" y="2781300"/>
            <a:ext cx="1123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627781"/>
                </a:solidFill>
                <a:latin typeface="Avenir Next"/>
                <a:ea typeface="Avenir Next"/>
                <a:cs typeface="Avenir Next"/>
              </a:defRPr>
            </a:pPr>
            <a:r>
              <a:rPr sz="900" b="0">
                <a:solidFill>
                  <a:srgbClr val="627781"/>
                </a:solidFill>
                <a:latin typeface="Avenir Next"/>
                <a:ea typeface="Avenir Next"/>
                <a:cs typeface="Avenir Next"/>
              </a:rPr>
              <a:t>Public review UI</a:t>
            </a:r>
          </a:p>
        </p:txBody>
      </p:sp>
      <p:sp>
        <p:nvSpPr>
          <p:cNvPr id="13" name="">
            <a:extLst xmlns:a="http://schemas.openxmlformats.org/drawingml/2006/main">
              <a:ext uri="{FF2B5EF4-FFF2-40B4-BE49-F238E27FC236}">
                <a16:creationId xmlns:a16="http://schemas.microsoft.com/office/drawing/2014/main" id="{3759D911-B187-4BE4-9C01-E09057035048}"/>
              </a:ext>
            </a:extLst>
          </p:cNvPr>
          <p:cNvSpPr>
            <a:spLocks xmlns:a="http://schemas.openxmlformats.org/drawingml/2006/main" noGrp="1"/>
          </p:cNvSpPr>
          <p:nvPr/>
        </p:nvSpPr>
        <p:spPr>
          <a:xfrm xmlns:a="http://schemas.openxmlformats.org/drawingml/2006/main">
            <a:off x="2362200" y="2133600"/>
            <a:ext cx="1809750" cy="990600"/>
          </a:xfrm>
          <a:prstGeom xmlns:a="http://schemas.openxmlformats.org/drawingml/2006/main" prst="roundRect">
            <a:avLst>
              <a:gd name="adj" fmla="val 7692"/>
            </a:avLst>
          </a:prstGeom>
          <a:solidFill xmlns:a="http://schemas.openxmlformats.org/drawingml/2006/main">
            <a:srgbClr val="EAF7F4"/>
          </a:solidFill>
          <a:ln xmlns:a="http://schemas.openxmlformats.org/drawingml/2006/main" w="19050">
            <a:solidFill>
              <a:srgbClr val="0A8A88"/>
            </a:solidFill>
          </a:ln>
        </p:spPr>
      </p:sp>
      <p:sp>
        <p:nvSpPr>
          <p:cNvPr id="14" name="">
            <a:extLst xmlns:a="http://schemas.openxmlformats.org/drawingml/2006/main">
              <a:ext uri="{FF2B5EF4-FFF2-40B4-BE49-F238E27FC236}">
                <a16:creationId xmlns:a16="http://schemas.microsoft.com/office/drawing/2014/main" id="{39C1890D-B78C-41B2-98DE-FA205ACD1771}"/>
              </a:ext>
            </a:extLst>
          </p:cNvPr>
          <p:cNvSpPr>
            <a:spLocks xmlns:a="http://schemas.openxmlformats.org/drawingml/2006/main" noGrp="1"/>
          </p:cNvSpPr>
          <p:nvPr/>
        </p:nvSpPr>
        <p:spPr>
          <a:xfrm xmlns:a="http://schemas.openxmlformats.org/drawingml/2006/main">
            <a:off x="2495550" y="2257425"/>
            <a:ext cx="1543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PUBLIC ROUTES</a:t>
            </a:r>
          </a:p>
        </p:txBody>
      </p:sp>
      <p:sp>
        <p:nvSpPr>
          <p:cNvPr id="15" name="">
            <a:extLst xmlns:a="http://schemas.openxmlformats.org/drawingml/2006/main">
              <a:ext uri="{FF2B5EF4-FFF2-40B4-BE49-F238E27FC236}">
                <a16:creationId xmlns:a16="http://schemas.microsoft.com/office/drawing/2014/main" id="{3A7F8C43-3AEA-417A-8DD6-4FA29114C132}"/>
              </a:ext>
            </a:extLst>
          </p:cNvPr>
          <p:cNvSpPr>
            <a:spLocks xmlns:a="http://schemas.openxmlformats.org/drawingml/2006/main" noGrp="1"/>
          </p:cNvSpPr>
          <p:nvPr/>
        </p:nvSpPr>
        <p:spPr>
          <a:xfrm xmlns:a="http://schemas.openxmlformats.org/drawingml/2006/main">
            <a:off x="2476500" y="247650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FastAPI</a:t>
            </a:r>
          </a:p>
        </p:txBody>
      </p:sp>
      <p:sp>
        <p:nvSpPr>
          <p:cNvPr id="16" name="">
            <a:extLst xmlns:a="http://schemas.openxmlformats.org/drawingml/2006/main">
              <a:ext uri="{FF2B5EF4-FFF2-40B4-BE49-F238E27FC236}">
                <a16:creationId xmlns:a16="http://schemas.microsoft.com/office/drawing/2014/main" id="{4C3C7E17-CA11-4278-91ED-13A51656A9B4}"/>
              </a:ext>
            </a:extLst>
          </p:cNvPr>
          <p:cNvSpPr>
            <a:spLocks xmlns:a="http://schemas.openxmlformats.org/drawingml/2006/main" noGrp="1"/>
          </p:cNvSpPr>
          <p:nvPr/>
        </p:nvSpPr>
        <p:spPr>
          <a:xfrm xmlns:a="http://schemas.openxmlformats.org/drawingml/2006/main">
            <a:off x="2476500" y="2781300"/>
            <a:ext cx="158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627781"/>
                </a:solidFill>
                <a:latin typeface="Avenir Next"/>
                <a:ea typeface="Avenir Next"/>
                <a:cs typeface="Avenir Next"/>
              </a:defRPr>
            </a:pPr>
            <a:r>
              <a:rPr sz="900" b="0">
                <a:solidFill>
                  <a:srgbClr val="627781"/>
                </a:solidFill>
                <a:latin typeface="Avenir Next"/>
                <a:ea typeface="Avenir Next"/>
                <a:cs typeface="Avenir Next"/>
              </a:rPr>
              <a:t>Cloudflare + Render</a:t>
            </a:r>
          </a:p>
        </p:txBody>
      </p:sp>
      <p:sp>
        <p:nvSpPr>
          <p:cNvPr id="17" name="">
            <a:extLst xmlns:a="http://schemas.openxmlformats.org/drawingml/2006/main">
              <a:ext uri="{FF2B5EF4-FFF2-40B4-BE49-F238E27FC236}">
                <a16:creationId xmlns:a16="http://schemas.microsoft.com/office/drawing/2014/main" id="{B30352EF-BC46-453B-878E-9200BFE99DCF}"/>
              </a:ext>
            </a:extLst>
          </p:cNvPr>
          <p:cNvSpPr>
            <a:spLocks xmlns:a="http://schemas.openxmlformats.org/drawingml/2006/main" noGrp="1"/>
          </p:cNvSpPr>
          <p:nvPr/>
        </p:nvSpPr>
        <p:spPr>
          <a:xfrm xmlns:a="http://schemas.openxmlformats.org/drawingml/2006/main">
            <a:off x="4572000" y="2133600"/>
            <a:ext cx="2381250" cy="990600"/>
          </a:xfrm>
          <a:prstGeom xmlns:a="http://schemas.openxmlformats.org/drawingml/2006/main" prst="roundRect">
            <a:avLst>
              <a:gd name="adj" fmla="val 7692"/>
            </a:avLst>
          </a:prstGeom>
          <a:solidFill xmlns:a="http://schemas.openxmlformats.org/drawingml/2006/main">
            <a:srgbClr val="0A2538"/>
          </a:solidFill>
          <a:ln xmlns:a="http://schemas.openxmlformats.org/drawingml/2006/main" w="19050">
            <a:solidFill>
              <a:srgbClr val="0A2538"/>
            </a:solidFill>
          </a:ln>
        </p:spPr>
      </p:sp>
      <p:sp>
        <p:nvSpPr>
          <p:cNvPr id="18" name="">
            <a:extLst xmlns:a="http://schemas.openxmlformats.org/drawingml/2006/main">
              <a:ext uri="{FF2B5EF4-FFF2-40B4-BE49-F238E27FC236}">
                <a16:creationId xmlns:a16="http://schemas.microsoft.com/office/drawing/2014/main" id="{351202A1-FFBC-4254-91F5-9DE0DA92BB26}"/>
              </a:ext>
            </a:extLst>
          </p:cNvPr>
          <p:cNvSpPr>
            <a:spLocks xmlns:a="http://schemas.openxmlformats.org/drawingml/2006/main" noGrp="1"/>
          </p:cNvSpPr>
          <p:nvPr/>
        </p:nvSpPr>
        <p:spPr>
          <a:xfrm xmlns:a="http://schemas.openxmlformats.org/drawingml/2006/main">
            <a:off x="4705350" y="2257425"/>
            <a:ext cx="2114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BEEBE4"/>
                </a:solidFill>
                <a:latin typeface="Avenir Next"/>
                <a:ea typeface="Avenir Next"/>
                <a:cs typeface="Avenir Next"/>
              </a:defRPr>
            </a:pPr>
            <a:r>
              <a:rPr sz="750" b="1">
                <a:solidFill>
                  <a:srgbClr val="BEEBE4"/>
                </a:solidFill>
                <a:latin typeface="Avenir Next"/>
                <a:ea typeface="Avenir Next"/>
                <a:cs typeface="Avenir Next"/>
              </a:rPr>
              <a:t>APPLICATION</a:t>
            </a:r>
          </a:p>
        </p:txBody>
      </p:sp>
      <p:sp>
        <p:nvSpPr>
          <p:cNvPr id="19" name="">
            <a:extLst xmlns:a="http://schemas.openxmlformats.org/drawingml/2006/main">
              <a:ext uri="{FF2B5EF4-FFF2-40B4-BE49-F238E27FC236}">
                <a16:creationId xmlns:a16="http://schemas.microsoft.com/office/drawing/2014/main" id="{D8DC82B4-2032-4275-9BCB-6F4F5404B242}"/>
              </a:ext>
            </a:extLst>
          </p:cNvPr>
          <p:cNvSpPr>
            <a:spLocks xmlns:a="http://schemas.openxmlformats.org/drawingml/2006/main" noGrp="1"/>
          </p:cNvSpPr>
          <p:nvPr/>
        </p:nvSpPr>
        <p:spPr>
          <a:xfrm xmlns:a="http://schemas.openxmlformats.org/drawingml/2006/main">
            <a:off x="4686300" y="2476500"/>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Bounded orchestrator</a:t>
            </a:r>
          </a:p>
        </p:txBody>
      </p:sp>
      <p:sp>
        <p:nvSpPr>
          <p:cNvPr id="20" name="">
            <a:extLst xmlns:a="http://schemas.openxmlformats.org/drawingml/2006/main">
              <a:ext uri="{FF2B5EF4-FFF2-40B4-BE49-F238E27FC236}">
                <a16:creationId xmlns:a16="http://schemas.microsoft.com/office/drawing/2014/main" id="{8AA9A3EB-AAED-41DD-9751-D84508A8EF48}"/>
              </a:ext>
            </a:extLst>
          </p:cNvPr>
          <p:cNvSpPr>
            <a:spLocks xmlns:a="http://schemas.openxmlformats.org/drawingml/2006/main" noGrp="1"/>
          </p:cNvSpPr>
          <p:nvPr/>
        </p:nvSpPr>
        <p:spPr>
          <a:xfrm xmlns:a="http://schemas.openxmlformats.org/drawingml/2006/main">
            <a:off x="4686300" y="2781300"/>
            <a:ext cx="2152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BEEBE4"/>
                </a:solidFill>
                <a:latin typeface="Avenir Next"/>
                <a:ea typeface="Avenir Next"/>
                <a:cs typeface="Avenir Next"/>
              </a:defRPr>
            </a:pPr>
            <a:r>
              <a:rPr sz="900" b="0">
                <a:solidFill>
                  <a:srgbClr val="BEEBE4"/>
                </a:solidFill>
                <a:latin typeface="Avenir Next"/>
                <a:ea typeface="Avenir Next"/>
                <a:cs typeface="Avenir Next"/>
              </a:rPr>
              <a:t>Call limits and one revision</a:t>
            </a:r>
          </a:p>
        </p:txBody>
      </p:sp>
      <p:sp>
        <p:nvSpPr>
          <p:cNvPr id="21" name="">
            <a:extLst xmlns:a="http://schemas.openxmlformats.org/drawingml/2006/main">
              <a:ext uri="{FF2B5EF4-FFF2-40B4-BE49-F238E27FC236}">
                <a16:creationId xmlns:a16="http://schemas.microsoft.com/office/drawing/2014/main" id="{F6A5D8A9-7920-402A-951B-5B8E869A1811}"/>
              </a:ext>
            </a:extLst>
          </p:cNvPr>
          <p:cNvSpPr>
            <a:spLocks xmlns:a="http://schemas.openxmlformats.org/drawingml/2006/main" noGrp="1"/>
          </p:cNvSpPr>
          <p:nvPr/>
        </p:nvSpPr>
        <p:spPr>
          <a:xfrm xmlns:a="http://schemas.openxmlformats.org/drawingml/2006/main">
            <a:off x="7353300" y="2133600"/>
            <a:ext cx="24955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9050">
            <a:solidFill>
              <a:srgbClr val="E56B52"/>
            </a:solidFill>
          </a:ln>
        </p:spPr>
      </p:sp>
      <p:sp>
        <p:nvSpPr>
          <p:cNvPr id="22" name="">
            <a:extLst xmlns:a="http://schemas.openxmlformats.org/drawingml/2006/main">
              <a:ext uri="{FF2B5EF4-FFF2-40B4-BE49-F238E27FC236}">
                <a16:creationId xmlns:a16="http://schemas.microsoft.com/office/drawing/2014/main" id="{154DC957-30EE-4478-8BA8-07732F078298}"/>
              </a:ext>
            </a:extLst>
          </p:cNvPr>
          <p:cNvSpPr>
            <a:spLocks xmlns:a="http://schemas.openxmlformats.org/drawingml/2006/main" noGrp="1"/>
          </p:cNvSpPr>
          <p:nvPr/>
        </p:nvSpPr>
        <p:spPr>
          <a:xfrm xmlns:a="http://schemas.openxmlformats.org/drawingml/2006/main">
            <a:off x="7486650" y="2257425"/>
            <a:ext cx="2228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E56B52"/>
                </a:solidFill>
                <a:latin typeface="Avenir Next"/>
                <a:ea typeface="Avenir Next"/>
                <a:cs typeface="Avenir Next"/>
              </a:defRPr>
            </a:pPr>
            <a:r>
              <a:rPr sz="750" b="1">
                <a:solidFill>
                  <a:srgbClr val="E56B52"/>
                </a:solidFill>
                <a:latin typeface="Avenir Next"/>
                <a:ea typeface="Avenir Next"/>
                <a:cs typeface="Avenir Next"/>
              </a:rPr>
              <a:t>DETERMINISTIC</a:t>
            </a:r>
          </a:p>
        </p:txBody>
      </p:sp>
      <p:sp>
        <p:nvSpPr>
          <p:cNvPr id="23" name="">
            <a:extLst xmlns:a="http://schemas.openxmlformats.org/drawingml/2006/main">
              <a:ext uri="{FF2B5EF4-FFF2-40B4-BE49-F238E27FC236}">
                <a16:creationId xmlns:a16="http://schemas.microsoft.com/office/drawing/2014/main" id="{1190926B-1935-4483-B2BE-E521D6B45748}"/>
              </a:ext>
            </a:extLst>
          </p:cNvPr>
          <p:cNvSpPr>
            <a:spLocks xmlns:a="http://schemas.openxmlformats.org/drawingml/2006/main" noGrp="1"/>
          </p:cNvSpPr>
          <p:nvPr/>
        </p:nvSpPr>
        <p:spPr>
          <a:xfrm xmlns:a="http://schemas.openxmlformats.org/drawingml/2006/main">
            <a:off x="7467600" y="2476500"/>
            <a:ext cx="2266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Release gates</a:t>
            </a:r>
          </a:p>
        </p:txBody>
      </p:sp>
      <p:sp>
        <p:nvSpPr>
          <p:cNvPr id="24" name="">
            <a:extLst xmlns:a="http://schemas.openxmlformats.org/drawingml/2006/main">
              <a:ext uri="{FF2B5EF4-FFF2-40B4-BE49-F238E27FC236}">
                <a16:creationId xmlns:a16="http://schemas.microsoft.com/office/drawing/2014/main" id="{1B35C783-8810-4B22-A124-B88EB1D86B8F}"/>
              </a:ext>
            </a:extLst>
          </p:cNvPr>
          <p:cNvSpPr>
            <a:spLocks xmlns:a="http://schemas.openxmlformats.org/drawingml/2006/main" noGrp="1"/>
          </p:cNvSpPr>
          <p:nvPr/>
        </p:nvSpPr>
        <p:spPr>
          <a:xfrm xmlns:a="http://schemas.openxmlformats.org/drawingml/2006/main">
            <a:off x="7467600" y="2781300"/>
            <a:ext cx="2266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627781"/>
                </a:solidFill>
                <a:latin typeface="Avenir Next"/>
                <a:ea typeface="Avenir Next"/>
                <a:cs typeface="Avenir Next"/>
              </a:defRPr>
            </a:pPr>
            <a:r>
              <a:rPr sz="900" b="0">
                <a:solidFill>
                  <a:srgbClr val="627781"/>
                </a:solidFill>
                <a:latin typeface="Avenir Next"/>
                <a:ea typeface="Avenir Next"/>
                <a:cs typeface="Avenir Next"/>
              </a:rPr>
              <a:t>Citation · numeric · language</a:t>
            </a:r>
          </a:p>
        </p:txBody>
      </p:sp>
      <p:sp>
        <p:nvSpPr>
          <p:cNvPr id="25" name="">
            <a:extLst xmlns:a="http://schemas.openxmlformats.org/drawingml/2006/main">
              <a:ext uri="{FF2B5EF4-FFF2-40B4-BE49-F238E27FC236}">
                <a16:creationId xmlns:a16="http://schemas.microsoft.com/office/drawing/2014/main" id="{857ABEBF-0725-4003-9171-DE558C5911EC}"/>
              </a:ext>
            </a:extLst>
          </p:cNvPr>
          <p:cNvSpPr>
            <a:spLocks xmlns:a="http://schemas.openxmlformats.org/drawingml/2006/main" noGrp="1"/>
          </p:cNvSpPr>
          <p:nvPr/>
        </p:nvSpPr>
        <p:spPr>
          <a:xfrm xmlns:a="http://schemas.openxmlformats.org/drawingml/2006/main">
            <a:off x="10248900" y="2133600"/>
            <a:ext cx="1333500" cy="990600"/>
          </a:xfrm>
          <a:prstGeom xmlns:a="http://schemas.openxmlformats.org/drawingml/2006/main" prst="roundRect">
            <a:avLst>
              <a:gd name="adj" fmla="val 7692"/>
            </a:avLst>
          </a:prstGeom>
          <a:solidFill xmlns:a="http://schemas.openxmlformats.org/drawingml/2006/main">
            <a:srgbClr val="FFF6E9"/>
          </a:solidFill>
          <a:ln xmlns:a="http://schemas.openxmlformats.org/drawingml/2006/main" w="19050">
            <a:solidFill>
              <a:srgbClr val="E56B52"/>
            </a:solidFill>
          </a:ln>
        </p:spPr>
      </p:sp>
      <p:sp>
        <p:nvSpPr>
          <p:cNvPr id="26" name="">
            <a:extLst xmlns:a="http://schemas.openxmlformats.org/drawingml/2006/main">
              <a:ext uri="{FF2B5EF4-FFF2-40B4-BE49-F238E27FC236}">
                <a16:creationId xmlns:a16="http://schemas.microsoft.com/office/drawing/2014/main" id="{ADE8B889-E5A2-4D5C-BF53-0B62DF04D022}"/>
              </a:ext>
            </a:extLst>
          </p:cNvPr>
          <p:cNvSpPr>
            <a:spLocks xmlns:a="http://schemas.openxmlformats.org/drawingml/2006/main" noGrp="1"/>
          </p:cNvSpPr>
          <p:nvPr/>
        </p:nvSpPr>
        <p:spPr>
          <a:xfrm xmlns:a="http://schemas.openxmlformats.org/drawingml/2006/main">
            <a:off x="10382250" y="2257425"/>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E56B52"/>
                </a:solidFill>
                <a:latin typeface="Avenir Next"/>
                <a:ea typeface="Avenir Next"/>
                <a:cs typeface="Avenir Next"/>
              </a:defRPr>
            </a:pPr>
            <a:r>
              <a:rPr sz="750" b="1">
                <a:solidFill>
                  <a:srgbClr val="E56B52"/>
                </a:solidFill>
                <a:latin typeface="Avenir Next"/>
                <a:ea typeface="Avenir Next"/>
                <a:cs typeface="Avenir Next"/>
              </a:rPr>
              <a:t>OUTPUT</a:t>
            </a:r>
          </a:p>
        </p:txBody>
      </p:sp>
      <p:sp>
        <p:nvSpPr>
          <p:cNvPr id="27" name="">
            <a:extLst xmlns:a="http://schemas.openxmlformats.org/drawingml/2006/main">
              <a:ext uri="{FF2B5EF4-FFF2-40B4-BE49-F238E27FC236}">
                <a16:creationId xmlns:a16="http://schemas.microsoft.com/office/drawing/2014/main" id="{8B17437D-CD14-4FDB-A82F-13E995E1D6D0}"/>
              </a:ext>
            </a:extLst>
          </p:cNvPr>
          <p:cNvSpPr>
            <a:spLocks xmlns:a="http://schemas.openxmlformats.org/drawingml/2006/main" noGrp="1"/>
          </p:cNvSpPr>
          <p:nvPr/>
        </p:nvSpPr>
        <p:spPr>
          <a:xfrm xmlns:a="http://schemas.openxmlformats.org/drawingml/2006/main">
            <a:off x="10363200" y="247650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Report + chat</a:t>
            </a:r>
          </a:p>
        </p:txBody>
      </p:sp>
      <p:sp>
        <p:nvSpPr>
          <p:cNvPr id="28" name="">
            <a:extLst xmlns:a="http://schemas.openxmlformats.org/drawingml/2006/main">
              <a:ext uri="{FF2B5EF4-FFF2-40B4-BE49-F238E27FC236}">
                <a16:creationId xmlns:a16="http://schemas.microsoft.com/office/drawing/2014/main" id="{A91F5DB5-A6F7-424C-8836-802DB33D232D}"/>
              </a:ext>
            </a:extLst>
          </p:cNvPr>
          <p:cNvSpPr>
            <a:spLocks xmlns:a="http://schemas.openxmlformats.org/drawingml/2006/main" noGrp="1"/>
          </p:cNvSpPr>
          <p:nvPr/>
        </p:nvSpPr>
        <p:spPr>
          <a:xfrm xmlns:a="http://schemas.openxmlformats.org/drawingml/2006/main">
            <a:off x="10363200" y="2781300"/>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627781"/>
                </a:solidFill>
                <a:latin typeface="Avenir Next"/>
                <a:ea typeface="Avenir Next"/>
                <a:cs typeface="Avenir Next"/>
              </a:defRPr>
            </a:pPr>
            <a:r>
              <a:rPr sz="900" b="0">
                <a:solidFill>
                  <a:srgbClr val="627781"/>
                </a:solidFill>
                <a:latin typeface="Avenir Next"/>
                <a:ea typeface="Avenir Next"/>
                <a:cs typeface="Avenir Next"/>
              </a:rPr>
              <a:t>Human review</a:t>
            </a:r>
          </a:p>
        </p:txBody>
      </p:sp>
      <p:sp>
        <p:nvSpPr>
          <p:cNvPr id="29" name="">
            <a:extLst xmlns:a="http://schemas.openxmlformats.org/drawingml/2006/main">
              <a:ext uri="{FF2B5EF4-FFF2-40B4-BE49-F238E27FC236}">
                <a16:creationId xmlns:a16="http://schemas.microsoft.com/office/drawing/2014/main" id="{093F8B2A-973F-4747-BF69-4D2F62A1AC24}"/>
              </a:ext>
            </a:extLst>
          </p:cNvPr>
          <p:cNvSpPr>
            <a:spLocks xmlns:a="http://schemas.openxmlformats.org/drawingml/2006/main" noGrp="1"/>
          </p:cNvSpPr>
          <p:nvPr/>
        </p:nvSpPr>
        <p:spPr>
          <a:xfrm xmlns:a="http://schemas.openxmlformats.org/drawingml/2006/main">
            <a:off x="5762625" y="3124200"/>
            <a:ext cx="0" cy="409575"/>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30" name="">
            <a:extLst xmlns:a="http://schemas.openxmlformats.org/drawingml/2006/main">
              <a:ext uri="{FF2B5EF4-FFF2-40B4-BE49-F238E27FC236}">
                <a16:creationId xmlns:a16="http://schemas.microsoft.com/office/drawing/2014/main" id="{EA9ABE52-CCEA-4AF3-9B6E-101A8199F57C}"/>
              </a:ext>
            </a:extLst>
          </p:cNvPr>
          <p:cNvSpPr>
            <a:spLocks xmlns:a="http://schemas.openxmlformats.org/drawingml/2006/main" noGrp="1"/>
          </p:cNvSpPr>
          <p:nvPr/>
        </p:nvSpPr>
        <p:spPr>
          <a:xfrm xmlns:a="http://schemas.openxmlformats.org/drawingml/2006/main">
            <a:off x="4171950" y="3524250"/>
            <a:ext cx="4400550" cy="0"/>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31" name="">
            <a:extLst xmlns:a="http://schemas.openxmlformats.org/drawingml/2006/main">
              <a:ext uri="{FF2B5EF4-FFF2-40B4-BE49-F238E27FC236}">
                <a16:creationId xmlns:a16="http://schemas.microsoft.com/office/drawing/2014/main" id="{FAFB1791-8A8C-4990-AF74-AFFD77EFA6E9}"/>
              </a:ext>
            </a:extLst>
          </p:cNvPr>
          <p:cNvSpPr>
            <a:spLocks xmlns:a="http://schemas.openxmlformats.org/drawingml/2006/main" noGrp="1"/>
          </p:cNvSpPr>
          <p:nvPr/>
        </p:nvSpPr>
        <p:spPr>
          <a:xfrm xmlns:a="http://schemas.openxmlformats.org/drawingml/2006/main">
            <a:off x="4171950" y="3524250"/>
            <a:ext cx="0" cy="247650"/>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32" name="">
            <a:extLst xmlns:a="http://schemas.openxmlformats.org/drawingml/2006/main">
              <a:ext uri="{FF2B5EF4-FFF2-40B4-BE49-F238E27FC236}">
                <a16:creationId xmlns:a16="http://schemas.microsoft.com/office/drawing/2014/main" id="{652EA0BD-AA53-4CF9-87A0-E8CD473C59BD}"/>
              </a:ext>
            </a:extLst>
          </p:cNvPr>
          <p:cNvSpPr>
            <a:spLocks xmlns:a="http://schemas.openxmlformats.org/drawingml/2006/main" noGrp="1"/>
          </p:cNvSpPr>
          <p:nvPr/>
        </p:nvSpPr>
        <p:spPr>
          <a:xfrm xmlns:a="http://schemas.openxmlformats.org/drawingml/2006/main">
            <a:off x="8572500" y="3524250"/>
            <a:ext cx="0" cy="247650"/>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33" name="">
            <a:extLst xmlns:a="http://schemas.openxmlformats.org/drawingml/2006/main">
              <a:ext uri="{FF2B5EF4-FFF2-40B4-BE49-F238E27FC236}">
                <a16:creationId xmlns:a16="http://schemas.microsoft.com/office/drawing/2014/main" id="{02DFB7D2-21FA-4078-9809-4CCC81EB5E13}"/>
              </a:ext>
            </a:extLst>
          </p:cNvPr>
          <p:cNvSpPr>
            <a:spLocks xmlns:a="http://schemas.openxmlformats.org/drawingml/2006/main" noGrp="1"/>
          </p:cNvSpPr>
          <p:nvPr/>
        </p:nvSpPr>
        <p:spPr>
          <a:xfrm xmlns:a="http://schemas.openxmlformats.org/drawingml/2006/main">
            <a:off x="4086225" y="3705225"/>
            <a:ext cx="171450" cy="209550"/>
          </a:xfrm>
          <a:prstGeom xmlns:a="http://schemas.openxmlformats.org/drawingml/2006/main" prst="downArrow">
            <a:avLst/>
          </a:prstGeom>
          <a:solidFill xmlns:a="http://schemas.openxmlformats.org/drawingml/2006/main">
            <a:srgbClr val="BEEBE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388153E-2496-430F-9BB4-2BF9163AC37D}"/>
              </a:ext>
            </a:extLst>
          </p:cNvPr>
          <p:cNvSpPr>
            <a:spLocks xmlns:a="http://schemas.openxmlformats.org/drawingml/2006/main" noGrp="1"/>
          </p:cNvSpPr>
          <p:nvPr/>
        </p:nvSpPr>
        <p:spPr>
          <a:xfrm xmlns:a="http://schemas.openxmlformats.org/drawingml/2006/main">
            <a:off x="8486775" y="3705225"/>
            <a:ext cx="171450" cy="209550"/>
          </a:xfrm>
          <a:prstGeom xmlns:a="http://schemas.openxmlformats.org/drawingml/2006/main" prst="downArrow">
            <a:avLst/>
          </a:prstGeom>
          <a:solidFill xmlns:a="http://schemas.openxmlformats.org/drawingml/2006/main">
            <a:srgbClr val="BEEBE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C3A5295-51EA-4AB6-A951-CC267C38F84A}"/>
              </a:ext>
            </a:extLst>
          </p:cNvPr>
          <p:cNvSpPr>
            <a:spLocks xmlns:a="http://schemas.openxmlformats.org/drawingml/2006/main" noGrp="1"/>
          </p:cNvSpPr>
          <p:nvPr/>
        </p:nvSpPr>
        <p:spPr>
          <a:xfrm xmlns:a="http://schemas.openxmlformats.org/drawingml/2006/main">
            <a:off x="4362450" y="3286125"/>
            <a:ext cx="800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READS</a:t>
            </a:r>
          </a:p>
        </p:txBody>
      </p:sp>
      <p:sp>
        <p:nvSpPr>
          <p:cNvPr id="36" name="">
            <a:extLst xmlns:a="http://schemas.openxmlformats.org/drawingml/2006/main">
              <a:ext uri="{FF2B5EF4-FFF2-40B4-BE49-F238E27FC236}">
                <a16:creationId xmlns:a16="http://schemas.microsoft.com/office/drawing/2014/main" id="{08B9EBA4-654D-43AE-A87E-729B4E4DC117}"/>
              </a:ext>
            </a:extLst>
          </p:cNvPr>
          <p:cNvSpPr>
            <a:spLocks xmlns:a="http://schemas.openxmlformats.org/drawingml/2006/main" noGrp="1"/>
          </p:cNvSpPr>
          <p:nvPr/>
        </p:nvSpPr>
        <p:spPr>
          <a:xfrm xmlns:a="http://schemas.openxmlformats.org/drawingml/2006/main">
            <a:off x="7600950" y="3286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INVOKES</a:t>
            </a:r>
          </a:p>
        </p:txBody>
      </p:sp>
      <p:sp>
        <p:nvSpPr>
          <p:cNvPr id="37" name="">
            <a:extLst xmlns:a="http://schemas.openxmlformats.org/drawingml/2006/main">
              <a:ext uri="{FF2B5EF4-FFF2-40B4-BE49-F238E27FC236}">
                <a16:creationId xmlns:a16="http://schemas.microsoft.com/office/drawing/2014/main" id="{22A5A59E-3A03-4543-9AF5-019ECB9F434E}"/>
              </a:ext>
            </a:extLst>
          </p:cNvPr>
          <p:cNvSpPr>
            <a:spLocks xmlns:a="http://schemas.openxmlformats.org/drawingml/2006/main" noGrp="1"/>
          </p:cNvSpPr>
          <p:nvPr/>
        </p:nvSpPr>
        <p:spPr>
          <a:xfrm xmlns:a="http://schemas.openxmlformats.org/drawingml/2006/main">
            <a:off x="2971800" y="3876675"/>
            <a:ext cx="2400300" cy="1066800"/>
          </a:xfrm>
          <a:prstGeom xmlns:a="http://schemas.openxmlformats.org/drawingml/2006/main" prst="roundRect">
            <a:avLst>
              <a:gd name="adj" fmla="val 7143"/>
            </a:avLst>
          </a:prstGeom>
          <a:solidFill xmlns:a="http://schemas.openxmlformats.org/drawingml/2006/main">
            <a:srgbClr val="F5FAF9"/>
          </a:solidFill>
          <a:ln xmlns:a="http://schemas.openxmlformats.org/drawingml/2006/main" w="19050">
            <a:solidFill>
              <a:srgbClr val="0A8A88"/>
            </a:solidFill>
          </a:ln>
        </p:spPr>
      </p:sp>
      <p:sp>
        <p:nvSpPr>
          <p:cNvPr id="38" name="">
            <a:extLst xmlns:a="http://schemas.openxmlformats.org/drawingml/2006/main">
              <a:ext uri="{FF2B5EF4-FFF2-40B4-BE49-F238E27FC236}">
                <a16:creationId xmlns:a16="http://schemas.microsoft.com/office/drawing/2014/main" id="{D2F4E7DA-98CA-43A8-84BB-85B86171819F}"/>
              </a:ext>
            </a:extLst>
          </p:cNvPr>
          <p:cNvSpPr>
            <a:spLocks xmlns:a="http://schemas.openxmlformats.org/drawingml/2006/main" noGrp="1"/>
          </p:cNvSpPr>
          <p:nvPr/>
        </p:nvSpPr>
        <p:spPr>
          <a:xfrm xmlns:a="http://schemas.openxmlformats.org/drawingml/2006/main">
            <a:off x="3105150" y="40005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PUBLIC DATA</a:t>
            </a:r>
          </a:p>
        </p:txBody>
      </p:sp>
      <p:sp>
        <p:nvSpPr>
          <p:cNvPr id="39" name="">
            <a:extLst xmlns:a="http://schemas.openxmlformats.org/drawingml/2006/main">
              <a:ext uri="{FF2B5EF4-FFF2-40B4-BE49-F238E27FC236}">
                <a16:creationId xmlns:a16="http://schemas.microsoft.com/office/drawing/2014/main" id="{A90A53FB-AAA8-4E8C-B519-87B7B7C51A7F}"/>
              </a:ext>
            </a:extLst>
          </p:cNvPr>
          <p:cNvSpPr>
            <a:spLocks xmlns:a="http://schemas.openxmlformats.org/drawingml/2006/main" noGrp="1"/>
          </p:cNvSpPr>
          <p:nvPr/>
        </p:nvSpPr>
        <p:spPr>
          <a:xfrm xmlns:a="http://schemas.openxmlformats.org/drawingml/2006/main">
            <a:off x="3086100" y="421957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ClinicalTrials.gov</a:t>
            </a:r>
          </a:p>
        </p:txBody>
      </p:sp>
      <p:sp>
        <p:nvSpPr>
          <p:cNvPr id="40" name="">
            <a:extLst xmlns:a="http://schemas.openxmlformats.org/drawingml/2006/main">
              <a:ext uri="{FF2B5EF4-FFF2-40B4-BE49-F238E27FC236}">
                <a16:creationId xmlns:a16="http://schemas.microsoft.com/office/drawing/2014/main" id="{C06A62F5-082E-42D3-9BEA-364489338A1C}"/>
              </a:ext>
            </a:extLst>
          </p:cNvPr>
          <p:cNvSpPr>
            <a:spLocks xmlns:a="http://schemas.openxmlformats.org/drawingml/2006/main" noGrp="1"/>
          </p:cNvSpPr>
          <p:nvPr/>
        </p:nvSpPr>
        <p:spPr>
          <a:xfrm xmlns:a="http://schemas.openxmlformats.org/drawingml/2006/main">
            <a:off x="3086100" y="4524375"/>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627781"/>
                </a:solidFill>
                <a:latin typeface="Avenir Next"/>
                <a:ea typeface="Avenir Next"/>
                <a:cs typeface="Avenir Next"/>
              </a:defRPr>
            </a:pPr>
            <a:r>
              <a:rPr sz="900" b="0">
                <a:solidFill>
                  <a:srgbClr val="627781"/>
                </a:solidFill>
                <a:latin typeface="Avenir Next"/>
                <a:ea typeface="Avenir Next"/>
                <a:cs typeface="Avenir Next"/>
              </a:rPr>
              <a:t>Allowlisted fields · bounded cohort</a:t>
            </a:r>
          </a:p>
        </p:txBody>
      </p:sp>
      <p:sp>
        <p:nvSpPr>
          <p:cNvPr id="41" name="">
            <a:extLst xmlns:a="http://schemas.openxmlformats.org/drawingml/2006/main">
              <a:ext uri="{FF2B5EF4-FFF2-40B4-BE49-F238E27FC236}">
                <a16:creationId xmlns:a16="http://schemas.microsoft.com/office/drawing/2014/main" id="{77645E05-D0EB-43C1-B30E-B151A40A1BE3}"/>
              </a:ext>
            </a:extLst>
          </p:cNvPr>
          <p:cNvSpPr>
            <a:spLocks xmlns:a="http://schemas.openxmlformats.org/drawingml/2006/main" noGrp="1"/>
          </p:cNvSpPr>
          <p:nvPr/>
        </p:nvSpPr>
        <p:spPr>
          <a:xfrm xmlns:a="http://schemas.openxmlformats.org/drawingml/2006/main">
            <a:off x="5753100" y="3829050"/>
            <a:ext cx="5829300" cy="1162050"/>
          </a:xfrm>
          <a:prstGeom xmlns:a="http://schemas.openxmlformats.org/drawingml/2006/main" prst="roundRect">
            <a:avLst>
              <a:gd name="adj" fmla="val 6557"/>
            </a:avLst>
          </a:prstGeom>
          <a:solidFill xmlns:a="http://schemas.openxmlformats.org/drawingml/2006/main">
            <a:srgbClr val="F5FAF9"/>
          </a:solidFill>
          <a:ln xmlns:a="http://schemas.openxmlformats.org/drawingml/2006/main" w="19050">
            <a:solidFill>
              <a:srgbClr val="0A8A88"/>
            </a:solidFill>
          </a:ln>
        </p:spPr>
      </p:sp>
      <p:sp>
        <p:nvSpPr>
          <p:cNvPr id="42" name="">
            <a:extLst xmlns:a="http://schemas.openxmlformats.org/drawingml/2006/main">
              <a:ext uri="{FF2B5EF4-FFF2-40B4-BE49-F238E27FC236}">
                <a16:creationId xmlns:a16="http://schemas.microsoft.com/office/drawing/2014/main" id="{3514FAB0-B376-43A6-B284-401CCA37C1F7}"/>
              </a:ext>
            </a:extLst>
          </p:cNvPr>
          <p:cNvSpPr>
            <a:spLocks xmlns:a="http://schemas.openxmlformats.org/drawingml/2006/main" noGrp="1"/>
          </p:cNvSpPr>
          <p:nvPr/>
        </p:nvSpPr>
        <p:spPr>
          <a:xfrm xmlns:a="http://schemas.openxmlformats.org/drawingml/2006/main">
            <a:off x="5943600" y="3962400"/>
            <a:ext cx="5448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0A8A88"/>
                </a:solidFill>
                <a:latin typeface="Avenir Next"/>
                <a:ea typeface="Avenir Next"/>
                <a:cs typeface="Avenir Next"/>
              </a:defRPr>
            </a:pPr>
            <a:r>
              <a:rPr sz="825" b="1">
                <a:solidFill>
                  <a:srgbClr val="0A8A88"/>
                </a:solidFill>
                <a:latin typeface="Avenir Next"/>
                <a:ea typeface="Avenir Next"/>
                <a:cs typeface="Avenir Next"/>
              </a:rPr>
              <a:t>AMAZON BEDROCK  ·  US-EAST-1  ·  CLAUDE HAIKU 4.5  ·  GUARDRAIL</a:t>
            </a:r>
          </a:p>
        </p:txBody>
      </p:sp>
      <p:sp>
        <p:nvSpPr>
          <p:cNvPr id="43" name="">
            <a:extLst xmlns:a="http://schemas.openxmlformats.org/drawingml/2006/main">
              <a:ext uri="{FF2B5EF4-FFF2-40B4-BE49-F238E27FC236}">
                <a16:creationId xmlns:a16="http://schemas.microsoft.com/office/drawing/2014/main" id="{D2E3A41F-7FB6-45BE-8061-064B750C16D2}"/>
              </a:ext>
            </a:extLst>
          </p:cNvPr>
          <p:cNvSpPr>
            <a:spLocks xmlns:a="http://schemas.openxmlformats.org/drawingml/2006/main" noGrp="1"/>
          </p:cNvSpPr>
          <p:nvPr/>
        </p:nvSpPr>
        <p:spPr>
          <a:xfrm xmlns:a="http://schemas.openxmlformats.org/drawingml/2006/main">
            <a:off x="5943600" y="4343400"/>
            <a:ext cx="12573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7E6E3"/>
            </a:solidFill>
          </a:ln>
        </p:spPr>
      </p:sp>
      <p:sp>
        <p:nvSpPr>
          <p:cNvPr id="44" name="">
            <a:extLst xmlns:a="http://schemas.openxmlformats.org/drawingml/2006/main">
              <a:ext uri="{FF2B5EF4-FFF2-40B4-BE49-F238E27FC236}">
                <a16:creationId xmlns:a16="http://schemas.microsoft.com/office/drawing/2014/main" id="{701D8CCC-1DDC-477C-BC24-CE0DFD9B5DC6}"/>
              </a:ext>
            </a:extLst>
          </p:cNvPr>
          <p:cNvSpPr>
            <a:spLocks xmlns:a="http://schemas.openxmlformats.org/drawingml/2006/main" noGrp="1"/>
          </p:cNvSpPr>
          <p:nvPr/>
        </p:nvSpPr>
        <p:spPr>
          <a:xfrm xmlns:a="http://schemas.openxmlformats.org/drawingml/2006/main">
            <a:off x="6019800" y="4419600"/>
            <a:ext cx="1104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2538"/>
                </a:solidFill>
                <a:latin typeface="Avenir Next"/>
                <a:ea typeface="Avenir Next"/>
                <a:cs typeface="Avenir Next"/>
              </a:defRPr>
            </a:pPr>
            <a:r>
              <a:rPr sz="750" b="1">
                <a:solidFill>
                  <a:srgbClr val="0A2538"/>
                </a:solidFill>
                <a:latin typeface="Avenir Next"/>
                <a:ea typeface="Avenir Next"/>
                <a:cs typeface="Avenir Next"/>
              </a:rPr>
              <a:t>EVIDENCE</a:t>
            </a:r>
          </a:p>
        </p:txBody>
      </p:sp>
      <p:sp>
        <p:nvSpPr>
          <p:cNvPr id="45" name="">
            <a:extLst xmlns:a="http://schemas.openxmlformats.org/drawingml/2006/main">
              <a:ext uri="{FF2B5EF4-FFF2-40B4-BE49-F238E27FC236}">
                <a16:creationId xmlns:a16="http://schemas.microsoft.com/office/drawing/2014/main" id="{6CDF2249-E47E-4BD3-BA6B-5CC824AB4FE7}"/>
              </a:ext>
            </a:extLst>
          </p:cNvPr>
          <p:cNvSpPr>
            <a:spLocks xmlns:a="http://schemas.openxmlformats.org/drawingml/2006/main" noGrp="1"/>
          </p:cNvSpPr>
          <p:nvPr/>
        </p:nvSpPr>
        <p:spPr>
          <a:xfrm xmlns:a="http://schemas.openxmlformats.org/drawingml/2006/main">
            <a:off x="6019800" y="4610100"/>
            <a:ext cx="1104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0">
                <a:solidFill>
                  <a:srgbClr val="627781"/>
                </a:solidFill>
                <a:latin typeface="Avenir Next"/>
                <a:ea typeface="Avenir Next"/>
                <a:cs typeface="Avenir Next"/>
              </a:defRPr>
            </a:pPr>
            <a:r>
              <a:rPr sz="825" b="0">
                <a:solidFill>
                  <a:srgbClr val="627781"/>
                </a:solidFill>
                <a:latin typeface="Avenir Next"/>
                <a:ea typeface="Avenir Next"/>
                <a:cs typeface="Avenir Next"/>
              </a:rPr>
              <a:t>Grounded facts</a:t>
            </a:r>
          </a:p>
        </p:txBody>
      </p:sp>
      <p:sp>
        <p:nvSpPr>
          <p:cNvPr id="46" name="">
            <a:extLst xmlns:a="http://schemas.openxmlformats.org/drawingml/2006/main">
              <a:ext uri="{FF2B5EF4-FFF2-40B4-BE49-F238E27FC236}">
                <a16:creationId xmlns:a16="http://schemas.microsoft.com/office/drawing/2014/main" id="{FE5AB989-F58C-4EA0-9480-CD926AB7CF50}"/>
              </a:ext>
            </a:extLst>
          </p:cNvPr>
          <p:cNvSpPr>
            <a:spLocks xmlns:a="http://schemas.openxmlformats.org/drawingml/2006/main" noGrp="1"/>
          </p:cNvSpPr>
          <p:nvPr/>
        </p:nvSpPr>
        <p:spPr>
          <a:xfrm xmlns:a="http://schemas.openxmlformats.org/drawingml/2006/main">
            <a:off x="7315200" y="4343400"/>
            <a:ext cx="12573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7E6E3"/>
            </a:solidFill>
          </a:ln>
        </p:spPr>
      </p:sp>
      <p:sp>
        <p:nvSpPr>
          <p:cNvPr id="47" name="">
            <a:extLst xmlns:a="http://schemas.openxmlformats.org/drawingml/2006/main">
              <a:ext uri="{FF2B5EF4-FFF2-40B4-BE49-F238E27FC236}">
                <a16:creationId xmlns:a16="http://schemas.microsoft.com/office/drawing/2014/main" id="{BD0DF6FE-DA23-419D-8ABF-6F8F79DE6DD8}"/>
              </a:ext>
            </a:extLst>
          </p:cNvPr>
          <p:cNvSpPr>
            <a:spLocks xmlns:a="http://schemas.openxmlformats.org/drawingml/2006/main" noGrp="1"/>
          </p:cNvSpPr>
          <p:nvPr/>
        </p:nvSpPr>
        <p:spPr>
          <a:xfrm xmlns:a="http://schemas.openxmlformats.org/drawingml/2006/main">
            <a:off x="7391400" y="4419600"/>
            <a:ext cx="1104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2538"/>
                </a:solidFill>
                <a:latin typeface="Avenir Next"/>
                <a:ea typeface="Avenir Next"/>
                <a:cs typeface="Avenir Next"/>
              </a:defRPr>
            </a:pPr>
            <a:r>
              <a:rPr sz="750" b="1">
                <a:solidFill>
                  <a:srgbClr val="0A2538"/>
                </a:solidFill>
                <a:latin typeface="Avenir Next"/>
                <a:ea typeface="Avenir Next"/>
                <a:cs typeface="Avenir Next"/>
              </a:rPr>
              <a:t>COORDINATOR</a:t>
            </a:r>
          </a:p>
        </p:txBody>
      </p:sp>
      <p:sp>
        <p:nvSpPr>
          <p:cNvPr id="48" name="">
            <a:extLst xmlns:a="http://schemas.openxmlformats.org/drawingml/2006/main">
              <a:ext uri="{FF2B5EF4-FFF2-40B4-BE49-F238E27FC236}">
                <a16:creationId xmlns:a16="http://schemas.microsoft.com/office/drawing/2014/main" id="{8060E1FE-5174-4C11-B392-A487BC0A9FBF}"/>
              </a:ext>
            </a:extLst>
          </p:cNvPr>
          <p:cNvSpPr>
            <a:spLocks xmlns:a="http://schemas.openxmlformats.org/drawingml/2006/main" noGrp="1"/>
          </p:cNvSpPr>
          <p:nvPr/>
        </p:nvSpPr>
        <p:spPr>
          <a:xfrm xmlns:a="http://schemas.openxmlformats.org/drawingml/2006/main">
            <a:off x="7391400" y="4610100"/>
            <a:ext cx="1104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0">
                <a:solidFill>
                  <a:srgbClr val="627781"/>
                </a:solidFill>
                <a:latin typeface="Avenir Next"/>
                <a:ea typeface="Avenir Next"/>
                <a:cs typeface="Avenir Next"/>
              </a:defRPr>
            </a:pPr>
            <a:r>
              <a:rPr sz="825" b="0">
                <a:solidFill>
                  <a:srgbClr val="627781"/>
                </a:solidFill>
                <a:latin typeface="Avenir Next"/>
                <a:ea typeface="Avenir Next"/>
                <a:cs typeface="Avenir Next"/>
              </a:rPr>
              <a:t>Review questions</a:t>
            </a:r>
          </a:p>
        </p:txBody>
      </p:sp>
      <p:sp>
        <p:nvSpPr>
          <p:cNvPr id="49" name="">
            <a:extLst xmlns:a="http://schemas.openxmlformats.org/drawingml/2006/main">
              <a:ext uri="{FF2B5EF4-FFF2-40B4-BE49-F238E27FC236}">
                <a16:creationId xmlns:a16="http://schemas.microsoft.com/office/drawing/2014/main" id="{FF2857F3-3E23-4712-BFF1-104488AEFF69}"/>
              </a:ext>
            </a:extLst>
          </p:cNvPr>
          <p:cNvSpPr>
            <a:spLocks xmlns:a="http://schemas.openxmlformats.org/drawingml/2006/main" noGrp="1"/>
          </p:cNvSpPr>
          <p:nvPr/>
        </p:nvSpPr>
        <p:spPr>
          <a:xfrm xmlns:a="http://schemas.openxmlformats.org/drawingml/2006/main">
            <a:off x="8686800" y="4343400"/>
            <a:ext cx="12573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7E6E3"/>
            </a:solidFill>
          </a:ln>
        </p:spPr>
      </p:sp>
      <p:sp>
        <p:nvSpPr>
          <p:cNvPr id="50" name="">
            <a:extLst xmlns:a="http://schemas.openxmlformats.org/drawingml/2006/main">
              <a:ext uri="{FF2B5EF4-FFF2-40B4-BE49-F238E27FC236}">
                <a16:creationId xmlns:a16="http://schemas.microsoft.com/office/drawing/2014/main" id="{D68A28BF-4E48-40C6-825E-F057851CCDDE}"/>
              </a:ext>
            </a:extLst>
          </p:cNvPr>
          <p:cNvSpPr>
            <a:spLocks xmlns:a="http://schemas.openxmlformats.org/drawingml/2006/main" noGrp="1"/>
          </p:cNvSpPr>
          <p:nvPr/>
        </p:nvSpPr>
        <p:spPr>
          <a:xfrm xmlns:a="http://schemas.openxmlformats.org/drawingml/2006/main">
            <a:off x="8763000" y="4419600"/>
            <a:ext cx="1104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2538"/>
                </a:solidFill>
                <a:latin typeface="Avenir Next"/>
                <a:ea typeface="Avenir Next"/>
                <a:cs typeface="Avenir Next"/>
              </a:defRPr>
            </a:pPr>
            <a:r>
              <a:rPr sz="750" b="1">
                <a:solidFill>
                  <a:srgbClr val="0A2538"/>
                </a:solidFill>
                <a:latin typeface="Avenir Next"/>
                <a:ea typeface="Avenir Next"/>
                <a:cs typeface="Avenir Next"/>
              </a:rPr>
              <a:t>CHALLENGE</a:t>
            </a:r>
          </a:p>
        </p:txBody>
      </p:sp>
      <p:sp>
        <p:nvSpPr>
          <p:cNvPr id="51" name="">
            <a:extLst xmlns:a="http://schemas.openxmlformats.org/drawingml/2006/main">
              <a:ext uri="{FF2B5EF4-FFF2-40B4-BE49-F238E27FC236}">
                <a16:creationId xmlns:a16="http://schemas.microsoft.com/office/drawing/2014/main" id="{7F6A107B-46D3-411C-A3A4-0B56A2E37250}"/>
              </a:ext>
            </a:extLst>
          </p:cNvPr>
          <p:cNvSpPr>
            <a:spLocks xmlns:a="http://schemas.openxmlformats.org/drawingml/2006/main" noGrp="1"/>
          </p:cNvSpPr>
          <p:nvPr/>
        </p:nvSpPr>
        <p:spPr>
          <a:xfrm xmlns:a="http://schemas.openxmlformats.org/drawingml/2006/main">
            <a:off x="8763000" y="4610100"/>
            <a:ext cx="1104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0">
                <a:solidFill>
                  <a:srgbClr val="627781"/>
                </a:solidFill>
                <a:latin typeface="Avenir Next"/>
                <a:ea typeface="Avenir Next"/>
                <a:cs typeface="Avenir Next"/>
              </a:defRPr>
            </a:pPr>
            <a:r>
              <a:rPr sz="825" b="0">
                <a:solidFill>
                  <a:srgbClr val="627781"/>
                </a:solidFill>
                <a:latin typeface="Avenir Next"/>
                <a:ea typeface="Avenir Next"/>
                <a:cs typeface="Avenir Next"/>
              </a:rPr>
              <a:t>Adversarial review</a:t>
            </a:r>
          </a:p>
        </p:txBody>
      </p:sp>
      <p:sp>
        <p:nvSpPr>
          <p:cNvPr id="52" name="">
            <a:extLst xmlns:a="http://schemas.openxmlformats.org/drawingml/2006/main">
              <a:ext uri="{FF2B5EF4-FFF2-40B4-BE49-F238E27FC236}">
                <a16:creationId xmlns:a16="http://schemas.microsoft.com/office/drawing/2014/main" id="{8D2F746B-45E6-45C7-9963-775552F3171A}"/>
              </a:ext>
            </a:extLst>
          </p:cNvPr>
          <p:cNvSpPr>
            <a:spLocks xmlns:a="http://schemas.openxmlformats.org/drawingml/2006/main" noGrp="1"/>
          </p:cNvSpPr>
          <p:nvPr/>
        </p:nvSpPr>
        <p:spPr>
          <a:xfrm xmlns:a="http://schemas.openxmlformats.org/drawingml/2006/main">
            <a:off x="10058400" y="4343400"/>
            <a:ext cx="13335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7E6E3"/>
            </a:solidFill>
          </a:ln>
        </p:spPr>
      </p:sp>
      <p:sp>
        <p:nvSpPr>
          <p:cNvPr id="53" name="">
            <a:extLst xmlns:a="http://schemas.openxmlformats.org/drawingml/2006/main">
              <a:ext uri="{FF2B5EF4-FFF2-40B4-BE49-F238E27FC236}">
                <a16:creationId xmlns:a16="http://schemas.microsoft.com/office/drawing/2014/main" id="{BDFC170B-A41D-4B21-840E-744E7E8DFD60}"/>
              </a:ext>
            </a:extLst>
          </p:cNvPr>
          <p:cNvSpPr>
            <a:spLocks xmlns:a="http://schemas.openxmlformats.org/drawingml/2006/main" noGrp="1"/>
          </p:cNvSpPr>
          <p:nvPr/>
        </p:nvSpPr>
        <p:spPr>
          <a:xfrm xmlns:a="http://schemas.openxmlformats.org/drawingml/2006/main">
            <a:off x="10134600" y="4419600"/>
            <a:ext cx="1181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2538"/>
                </a:solidFill>
                <a:latin typeface="Avenir Next"/>
                <a:ea typeface="Avenir Next"/>
                <a:cs typeface="Avenir Next"/>
              </a:defRPr>
            </a:pPr>
            <a:r>
              <a:rPr sz="750" b="1">
                <a:solidFill>
                  <a:srgbClr val="0A2538"/>
                </a:solidFill>
                <a:latin typeface="Avenir Next"/>
                <a:ea typeface="Avenir Next"/>
                <a:cs typeface="Avenir Next"/>
              </a:rPr>
              <a:t>REPORT CHAT</a:t>
            </a:r>
          </a:p>
        </p:txBody>
      </p:sp>
      <p:sp>
        <p:nvSpPr>
          <p:cNvPr id="54" name="">
            <a:extLst xmlns:a="http://schemas.openxmlformats.org/drawingml/2006/main">
              <a:ext uri="{FF2B5EF4-FFF2-40B4-BE49-F238E27FC236}">
                <a16:creationId xmlns:a16="http://schemas.microsoft.com/office/drawing/2014/main" id="{9934ACC6-4CCD-4457-A70C-3133C3E3CBC1}"/>
              </a:ext>
            </a:extLst>
          </p:cNvPr>
          <p:cNvSpPr>
            <a:spLocks xmlns:a="http://schemas.openxmlformats.org/drawingml/2006/main" noGrp="1"/>
          </p:cNvSpPr>
          <p:nvPr/>
        </p:nvSpPr>
        <p:spPr>
          <a:xfrm xmlns:a="http://schemas.openxmlformats.org/drawingml/2006/main">
            <a:off x="10134600" y="4610100"/>
            <a:ext cx="1181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0">
                <a:solidFill>
                  <a:srgbClr val="627781"/>
                </a:solidFill>
                <a:latin typeface="Avenir Next"/>
                <a:ea typeface="Avenir Next"/>
                <a:cs typeface="Avenir Next"/>
              </a:defRPr>
            </a:pPr>
            <a:r>
              <a:rPr sz="825" b="0">
                <a:solidFill>
                  <a:srgbClr val="627781"/>
                </a:solidFill>
                <a:latin typeface="Avenir Next"/>
                <a:ea typeface="Avenir Next"/>
                <a:cs typeface="Avenir Next"/>
              </a:rPr>
              <a:t>Bounded answers</a:t>
            </a:r>
          </a:p>
        </p:txBody>
      </p:sp>
      <p:sp>
        <p:nvSpPr>
          <p:cNvPr id="55" name="">
            <a:extLst xmlns:a="http://schemas.openxmlformats.org/drawingml/2006/main">
              <a:ext uri="{FF2B5EF4-FFF2-40B4-BE49-F238E27FC236}">
                <a16:creationId xmlns:a16="http://schemas.microsoft.com/office/drawing/2014/main" id="{B485377C-E6F0-4B44-8CE0-4CAE0C0B04E7}"/>
              </a:ext>
            </a:extLst>
          </p:cNvPr>
          <p:cNvSpPr>
            <a:spLocks xmlns:a="http://schemas.openxmlformats.org/drawingml/2006/main" noGrp="1"/>
          </p:cNvSpPr>
          <p:nvPr/>
        </p:nvSpPr>
        <p:spPr>
          <a:xfrm xmlns:a="http://schemas.openxmlformats.org/drawingml/2006/main">
            <a:off x="609600" y="5305425"/>
            <a:ext cx="5219700" cy="800100"/>
          </a:xfrm>
          <a:prstGeom xmlns:a="http://schemas.openxmlformats.org/drawingml/2006/main" prst="roundRect">
            <a:avLst>
              <a:gd name="adj" fmla="val 9524"/>
            </a:avLst>
          </a:prstGeom>
          <a:solidFill xmlns:a="http://schemas.openxmlformats.org/drawingml/2006/main">
            <a:srgbClr val="EAF7F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E9055AB-2B9A-4958-B6EF-C6989A814945}"/>
              </a:ext>
            </a:extLst>
          </p:cNvPr>
          <p:cNvSpPr>
            <a:spLocks xmlns:a="http://schemas.openxmlformats.org/drawingml/2006/main" noGrp="1"/>
          </p:cNvSpPr>
          <p:nvPr/>
        </p:nvSpPr>
        <p:spPr>
          <a:xfrm xmlns:a="http://schemas.openxmlformats.org/drawingml/2006/main">
            <a:off x="819150" y="5457825"/>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0A8A88"/>
                </a:solidFill>
                <a:latin typeface="Avenir Next"/>
                <a:ea typeface="Avenir Next"/>
                <a:cs typeface="Avenir Next"/>
              </a:defRPr>
            </a:pPr>
            <a:r>
              <a:rPr sz="825" b="1">
                <a:solidFill>
                  <a:srgbClr val="0A8A88"/>
                </a:solidFill>
                <a:latin typeface="Avenir Next"/>
                <a:ea typeface="Avenir Next"/>
                <a:cs typeface="Avenir Next"/>
              </a:rPr>
              <a:t>AWS SESSION / IAM ROLE</a:t>
            </a:r>
          </a:p>
        </p:txBody>
      </p:sp>
      <p:sp>
        <p:nvSpPr>
          <p:cNvPr id="57" name="">
            <a:extLst xmlns:a="http://schemas.openxmlformats.org/drawingml/2006/main">
              <a:ext uri="{FF2B5EF4-FFF2-40B4-BE49-F238E27FC236}">
                <a16:creationId xmlns:a16="http://schemas.microsoft.com/office/drawing/2014/main" id="{387579E9-47AE-42C6-AA95-E2A00BA15D7F}"/>
              </a:ext>
            </a:extLst>
          </p:cNvPr>
          <p:cNvSpPr>
            <a:spLocks xmlns:a="http://schemas.openxmlformats.org/drawingml/2006/main" noGrp="1"/>
          </p:cNvSpPr>
          <p:nvPr/>
        </p:nvSpPr>
        <p:spPr>
          <a:xfrm xmlns:a="http://schemas.openxmlformats.org/drawingml/2006/main">
            <a:off x="819150" y="5695950"/>
            <a:ext cx="466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A2538"/>
                </a:solidFill>
                <a:latin typeface="Avenir Next"/>
                <a:ea typeface="Avenir Next"/>
                <a:cs typeface="Avenir Next"/>
              </a:defRPr>
            </a:pPr>
            <a:r>
              <a:rPr sz="1500" b="1">
                <a:solidFill>
                  <a:srgbClr val="0A2538"/>
                </a:solidFill>
                <a:latin typeface="Avenir Next"/>
                <a:ea typeface="Avenir Next"/>
                <a:cs typeface="Avenir Next"/>
              </a:rPr>
              <a:t>No embedded credentials</a:t>
            </a:r>
          </a:p>
        </p:txBody>
      </p:sp>
      <p:sp>
        <p:nvSpPr>
          <p:cNvPr id="58" name="">
            <a:extLst xmlns:a="http://schemas.openxmlformats.org/drawingml/2006/main">
              <a:ext uri="{FF2B5EF4-FFF2-40B4-BE49-F238E27FC236}">
                <a16:creationId xmlns:a16="http://schemas.microsoft.com/office/drawing/2014/main" id="{161EBD3F-B72B-47CC-B81E-474A97498CE9}"/>
              </a:ext>
            </a:extLst>
          </p:cNvPr>
          <p:cNvSpPr>
            <a:spLocks xmlns:a="http://schemas.openxmlformats.org/drawingml/2006/main" noGrp="1"/>
          </p:cNvSpPr>
          <p:nvPr/>
        </p:nvSpPr>
        <p:spPr>
          <a:xfrm xmlns:a="http://schemas.openxmlformats.org/drawingml/2006/main">
            <a:off x="5981700" y="5305425"/>
            <a:ext cx="5600700" cy="800100"/>
          </a:xfrm>
          <a:prstGeom xmlns:a="http://schemas.openxmlformats.org/drawingml/2006/main" prst="roundRect">
            <a:avLst>
              <a:gd name="adj" fmla="val 9524"/>
            </a:avLst>
          </a:prstGeom>
          <a:solidFill xmlns:a="http://schemas.openxmlformats.org/drawingml/2006/main">
            <a:srgbClr val="EEF4F3"/>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6C4327AC-9EAB-4A98-AB66-C2D0E54C81FF}"/>
              </a:ext>
            </a:extLst>
          </p:cNvPr>
          <p:cNvSpPr>
            <a:spLocks xmlns:a="http://schemas.openxmlformats.org/drawingml/2006/main" noGrp="1"/>
          </p:cNvSpPr>
          <p:nvPr/>
        </p:nvSpPr>
        <p:spPr>
          <a:xfrm xmlns:a="http://schemas.openxmlformats.org/drawingml/2006/main">
            <a:off x="6191250" y="54578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0A8A88"/>
                </a:solidFill>
                <a:latin typeface="Avenir Next"/>
                <a:ea typeface="Avenir Next"/>
                <a:cs typeface="Avenir Next"/>
              </a:defRPr>
            </a:pPr>
            <a:r>
              <a:rPr sz="825" b="1">
                <a:solidFill>
                  <a:srgbClr val="0A8A88"/>
                </a:solidFill>
                <a:latin typeface="Avenir Next"/>
                <a:ea typeface="Avenir Next"/>
                <a:cs typeface="Avenir Next"/>
              </a:rPr>
              <a:t>CLOUDWATCH METADATA-ONLY LOGS</a:t>
            </a:r>
          </a:p>
        </p:txBody>
      </p:sp>
      <p:sp>
        <p:nvSpPr>
          <p:cNvPr id="60" name="">
            <a:extLst xmlns:a="http://schemas.openxmlformats.org/drawingml/2006/main">
              <a:ext uri="{FF2B5EF4-FFF2-40B4-BE49-F238E27FC236}">
                <a16:creationId xmlns:a16="http://schemas.microsoft.com/office/drawing/2014/main" id="{7CEA024E-DAB0-4AC3-B2CB-C246D55DEC58}"/>
              </a:ext>
            </a:extLst>
          </p:cNvPr>
          <p:cNvSpPr>
            <a:spLocks xmlns:a="http://schemas.openxmlformats.org/drawingml/2006/main" noGrp="1"/>
          </p:cNvSpPr>
          <p:nvPr/>
        </p:nvSpPr>
        <p:spPr>
          <a:xfrm xmlns:a="http://schemas.openxmlformats.org/drawingml/2006/main">
            <a:off x="6191250" y="56959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Run ID, latency, token counts, and gate status only</a:t>
            </a:r>
          </a:p>
        </p:txBody>
      </p:sp>
      <p:sp>
        <p:nvSpPr>
          <p:cNvPr id="61" name="">
            <a:extLst xmlns:a="http://schemas.openxmlformats.org/drawingml/2006/main">
              <a:ext uri="{FF2B5EF4-FFF2-40B4-BE49-F238E27FC236}">
                <a16:creationId xmlns:a16="http://schemas.microsoft.com/office/drawing/2014/main" id="{B7EAE966-5906-459C-AC31-394AF0BC645B}"/>
              </a:ext>
            </a:extLst>
          </p:cNvPr>
          <p:cNvSpPr>
            <a:spLocks xmlns:a="http://schemas.openxmlformats.org/drawingml/2006/main" noGrp="1"/>
          </p:cNvSpPr>
          <p:nvPr/>
        </p:nvSpPr>
        <p:spPr>
          <a:xfrm xmlns:a="http://schemas.openxmlformats.org/drawingml/2006/main">
            <a:off x="609600" y="64389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TRIALGUARD  ·  PRESENTATION DECK</a:t>
            </a:r>
          </a:p>
        </p:txBody>
      </p:sp>
      <p:sp>
        <p:nvSpPr>
          <p:cNvPr id="62" name="">
            <a:extLst xmlns:a="http://schemas.openxmlformats.org/drawingml/2006/main">
              <a:ext uri="{FF2B5EF4-FFF2-40B4-BE49-F238E27FC236}">
                <a16:creationId xmlns:a16="http://schemas.microsoft.com/office/drawing/2014/main" id="{56A08911-D35C-4311-8882-AAB4E7546243}"/>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04</a:t>
            </a:r>
          </a:p>
        </p:txBody>
      </p:sp>
    </p:spTree>
    <p:extLst>
      <p:ext uri="{BB962C8B-B14F-4D97-AF65-F5344CB8AC3E}">
        <p14:creationId xmlns:p14="http://schemas.microsoft.com/office/powerpoint/2010/main" val="10222123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E68F4FE-0408-42FC-8095-796AF307A109}"/>
              </a:ext>
            </a:extLst>
          </p:cNvPr>
          <p:cNvSpPr>
            <a:spLocks xmlns:a="http://schemas.openxmlformats.org/drawingml/2006/main" noGrp="1"/>
          </p:cNvSpPr>
          <p:nvPr/>
        </p:nvSpPr>
        <p:spPr>
          <a:xfrm xmlns:a="http://schemas.openxmlformats.org/drawingml/2006/main">
            <a:off x="609600" y="466725"/>
            <a:ext cx="514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A8A88"/>
                </a:solidFill>
                <a:latin typeface="Avenir Next"/>
                <a:ea typeface="Avenir Next"/>
                <a:cs typeface="Avenir Next"/>
              </a:defRPr>
            </a:pPr>
            <a:r>
              <a:rPr sz="1275" b="1">
                <a:solidFill>
                  <a:srgbClr val="0A8A88"/>
                </a:solidFill>
                <a:latin typeface="Avenir Next"/>
                <a:ea typeface="Avenir Next"/>
                <a:cs typeface="Avenir Next"/>
              </a:rPr>
              <a:t>05</a:t>
            </a:r>
          </a:p>
        </p:txBody>
      </p:sp>
      <p:sp>
        <p:nvSpPr>
          <p:cNvPr id="2" name="">
            <a:extLst xmlns:a="http://schemas.openxmlformats.org/drawingml/2006/main">
              <a:ext uri="{FF2B5EF4-FFF2-40B4-BE49-F238E27FC236}">
                <a16:creationId xmlns:a16="http://schemas.microsoft.com/office/drawing/2014/main" id="{9A386C32-C7D4-4090-BD3E-10CCA75C4369}"/>
              </a:ext>
            </a:extLst>
          </p:cNvPr>
          <p:cNvSpPr>
            <a:spLocks xmlns:a="http://schemas.openxmlformats.org/drawingml/2006/main" noGrp="1"/>
          </p:cNvSpPr>
          <p:nvPr/>
        </p:nvSpPr>
        <p:spPr>
          <a:xfrm xmlns:a="http://schemas.openxmlformats.org/drawingml/2006/main">
            <a:off x="609600" y="7524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0A2538"/>
                </a:solidFill>
                <a:latin typeface="Avenir Next"/>
                <a:ea typeface="Avenir Next"/>
                <a:cs typeface="Avenir Next"/>
              </a:defRPr>
            </a:pPr>
            <a:r>
              <a:rPr sz="3450" b="1">
                <a:solidFill>
                  <a:srgbClr val="0A2538"/>
                </a:solidFill>
                <a:latin typeface="Avenir Next"/>
                <a:ea typeface="Avenir Next"/>
                <a:cs typeface="Avenir Next"/>
              </a:rPr>
              <a:t>Verified build</a:t>
            </a:r>
          </a:p>
        </p:txBody>
      </p:sp>
      <p:sp>
        <p:nvSpPr>
          <p:cNvPr id="3" name="">
            <a:extLst xmlns:a="http://schemas.openxmlformats.org/drawingml/2006/main">
              <a:ext uri="{FF2B5EF4-FFF2-40B4-BE49-F238E27FC236}">
                <a16:creationId xmlns:a16="http://schemas.microsoft.com/office/drawing/2014/main" id="{034653E8-F53E-4A14-A97B-0804E695EFD8}"/>
              </a:ext>
            </a:extLst>
          </p:cNvPr>
          <p:cNvSpPr>
            <a:spLocks xmlns:a="http://schemas.openxmlformats.org/drawingml/2006/main" noGrp="1"/>
          </p:cNvSpPr>
          <p:nvPr/>
        </p:nvSpPr>
        <p:spPr>
          <a:xfrm xmlns:a="http://schemas.openxmlformats.org/drawingml/2006/main">
            <a:off x="628650" y="13144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Tests, fixed evaluations, live Bedrock, grounded chat, and observable traces</a:t>
            </a:r>
          </a:p>
        </p:txBody>
      </p:sp>
      <p:sp>
        <p:nvSpPr>
          <p:cNvPr id="4" name="">
            <a:extLst xmlns:a="http://schemas.openxmlformats.org/drawingml/2006/main">
              <a:ext uri="{FF2B5EF4-FFF2-40B4-BE49-F238E27FC236}">
                <a16:creationId xmlns:a16="http://schemas.microsoft.com/office/drawing/2014/main" id="{C6C92E5A-B222-4087-8EC8-BC70DA406BDD}"/>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5" name="">
            <a:extLst xmlns:a="http://schemas.openxmlformats.org/drawingml/2006/main">
              <a:ext uri="{FF2B5EF4-FFF2-40B4-BE49-F238E27FC236}">
                <a16:creationId xmlns:a16="http://schemas.microsoft.com/office/drawing/2014/main" id="{145488D2-E69D-482D-B493-F0CFC2232979}"/>
              </a:ext>
            </a:extLst>
          </p:cNvPr>
          <p:cNvSpPr>
            <a:spLocks xmlns:a="http://schemas.openxmlformats.org/drawingml/2006/main" noGrp="1"/>
          </p:cNvSpPr>
          <p:nvPr/>
        </p:nvSpPr>
        <p:spPr>
          <a:xfrm xmlns:a="http://schemas.openxmlformats.org/drawingml/2006/main">
            <a:off x="628650" y="21145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0A8A88"/>
                </a:solidFill>
                <a:latin typeface="Avenir Next"/>
                <a:ea typeface="Avenir Next"/>
                <a:cs typeface="Avenir Next"/>
              </a:defRPr>
            </a:pPr>
            <a:r>
              <a:rPr sz="1050" b="1">
                <a:solidFill>
                  <a:srgbClr val="0A8A88"/>
                </a:solidFill>
                <a:latin typeface="Avenir Next"/>
                <a:ea typeface="Avenir Next"/>
                <a:cs typeface="Avenir Next"/>
              </a:rPr>
              <a:t>AUTOMATED VALIDATION</a:t>
            </a:r>
          </a:p>
        </p:txBody>
      </p:sp>
      <p:sp>
        <p:nvSpPr>
          <p:cNvPr id="6" name="">
            <a:extLst xmlns:a="http://schemas.openxmlformats.org/drawingml/2006/main">
              <a:ext uri="{FF2B5EF4-FFF2-40B4-BE49-F238E27FC236}">
                <a16:creationId xmlns:a16="http://schemas.microsoft.com/office/drawing/2014/main" id="{7B57CE5C-84B9-4EAA-A55B-CFFE5FB8F245}"/>
              </a:ext>
            </a:extLst>
          </p:cNvPr>
          <p:cNvSpPr>
            <a:spLocks xmlns:a="http://schemas.openxmlformats.org/drawingml/2006/main" noGrp="1"/>
          </p:cNvSpPr>
          <p:nvPr/>
        </p:nvSpPr>
        <p:spPr>
          <a:xfrm xmlns:a="http://schemas.openxmlformats.org/drawingml/2006/main">
            <a:off x="609600" y="24574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650" b="1">
                <a:solidFill>
                  <a:srgbClr val="0A2538"/>
                </a:solidFill>
                <a:latin typeface="Avenir Next"/>
                <a:ea typeface="Avenir Next"/>
                <a:cs typeface="Avenir Next"/>
              </a:defRPr>
            </a:pPr>
            <a:r>
              <a:rPr sz="4650" b="1">
                <a:solidFill>
                  <a:srgbClr val="0A2538"/>
                </a:solidFill>
                <a:latin typeface="Avenir Next"/>
                <a:ea typeface="Avenir Next"/>
                <a:cs typeface="Avenir Next"/>
              </a:rPr>
              <a:t>80/80</a:t>
            </a:r>
          </a:p>
        </p:txBody>
      </p:sp>
      <p:sp>
        <p:nvSpPr>
          <p:cNvPr id="7" name="">
            <a:extLst xmlns:a="http://schemas.openxmlformats.org/drawingml/2006/main">
              <a:ext uri="{FF2B5EF4-FFF2-40B4-BE49-F238E27FC236}">
                <a16:creationId xmlns:a16="http://schemas.microsoft.com/office/drawing/2014/main" id="{0E90304B-65B0-4B47-97B5-C98F1493103F}"/>
              </a:ext>
            </a:extLst>
          </p:cNvPr>
          <p:cNvSpPr>
            <a:spLocks xmlns:a="http://schemas.openxmlformats.org/drawingml/2006/main" noGrp="1"/>
          </p:cNvSpPr>
          <p:nvPr/>
        </p:nvSpPr>
        <p:spPr>
          <a:xfrm xmlns:a="http://schemas.openxmlformats.org/drawingml/2006/main">
            <a:off x="628650" y="311467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tests pass</a:t>
            </a:r>
          </a:p>
        </p:txBody>
      </p:sp>
      <p:sp>
        <p:nvSpPr>
          <p:cNvPr id="8" name="">
            <a:extLst xmlns:a="http://schemas.openxmlformats.org/drawingml/2006/main">
              <a:ext uri="{FF2B5EF4-FFF2-40B4-BE49-F238E27FC236}">
                <a16:creationId xmlns:a16="http://schemas.microsoft.com/office/drawing/2014/main" id="{3CFFA673-D0CC-40E4-A23E-F56C1DB5B0CF}"/>
              </a:ext>
            </a:extLst>
          </p:cNvPr>
          <p:cNvSpPr>
            <a:spLocks xmlns:a="http://schemas.openxmlformats.org/drawingml/2006/main" noGrp="1"/>
          </p:cNvSpPr>
          <p:nvPr/>
        </p:nvSpPr>
        <p:spPr>
          <a:xfrm xmlns:a="http://schemas.openxmlformats.org/drawingml/2006/main">
            <a:off x="609600" y="3600450"/>
            <a:ext cx="40005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9" name="">
            <a:extLst xmlns:a="http://schemas.openxmlformats.org/drawingml/2006/main">
              <a:ext uri="{FF2B5EF4-FFF2-40B4-BE49-F238E27FC236}">
                <a16:creationId xmlns:a16="http://schemas.microsoft.com/office/drawing/2014/main" id="{8A83412A-B4FC-4E73-A0BC-2A486A36C452}"/>
              </a:ext>
            </a:extLst>
          </p:cNvPr>
          <p:cNvSpPr>
            <a:spLocks xmlns:a="http://schemas.openxmlformats.org/drawingml/2006/main" noGrp="1"/>
          </p:cNvSpPr>
          <p:nvPr/>
        </p:nvSpPr>
        <p:spPr>
          <a:xfrm xmlns:a="http://schemas.openxmlformats.org/drawingml/2006/main">
            <a:off x="609600" y="3829050"/>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650" b="1">
                <a:solidFill>
                  <a:srgbClr val="0A2538"/>
                </a:solidFill>
                <a:latin typeface="Avenir Next"/>
                <a:ea typeface="Avenir Next"/>
                <a:cs typeface="Avenir Next"/>
              </a:defRPr>
            </a:pPr>
            <a:r>
              <a:rPr sz="4650" b="1">
                <a:solidFill>
                  <a:srgbClr val="0A2538"/>
                </a:solidFill>
                <a:latin typeface="Avenir Next"/>
                <a:ea typeface="Avenir Next"/>
                <a:cs typeface="Avenir Next"/>
              </a:rPr>
              <a:t>7/7</a:t>
            </a:r>
          </a:p>
        </p:txBody>
      </p:sp>
      <p:sp>
        <p:nvSpPr>
          <p:cNvPr id="10" name="">
            <a:extLst xmlns:a="http://schemas.openxmlformats.org/drawingml/2006/main">
              <a:ext uri="{FF2B5EF4-FFF2-40B4-BE49-F238E27FC236}">
                <a16:creationId xmlns:a16="http://schemas.microsoft.com/office/drawing/2014/main" id="{817231CA-4834-4483-AB8F-3AC53ECAA78F}"/>
              </a:ext>
            </a:extLst>
          </p:cNvPr>
          <p:cNvSpPr>
            <a:spLocks xmlns:a="http://schemas.openxmlformats.org/drawingml/2006/main" noGrp="1"/>
          </p:cNvSpPr>
          <p:nvPr/>
        </p:nvSpPr>
        <p:spPr>
          <a:xfrm xmlns:a="http://schemas.openxmlformats.org/drawingml/2006/main">
            <a:off x="628650" y="4495800"/>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synthetic offline evaluation behaviors matched</a:t>
            </a:r>
          </a:p>
        </p:txBody>
      </p:sp>
      <p:sp>
        <p:nvSpPr>
          <p:cNvPr id="11" name="">
            <a:extLst xmlns:a="http://schemas.openxmlformats.org/drawingml/2006/main">
              <a:ext uri="{FF2B5EF4-FFF2-40B4-BE49-F238E27FC236}">
                <a16:creationId xmlns:a16="http://schemas.microsoft.com/office/drawing/2014/main" id="{94E07B81-DD97-46DA-8E8D-6F043C6592C1}"/>
              </a:ext>
            </a:extLst>
          </p:cNvPr>
          <p:cNvSpPr>
            <a:spLocks xmlns:a="http://schemas.openxmlformats.org/drawingml/2006/main" noGrp="1"/>
          </p:cNvSpPr>
          <p:nvPr/>
        </p:nvSpPr>
        <p:spPr>
          <a:xfrm xmlns:a="http://schemas.openxmlformats.org/drawingml/2006/main">
            <a:off x="628650" y="5257800"/>
            <a:ext cx="3857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27781"/>
                </a:solidFill>
                <a:latin typeface="Avenir Next"/>
                <a:ea typeface="Avenir Next"/>
                <a:cs typeface="Avenir Next"/>
              </a:defRPr>
            </a:pPr>
            <a:r>
              <a:rPr sz="1200" b="0">
                <a:solidFill>
                  <a:srgbClr val="627781"/>
                </a:solidFill>
                <a:latin typeface="Avenir Next"/>
                <a:ea typeface="Avenir Next"/>
                <a:cs typeface="Avenir Next"/>
              </a:rPr>
              <a:t>Cases cover invalid IDs, sparse evidence, prompt injection, fabricated citations, and numeric mismatches.</a:t>
            </a:r>
          </a:p>
        </p:txBody>
      </p:sp>
      <p:sp>
        <p:nvSpPr>
          <p:cNvPr id="12" name="">
            <a:extLst xmlns:a="http://schemas.openxmlformats.org/drawingml/2006/main">
              <a:ext uri="{FF2B5EF4-FFF2-40B4-BE49-F238E27FC236}">
                <a16:creationId xmlns:a16="http://schemas.microsoft.com/office/drawing/2014/main" id="{927F2677-7726-4E9A-B844-6F0F2D6CEE83}"/>
              </a:ext>
            </a:extLst>
          </p:cNvPr>
          <p:cNvSpPr>
            <a:spLocks xmlns:a="http://schemas.openxmlformats.org/drawingml/2006/main" noGrp="1"/>
          </p:cNvSpPr>
          <p:nvPr/>
        </p:nvSpPr>
        <p:spPr>
          <a:xfrm xmlns:a="http://schemas.openxmlformats.org/drawingml/2006/main">
            <a:off x="5010150" y="2057400"/>
            <a:ext cx="0" cy="400050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13" name="">
            <a:extLst xmlns:a="http://schemas.openxmlformats.org/drawingml/2006/main">
              <a:ext uri="{FF2B5EF4-FFF2-40B4-BE49-F238E27FC236}">
                <a16:creationId xmlns:a16="http://schemas.microsoft.com/office/drawing/2014/main" id="{EB4087D3-0386-4E90-8BD7-B907E4987C52}"/>
              </a:ext>
            </a:extLst>
          </p:cNvPr>
          <p:cNvSpPr>
            <a:spLocks xmlns:a="http://schemas.openxmlformats.org/drawingml/2006/main" noGrp="1"/>
          </p:cNvSpPr>
          <p:nvPr/>
        </p:nvSpPr>
        <p:spPr>
          <a:xfrm xmlns:a="http://schemas.openxmlformats.org/drawingml/2006/main">
            <a:off x="5486400" y="2114550"/>
            <a:ext cx="561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E56B52"/>
                </a:solidFill>
                <a:latin typeface="Avenir Next"/>
                <a:ea typeface="Avenir Next"/>
                <a:cs typeface="Avenir Next"/>
              </a:defRPr>
            </a:pPr>
            <a:r>
              <a:rPr sz="1050" b="1">
                <a:solidFill>
                  <a:srgbClr val="E56B52"/>
                </a:solidFill>
                <a:latin typeface="Avenir Next"/>
                <a:ea typeface="Avenir Next"/>
                <a:cs typeface="Avenir Next"/>
              </a:rPr>
              <a:t>LIVE BEDROCK VALIDATION  ·  ONE SAMPLE</a:t>
            </a:r>
          </a:p>
        </p:txBody>
      </p:sp>
      <p:sp>
        <p:nvSpPr>
          <p:cNvPr id="14" name="">
            <a:extLst xmlns:a="http://schemas.openxmlformats.org/drawingml/2006/main">
              <a:ext uri="{FF2B5EF4-FFF2-40B4-BE49-F238E27FC236}">
                <a16:creationId xmlns:a16="http://schemas.microsoft.com/office/drawing/2014/main" id="{CB1BED01-C121-42A9-86A8-46E191EA8245}"/>
              </a:ext>
            </a:extLst>
          </p:cNvPr>
          <p:cNvSpPr>
            <a:spLocks xmlns:a="http://schemas.openxmlformats.org/drawingml/2006/main" noGrp="1"/>
          </p:cNvSpPr>
          <p:nvPr/>
        </p:nvSpPr>
        <p:spPr>
          <a:xfrm xmlns:a="http://schemas.openxmlformats.org/drawingml/2006/main">
            <a:off x="5486400" y="247650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A8A88"/>
                </a:solidFill>
                <a:latin typeface="Avenir Next"/>
                <a:ea typeface="Avenir Next"/>
                <a:cs typeface="Avenir Next"/>
              </a:defRPr>
            </a:pPr>
            <a:r>
              <a:rPr sz="1425" b="1">
                <a:solidFill>
                  <a:srgbClr val="0A8A88"/>
                </a:solidFill>
                <a:latin typeface="Avenir Next"/>
                <a:ea typeface="Avenir Next"/>
                <a:cs typeface="Avenir Next"/>
              </a:rPr>
              <a:t>NCT06513364</a:t>
            </a:r>
          </a:p>
        </p:txBody>
      </p:sp>
      <p:sp>
        <p:nvSpPr>
          <p:cNvPr id="15" name="">
            <a:extLst xmlns:a="http://schemas.openxmlformats.org/drawingml/2006/main">
              <a:ext uri="{FF2B5EF4-FFF2-40B4-BE49-F238E27FC236}">
                <a16:creationId xmlns:a16="http://schemas.microsoft.com/office/drawing/2014/main" id="{9C924018-B9F4-4673-AC17-E8E8D65F459E}"/>
              </a:ext>
            </a:extLst>
          </p:cNvPr>
          <p:cNvSpPr>
            <a:spLocks xmlns:a="http://schemas.openxmlformats.org/drawingml/2006/main" noGrp="1"/>
          </p:cNvSpPr>
          <p:nvPr/>
        </p:nvSpPr>
        <p:spPr>
          <a:xfrm xmlns:a="http://schemas.openxmlformats.org/drawingml/2006/main">
            <a:off x="5486400" y="28575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0A2538"/>
                </a:solidFill>
                <a:latin typeface="Avenir Next"/>
                <a:ea typeface="Avenir Next"/>
                <a:cs typeface="Avenir Next"/>
              </a:defRPr>
            </a:pPr>
            <a:r>
              <a:rPr sz="2850" b="1">
                <a:solidFill>
                  <a:srgbClr val="0A2538"/>
                </a:solidFill>
                <a:latin typeface="Avenir Next"/>
                <a:ea typeface="Avenir Next"/>
                <a:cs typeface="Avenir Next"/>
              </a:rPr>
              <a:t>Full release</a:t>
            </a:r>
          </a:p>
        </p:txBody>
      </p:sp>
      <p:sp>
        <p:nvSpPr>
          <p:cNvPr id="16" name="">
            <a:extLst xmlns:a="http://schemas.openxmlformats.org/drawingml/2006/main">
              <a:ext uri="{FF2B5EF4-FFF2-40B4-BE49-F238E27FC236}">
                <a16:creationId xmlns:a16="http://schemas.microsoft.com/office/drawing/2014/main" id="{70A45344-5DF0-48CF-BF48-6D90DE6CC544}"/>
              </a:ext>
            </a:extLst>
          </p:cNvPr>
          <p:cNvSpPr>
            <a:spLocks xmlns:a="http://schemas.openxmlformats.org/drawingml/2006/main" noGrp="1"/>
          </p:cNvSpPr>
          <p:nvPr/>
        </p:nvSpPr>
        <p:spPr>
          <a:xfrm xmlns:a="http://schemas.openxmlformats.org/drawingml/2006/main">
            <a:off x="8458200" y="2962275"/>
            <a:ext cx="2828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a:solidFill>
                  <a:srgbClr val="0A8A88"/>
                </a:solidFill>
                <a:latin typeface="Avenir Next"/>
                <a:ea typeface="Avenir Next"/>
                <a:cs typeface="Avenir Next"/>
              </a:defRPr>
            </a:pPr>
            <a:r>
              <a:rPr sz="1425" b="1">
                <a:solidFill>
                  <a:srgbClr val="0A8A88"/>
                </a:solidFill>
                <a:latin typeface="Avenir Next"/>
                <a:ea typeface="Avenir Next"/>
                <a:cs typeface="Avenir Next"/>
              </a:rPr>
              <a:t>Grounded chat passed</a:t>
            </a:r>
          </a:p>
        </p:txBody>
      </p:sp>
      <p:sp>
        <p:nvSpPr>
          <p:cNvPr id="17" name="">
            <a:extLst xmlns:a="http://schemas.openxmlformats.org/drawingml/2006/main">
              <a:ext uri="{FF2B5EF4-FFF2-40B4-BE49-F238E27FC236}">
                <a16:creationId xmlns:a16="http://schemas.microsoft.com/office/drawing/2014/main" id="{3144B781-EB09-4C6A-A833-AD152D017614}"/>
              </a:ext>
            </a:extLst>
          </p:cNvPr>
          <p:cNvSpPr>
            <a:spLocks xmlns:a="http://schemas.openxmlformats.org/drawingml/2006/main" noGrp="1"/>
          </p:cNvSpPr>
          <p:nvPr/>
        </p:nvSpPr>
        <p:spPr>
          <a:xfrm xmlns:a="http://schemas.openxmlformats.org/drawingml/2006/main">
            <a:off x="5486400" y="3476625"/>
            <a:ext cx="581025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18" name="">
            <a:extLst xmlns:a="http://schemas.openxmlformats.org/drawingml/2006/main">
              <a:ext uri="{FF2B5EF4-FFF2-40B4-BE49-F238E27FC236}">
                <a16:creationId xmlns:a16="http://schemas.microsoft.com/office/drawing/2014/main" id="{C096FC75-DBB6-49B9-9C49-52370F2674AB}"/>
              </a:ext>
            </a:extLst>
          </p:cNvPr>
          <p:cNvSpPr>
            <a:spLocks xmlns:a="http://schemas.openxmlformats.org/drawingml/2006/main" noGrp="1"/>
          </p:cNvSpPr>
          <p:nvPr/>
        </p:nvSpPr>
        <p:spPr>
          <a:xfrm xmlns:a="http://schemas.openxmlformats.org/drawingml/2006/main">
            <a:off x="5486400" y="3743325"/>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A2538"/>
                </a:solidFill>
                <a:latin typeface="Avenir Next"/>
                <a:ea typeface="Avenir Next"/>
                <a:cs typeface="Avenir Next"/>
              </a:defRPr>
            </a:pPr>
            <a:r>
              <a:rPr sz="2025" b="1">
                <a:solidFill>
                  <a:srgbClr val="0A2538"/>
                </a:solidFill>
                <a:latin typeface="Avenir Next"/>
                <a:ea typeface="Avenir Next"/>
                <a:cs typeface="Avenir Next"/>
              </a:rPr>
              <a:t>3</a:t>
            </a:r>
          </a:p>
        </p:txBody>
      </p:sp>
      <p:sp>
        <p:nvSpPr>
          <p:cNvPr id="19" name="">
            <a:extLst xmlns:a="http://schemas.openxmlformats.org/drawingml/2006/main">
              <a:ext uri="{FF2B5EF4-FFF2-40B4-BE49-F238E27FC236}">
                <a16:creationId xmlns:a16="http://schemas.microsoft.com/office/drawing/2014/main" id="{970A7A0D-BCE3-468E-B314-64DD6293978B}"/>
              </a:ext>
            </a:extLst>
          </p:cNvPr>
          <p:cNvSpPr>
            <a:spLocks xmlns:a="http://schemas.openxmlformats.org/drawingml/2006/main" noGrp="1"/>
          </p:cNvSpPr>
          <p:nvPr/>
        </p:nvSpPr>
        <p:spPr>
          <a:xfrm xmlns:a="http://schemas.openxmlformats.org/drawingml/2006/main">
            <a:off x="5486400" y="41529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627781"/>
                </a:solidFill>
                <a:latin typeface="Avenir Next"/>
                <a:ea typeface="Avenir Next"/>
                <a:cs typeface="Avenir Next"/>
              </a:defRPr>
            </a:pPr>
            <a:r>
              <a:rPr sz="750" b="1">
                <a:solidFill>
                  <a:srgbClr val="627781"/>
                </a:solidFill>
                <a:latin typeface="Avenir Next"/>
                <a:ea typeface="Avenir Next"/>
                <a:cs typeface="Avenir Next"/>
              </a:rPr>
              <a:t>REPORT CALLS</a:t>
            </a:r>
          </a:p>
        </p:txBody>
      </p:sp>
      <p:sp>
        <p:nvSpPr>
          <p:cNvPr id="20" name="">
            <a:extLst xmlns:a="http://schemas.openxmlformats.org/drawingml/2006/main">
              <a:ext uri="{FF2B5EF4-FFF2-40B4-BE49-F238E27FC236}">
                <a16:creationId xmlns:a16="http://schemas.microsoft.com/office/drawing/2014/main" id="{67BCEEC4-F439-49AB-ACCE-14C48902F315}"/>
              </a:ext>
            </a:extLst>
          </p:cNvPr>
          <p:cNvSpPr>
            <a:spLocks xmlns:a="http://schemas.openxmlformats.org/drawingml/2006/main" noGrp="1"/>
          </p:cNvSpPr>
          <p:nvPr/>
        </p:nvSpPr>
        <p:spPr>
          <a:xfrm xmlns:a="http://schemas.openxmlformats.org/drawingml/2006/main">
            <a:off x="6686550" y="3724275"/>
            <a:ext cx="0" cy="59055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21" name="">
            <a:extLst xmlns:a="http://schemas.openxmlformats.org/drawingml/2006/main">
              <a:ext uri="{FF2B5EF4-FFF2-40B4-BE49-F238E27FC236}">
                <a16:creationId xmlns:a16="http://schemas.microsoft.com/office/drawing/2014/main" id="{D00F02AD-54F6-4667-B7FD-2660FEFBEA9C}"/>
              </a:ext>
            </a:extLst>
          </p:cNvPr>
          <p:cNvSpPr>
            <a:spLocks xmlns:a="http://schemas.openxmlformats.org/drawingml/2006/main" noGrp="1"/>
          </p:cNvSpPr>
          <p:nvPr/>
        </p:nvSpPr>
        <p:spPr>
          <a:xfrm xmlns:a="http://schemas.openxmlformats.org/drawingml/2006/main">
            <a:off x="6953250" y="374332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A2538"/>
                </a:solidFill>
                <a:latin typeface="Avenir Next"/>
                <a:ea typeface="Avenir Next"/>
                <a:cs typeface="Avenir Next"/>
              </a:defRPr>
            </a:pPr>
            <a:r>
              <a:rPr sz="2025" b="1">
                <a:solidFill>
                  <a:srgbClr val="0A2538"/>
                </a:solidFill>
                <a:latin typeface="Avenir Next"/>
                <a:ea typeface="Avenir Next"/>
                <a:cs typeface="Avenir Next"/>
              </a:rPr>
              <a:t>10,282</a:t>
            </a:r>
          </a:p>
        </p:txBody>
      </p:sp>
      <p:sp>
        <p:nvSpPr>
          <p:cNvPr id="22" name="">
            <a:extLst xmlns:a="http://schemas.openxmlformats.org/drawingml/2006/main">
              <a:ext uri="{FF2B5EF4-FFF2-40B4-BE49-F238E27FC236}">
                <a16:creationId xmlns:a16="http://schemas.microsoft.com/office/drawing/2014/main" id="{E3AB7DC1-49D5-4561-9AFF-C68D12D0A542}"/>
              </a:ext>
            </a:extLst>
          </p:cNvPr>
          <p:cNvSpPr>
            <a:spLocks xmlns:a="http://schemas.openxmlformats.org/drawingml/2006/main" noGrp="1"/>
          </p:cNvSpPr>
          <p:nvPr/>
        </p:nvSpPr>
        <p:spPr>
          <a:xfrm xmlns:a="http://schemas.openxmlformats.org/drawingml/2006/main">
            <a:off x="6953250" y="41529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627781"/>
                </a:solidFill>
                <a:latin typeface="Avenir Next"/>
                <a:ea typeface="Avenir Next"/>
                <a:cs typeface="Avenir Next"/>
              </a:defRPr>
            </a:pPr>
            <a:r>
              <a:rPr sz="750" b="1">
                <a:solidFill>
                  <a:srgbClr val="627781"/>
                </a:solidFill>
                <a:latin typeface="Avenir Next"/>
                <a:ea typeface="Avenir Next"/>
                <a:cs typeface="Avenir Next"/>
              </a:rPr>
              <a:t>INPUT TOKENS</a:t>
            </a:r>
          </a:p>
        </p:txBody>
      </p:sp>
      <p:sp>
        <p:nvSpPr>
          <p:cNvPr id="23" name="">
            <a:extLst xmlns:a="http://schemas.openxmlformats.org/drawingml/2006/main">
              <a:ext uri="{FF2B5EF4-FFF2-40B4-BE49-F238E27FC236}">
                <a16:creationId xmlns:a16="http://schemas.microsoft.com/office/drawing/2014/main" id="{3262DBEA-BE05-40C6-81B5-D2A0C8AF7CCA}"/>
              </a:ext>
            </a:extLst>
          </p:cNvPr>
          <p:cNvSpPr>
            <a:spLocks xmlns:a="http://schemas.openxmlformats.org/drawingml/2006/main" noGrp="1"/>
          </p:cNvSpPr>
          <p:nvPr/>
        </p:nvSpPr>
        <p:spPr>
          <a:xfrm xmlns:a="http://schemas.openxmlformats.org/drawingml/2006/main">
            <a:off x="8324850" y="3724275"/>
            <a:ext cx="0" cy="59055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24" name="">
            <a:extLst xmlns:a="http://schemas.openxmlformats.org/drawingml/2006/main">
              <a:ext uri="{FF2B5EF4-FFF2-40B4-BE49-F238E27FC236}">
                <a16:creationId xmlns:a16="http://schemas.microsoft.com/office/drawing/2014/main" id="{FE8664F5-0EED-4935-9146-A80C24A9A291}"/>
              </a:ext>
            </a:extLst>
          </p:cNvPr>
          <p:cNvSpPr>
            <a:spLocks xmlns:a="http://schemas.openxmlformats.org/drawingml/2006/main" noGrp="1"/>
          </p:cNvSpPr>
          <p:nvPr/>
        </p:nvSpPr>
        <p:spPr>
          <a:xfrm xmlns:a="http://schemas.openxmlformats.org/drawingml/2006/main">
            <a:off x="8591550" y="374332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A2538"/>
                </a:solidFill>
                <a:latin typeface="Avenir Next"/>
                <a:ea typeface="Avenir Next"/>
                <a:cs typeface="Avenir Next"/>
              </a:defRPr>
            </a:pPr>
            <a:r>
              <a:rPr sz="2025" b="1">
                <a:solidFill>
                  <a:srgbClr val="0A2538"/>
                </a:solidFill>
                <a:latin typeface="Avenir Next"/>
                <a:ea typeface="Avenir Next"/>
                <a:cs typeface="Avenir Next"/>
              </a:rPr>
              <a:t>923</a:t>
            </a:r>
          </a:p>
        </p:txBody>
      </p:sp>
      <p:sp>
        <p:nvSpPr>
          <p:cNvPr id="25" name="">
            <a:extLst xmlns:a="http://schemas.openxmlformats.org/drawingml/2006/main">
              <a:ext uri="{FF2B5EF4-FFF2-40B4-BE49-F238E27FC236}">
                <a16:creationId xmlns:a16="http://schemas.microsoft.com/office/drawing/2014/main" id="{52C6471F-0573-40F2-9CA0-540F7410E20A}"/>
              </a:ext>
            </a:extLst>
          </p:cNvPr>
          <p:cNvSpPr>
            <a:spLocks xmlns:a="http://schemas.openxmlformats.org/drawingml/2006/main" noGrp="1"/>
          </p:cNvSpPr>
          <p:nvPr/>
        </p:nvSpPr>
        <p:spPr>
          <a:xfrm xmlns:a="http://schemas.openxmlformats.org/drawingml/2006/main">
            <a:off x="8591550" y="41529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627781"/>
                </a:solidFill>
                <a:latin typeface="Avenir Next"/>
                <a:ea typeface="Avenir Next"/>
                <a:cs typeface="Avenir Next"/>
              </a:defRPr>
            </a:pPr>
            <a:r>
              <a:rPr sz="750" b="1">
                <a:solidFill>
                  <a:srgbClr val="627781"/>
                </a:solidFill>
                <a:latin typeface="Avenir Next"/>
                <a:ea typeface="Avenir Next"/>
                <a:cs typeface="Avenir Next"/>
              </a:rPr>
              <a:t>OUTPUT TOKENS</a:t>
            </a:r>
          </a:p>
        </p:txBody>
      </p:sp>
      <p:sp>
        <p:nvSpPr>
          <p:cNvPr id="26" name="">
            <a:extLst xmlns:a="http://schemas.openxmlformats.org/drawingml/2006/main">
              <a:ext uri="{FF2B5EF4-FFF2-40B4-BE49-F238E27FC236}">
                <a16:creationId xmlns:a16="http://schemas.microsoft.com/office/drawing/2014/main" id="{8B871850-0B22-4F6A-BEDF-58F242CE2F10}"/>
              </a:ext>
            </a:extLst>
          </p:cNvPr>
          <p:cNvSpPr>
            <a:spLocks xmlns:a="http://schemas.openxmlformats.org/drawingml/2006/main" noGrp="1"/>
          </p:cNvSpPr>
          <p:nvPr/>
        </p:nvSpPr>
        <p:spPr>
          <a:xfrm xmlns:a="http://schemas.openxmlformats.org/drawingml/2006/main">
            <a:off x="9906000" y="3724275"/>
            <a:ext cx="0" cy="59055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27" name="">
            <a:extLst xmlns:a="http://schemas.openxmlformats.org/drawingml/2006/main">
              <a:ext uri="{FF2B5EF4-FFF2-40B4-BE49-F238E27FC236}">
                <a16:creationId xmlns:a16="http://schemas.microsoft.com/office/drawing/2014/main" id="{AA15F7D0-AD9D-4D5F-9713-F4793B0E499A}"/>
              </a:ext>
            </a:extLst>
          </p:cNvPr>
          <p:cNvSpPr>
            <a:spLocks xmlns:a="http://schemas.openxmlformats.org/drawingml/2006/main" noGrp="1"/>
          </p:cNvSpPr>
          <p:nvPr/>
        </p:nvSpPr>
        <p:spPr>
          <a:xfrm xmlns:a="http://schemas.openxmlformats.org/drawingml/2006/main">
            <a:off x="10134600" y="374332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25" b="1">
                <a:solidFill>
                  <a:srgbClr val="0A2538"/>
                </a:solidFill>
                <a:latin typeface="Avenir Next"/>
                <a:ea typeface="Avenir Next"/>
                <a:cs typeface="Avenir Next"/>
              </a:defRPr>
            </a:pPr>
            <a:r>
              <a:rPr sz="2025" b="1">
                <a:solidFill>
                  <a:srgbClr val="0A2538"/>
                </a:solidFill>
                <a:latin typeface="Avenir Next"/>
                <a:ea typeface="Avenir Next"/>
                <a:cs typeface="Avenir Next"/>
              </a:rPr>
              <a:t>15.9 s</a:t>
            </a:r>
          </a:p>
        </p:txBody>
      </p:sp>
      <p:sp>
        <p:nvSpPr>
          <p:cNvPr id="28" name="">
            <a:extLst xmlns:a="http://schemas.openxmlformats.org/drawingml/2006/main">
              <a:ext uri="{FF2B5EF4-FFF2-40B4-BE49-F238E27FC236}">
                <a16:creationId xmlns:a16="http://schemas.microsoft.com/office/drawing/2014/main" id="{3F9A62B7-6160-4EB3-B0F7-0A5BFB05B8F4}"/>
              </a:ext>
            </a:extLst>
          </p:cNvPr>
          <p:cNvSpPr>
            <a:spLocks xmlns:a="http://schemas.openxmlformats.org/drawingml/2006/main" noGrp="1"/>
          </p:cNvSpPr>
          <p:nvPr/>
        </p:nvSpPr>
        <p:spPr>
          <a:xfrm xmlns:a="http://schemas.openxmlformats.org/drawingml/2006/main">
            <a:off x="10134600" y="41529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750" b="1">
                <a:solidFill>
                  <a:srgbClr val="627781"/>
                </a:solidFill>
                <a:latin typeface="Avenir Next"/>
                <a:ea typeface="Avenir Next"/>
                <a:cs typeface="Avenir Next"/>
              </a:defRPr>
            </a:pPr>
            <a:r>
              <a:rPr sz="750" b="1">
                <a:solidFill>
                  <a:srgbClr val="627781"/>
                </a:solidFill>
                <a:latin typeface="Avenir Next"/>
                <a:ea typeface="Avenir Next"/>
                <a:cs typeface="Avenir Next"/>
              </a:rPr>
              <a:t>ELAPSED</a:t>
            </a:r>
          </a:p>
        </p:txBody>
      </p:sp>
      <p:sp>
        <p:nvSpPr>
          <p:cNvPr id="29" name="">
            <a:extLst xmlns:a="http://schemas.openxmlformats.org/drawingml/2006/main">
              <a:ext uri="{FF2B5EF4-FFF2-40B4-BE49-F238E27FC236}">
                <a16:creationId xmlns:a16="http://schemas.microsoft.com/office/drawing/2014/main" id="{472811E1-6599-4F77-8746-6B8A4E8A1F23}"/>
              </a:ext>
            </a:extLst>
          </p:cNvPr>
          <p:cNvSpPr>
            <a:spLocks xmlns:a="http://schemas.openxmlformats.org/drawingml/2006/main" noGrp="1"/>
          </p:cNvSpPr>
          <p:nvPr/>
        </p:nvSpPr>
        <p:spPr>
          <a:xfrm xmlns:a="http://schemas.openxmlformats.org/drawingml/2006/main">
            <a:off x="5486400" y="4572000"/>
            <a:ext cx="2781300" cy="800100"/>
          </a:xfrm>
          <a:prstGeom xmlns:a="http://schemas.openxmlformats.org/drawingml/2006/main" prst="roundRect">
            <a:avLst>
              <a:gd name="adj" fmla="val 9524"/>
            </a:avLst>
          </a:prstGeom>
          <a:solidFill xmlns:a="http://schemas.openxmlformats.org/drawingml/2006/main">
            <a:srgbClr val="EAF7F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0C993BF-03FF-4264-940B-871F0F987CED}"/>
              </a:ext>
            </a:extLst>
          </p:cNvPr>
          <p:cNvSpPr>
            <a:spLocks xmlns:a="http://schemas.openxmlformats.org/drawingml/2006/main" noGrp="1"/>
          </p:cNvSpPr>
          <p:nvPr/>
        </p:nvSpPr>
        <p:spPr>
          <a:xfrm xmlns:a="http://schemas.openxmlformats.org/drawingml/2006/main">
            <a:off x="5695950" y="4714875"/>
            <a:ext cx="2362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0A8A88"/>
                </a:solidFill>
                <a:latin typeface="Avenir Next"/>
                <a:ea typeface="Avenir Next"/>
                <a:cs typeface="Avenir Next"/>
              </a:defRPr>
            </a:pPr>
            <a:r>
              <a:rPr sz="825" b="1">
                <a:solidFill>
                  <a:srgbClr val="0A8A88"/>
                </a:solidFill>
                <a:latin typeface="Avenir Next"/>
                <a:ea typeface="Avenir Next"/>
                <a:cs typeface="Avenir Next"/>
              </a:rPr>
              <a:t>PROMPT INJECTION</a:t>
            </a:r>
          </a:p>
        </p:txBody>
      </p:sp>
      <p:sp>
        <p:nvSpPr>
          <p:cNvPr id="31" name="">
            <a:extLst xmlns:a="http://schemas.openxmlformats.org/drawingml/2006/main">
              <a:ext uri="{FF2B5EF4-FFF2-40B4-BE49-F238E27FC236}">
                <a16:creationId xmlns:a16="http://schemas.microsoft.com/office/drawing/2014/main" id="{02EA447F-8331-4B6B-A44B-3B5ED5EC0436}"/>
              </a:ext>
            </a:extLst>
          </p:cNvPr>
          <p:cNvSpPr>
            <a:spLocks xmlns:a="http://schemas.openxmlformats.org/drawingml/2006/main" noGrp="1"/>
          </p:cNvSpPr>
          <p:nvPr/>
        </p:nvSpPr>
        <p:spPr>
          <a:xfrm xmlns:a="http://schemas.openxmlformats.org/drawingml/2006/main">
            <a:off x="5695950" y="49530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A2538"/>
                </a:solidFill>
                <a:latin typeface="Avenir Next"/>
                <a:ea typeface="Avenir Next"/>
                <a:cs typeface="Avenir Next"/>
              </a:defRPr>
            </a:pPr>
            <a:r>
              <a:rPr sz="1875" b="1">
                <a:solidFill>
                  <a:srgbClr val="0A2538"/>
                </a:solidFill>
                <a:latin typeface="Avenir Next"/>
                <a:ea typeface="Avenir Next"/>
                <a:cs typeface="Avenir Next"/>
              </a:rPr>
              <a:t>Blocked</a:t>
            </a:r>
          </a:p>
        </p:txBody>
      </p:sp>
      <p:sp>
        <p:nvSpPr>
          <p:cNvPr id="32" name="">
            <a:extLst xmlns:a="http://schemas.openxmlformats.org/drawingml/2006/main">
              <a:ext uri="{FF2B5EF4-FFF2-40B4-BE49-F238E27FC236}">
                <a16:creationId xmlns:a16="http://schemas.microsoft.com/office/drawing/2014/main" id="{28C6BD86-B74E-4641-B008-B515F6D4824D}"/>
              </a:ext>
            </a:extLst>
          </p:cNvPr>
          <p:cNvSpPr>
            <a:spLocks xmlns:a="http://schemas.openxmlformats.org/drawingml/2006/main" noGrp="1"/>
          </p:cNvSpPr>
          <p:nvPr/>
        </p:nvSpPr>
        <p:spPr>
          <a:xfrm xmlns:a="http://schemas.openxmlformats.org/drawingml/2006/main">
            <a:off x="8420100" y="4572000"/>
            <a:ext cx="2876550" cy="800100"/>
          </a:xfrm>
          <a:prstGeom xmlns:a="http://schemas.openxmlformats.org/drawingml/2006/main" prst="roundRect">
            <a:avLst>
              <a:gd name="adj" fmla="val 9524"/>
            </a:avLst>
          </a:prstGeom>
          <a:solidFill xmlns:a="http://schemas.openxmlformats.org/drawingml/2006/main">
            <a:srgbClr val="EEF4F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247720D-F725-48CD-A6B1-A4C985DCF94C}"/>
              </a:ext>
            </a:extLst>
          </p:cNvPr>
          <p:cNvSpPr>
            <a:spLocks xmlns:a="http://schemas.openxmlformats.org/drawingml/2006/main" noGrp="1"/>
          </p:cNvSpPr>
          <p:nvPr/>
        </p:nvSpPr>
        <p:spPr>
          <a:xfrm xmlns:a="http://schemas.openxmlformats.org/drawingml/2006/main">
            <a:off x="8629650" y="4714875"/>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0A8A88"/>
                </a:solidFill>
                <a:latin typeface="Avenir Next"/>
                <a:ea typeface="Avenir Next"/>
                <a:cs typeface="Avenir Next"/>
              </a:defRPr>
            </a:pPr>
            <a:r>
              <a:rPr sz="825" b="1">
                <a:solidFill>
                  <a:srgbClr val="0A8A88"/>
                </a:solidFill>
                <a:latin typeface="Avenir Next"/>
                <a:ea typeface="Avenir Next"/>
                <a:cs typeface="Avenir Next"/>
              </a:rPr>
              <a:t>CLOUDWATCH</a:t>
            </a:r>
          </a:p>
        </p:txBody>
      </p:sp>
      <p:sp>
        <p:nvSpPr>
          <p:cNvPr id="34" name="">
            <a:extLst xmlns:a="http://schemas.openxmlformats.org/drawingml/2006/main">
              <a:ext uri="{FF2B5EF4-FFF2-40B4-BE49-F238E27FC236}">
                <a16:creationId xmlns:a16="http://schemas.microsoft.com/office/drawing/2014/main" id="{C40BCFCE-B630-4F49-A932-E946F8161B1A}"/>
              </a:ext>
            </a:extLst>
          </p:cNvPr>
          <p:cNvSpPr>
            <a:spLocks xmlns:a="http://schemas.openxmlformats.org/drawingml/2006/main" noGrp="1"/>
          </p:cNvSpPr>
          <p:nvPr/>
        </p:nvSpPr>
        <p:spPr>
          <a:xfrm xmlns:a="http://schemas.openxmlformats.org/drawingml/2006/main">
            <a:off x="8629650" y="4953000"/>
            <a:ext cx="245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A2538"/>
                </a:solidFill>
                <a:latin typeface="Avenir Next"/>
                <a:ea typeface="Avenir Next"/>
                <a:cs typeface="Avenir Next"/>
              </a:defRPr>
            </a:pPr>
            <a:r>
              <a:rPr sz="1875" b="1">
                <a:solidFill>
                  <a:srgbClr val="0A2538"/>
                </a:solidFill>
                <a:latin typeface="Avenir Next"/>
                <a:ea typeface="Avenir Next"/>
                <a:cs typeface="Avenir Next"/>
              </a:rPr>
              <a:t>Trace received</a:t>
            </a:r>
          </a:p>
        </p:txBody>
      </p:sp>
      <p:sp>
        <p:nvSpPr>
          <p:cNvPr id="35" name="">
            <a:extLst xmlns:a="http://schemas.openxmlformats.org/drawingml/2006/main">
              <a:ext uri="{FF2B5EF4-FFF2-40B4-BE49-F238E27FC236}">
                <a16:creationId xmlns:a16="http://schemas.microsoft.com/office/drawing/2014/main" id="{2EF1BACA-807A-46D7-A5F2-F58A13A8610C}"/>
              </a:ext>
            </a:extLst>
          </p:cNvPr>
          <p:cNvSpPr>
            <a:spLocks xmlns:a="http://schemas.openxmlformats.org/drawingml/2006/main" noGrp="1"/>
          </p:cNvSpPr>
          <p:nvPr/>
        </p:nvSpPr>
        <p:spPr>
          <a:xfrm xmlns:a="http://schemas.openxmlformats.org/drawingml/2006/main">
            <a:off x="5486400" y="5562600"/>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E56B52"/>
                </a:solidFill>
                <a:latin typeface="Avenir Next"/>
                <a:ea typeface="Avenir Next"/>
                <a:cs typeface="Avenir Next"/>
              </a:defRPr>
            </a:pPr>
            <a:r>
              <a:rPr sz="1125" b="1">
                <a:solidFill>
                  <a:srgbClr val="E56B52"/>
                </a:solidFill>
                <a:latin typeface="Avenir Next"/>
                <a:ea typeface="Avenir Next"/>
                <a:cs typeface="Avenir Next"/>
              </a:rPr>
              <a:t>Token counts are measured; current Haiku price is not hard-coded.</a:t>
            </a:r>
          </a:p>
        </p:txBody>
      </p:sp>
      <p:sp>
        <p:nvSpPr>
          <p:cNvPr id="36" name="">
            <a:extLst xmlns:a="http://schemas.openxmlformats.org/drawingml/2006/main">
              <a:ext uri="{FF2B5EF4-FFF2-40B4-BE49-F238E27FC236}">
                <a16:creationId xmlns:a16="http://schemas.microsoft.com/office/drawing/2014/main" id="{C70AB1FF-FCFB-4435-B491-128DF441F875}"/>
              </a:ext>
            </a:extLst>
          </p:cNvPr>
          <p:cNvSpPr>
            <a:spLocks xmlns:a="http://schemas.openxmlformats.org/drawingml/2006/main" noGrp="1"/>
          </p:cNvSpPr>
          <p:nvPr/>
        </p:nvSpPr>
        <p:spPr>
          <a:xfrm xmlns:a="http://schemas.openxmlformats.org/drawingml/2006/main">
            <a:off x="609600" y="64389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TRIALGUARD  ·  PRESENTATION DECK</a:t>
            </a:r>
          </a:p>
        </p:txBody>
      </p:sp>
      <p:sp>
        <p:nvSpPr>
          <p:cNvPr id="37" name="">
            <a:extLst xmlns:a="http://schemas.openxmlformats.org/drawingml/2006/main">
              <a:ext uri="{FF2B5EF4-FFF2-40B4-BE49-F238E27FC236}">
                <a16:creationId xmlns:a16="http://schemas.microsoft.com/office/drawing/2014/main" id="{89F6A465-0652-42CC-8F0E-6964D1FE2EDC}"/>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05</a:t>
            </a:r>
          </a:p>
        </p:txBody>
      </p:sp>
    </p:spTree>
    <p:extLst>
      <p:ext uri="{BB962C8B-B14F-4D97-AF65-F5344CB8AC3E}">
        <p14:creationId xmlns:p14="http://schemas.microsoft.com/office/powerpoint/2010/main" val="3985071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C6B995C-0BE9-436F-8898-6846D4C12ED8}"/>
              </a:ext>
            </a:extLst>
          </p:cNvPr>
          <p:cNvSpPr>
            <a:spLocks xmlns:a="http://schemas.openxmlformats.org/drawingml/2006/main" noGrp="1"/>
          </p:cNvSpPr>
          <p:nvPr/>
        </p:nvSpPr>
        <p:spPr>
          <a:xfrm xmlns:a="http://schemas.openxmlformats.org/drawingml/2006/main">
            <a:off x="7315200" y="0"/>
            <a:ext cx="4876800" cy="6858000"/>
          </a:xfrm>
          <a:prstGeom xmlns:a="http://schemas.openxmlformats.org/drawingml/2006/main" prst="rect">
            <a:avLst/>
          </a:prstGeom>
          <a:solidFill xmlns:a="http://schemas.openxmlformats.org/drawingml/2006/main">
            <a:srgbClr val="0A253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2186A7-4128-4134-B4EB-374CEB0B0BD2}"/>
              </a:ext>
            </a:extLst>
          </p:cNvPr>
          <p:cNvSpPr>
            <a:spLocks xmlns:a="http://schemas.openxmlformats.org/drawingml/2006/main" noGrp="1"/>
          </p:cNvSpPr>
          <p:nvPr/>
        </p:nvSpPr>
        <p:spPr>
          <a:xfrm xmlns:a="http://schemas.openxmlformats.org/drawingml/2006/main">
            <a:off x="609600" y="466725"/>
            <a:ext cx="514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A8A88"/>
                </a:solidFill>
                <a:latin typeface="Avenir Next"/>
                <a:ea typeface="Avenir Next"/>
                <a:cs typeface="Avenir Next"/>
              </a:defRPr>
            </a:pPr>
            <a:r>
              <a:rPr sz="1275" b="1">
                <a:solidFill>
                  <a:srgbClr val="0A8A88"/>
                </a:solidFill>
                <a:latin typeface="Avenir Next"/>
                <a:ea typeface="Avenir Next"/>
                <a:cs typeface="Avenir Next"/>
              </a:rPr>
              <a:t>06</a:t>
            </a:r>
          </a:p>
        </p:txBody>
      </p:sp>
      <p:sp>
        <p:nvSpPr>
          <p:cNvPr id="3" name="">
            <a:extLst xmlns:a="http://schemas.openxmlformats.org/drawingml/2006/main">
              <a:ext uri="{FF2B5EF4-FFF2-40B4-BE49-F238E27FC236}">
                <a16:creationId xmlns:a16="http://schemas.microsoft.com/office/drawing/2014/main" id="{1168BEC3-BC1F-4B0A-8878-07CD4681B02D}"/>
              </a:ext>
            </a:extLst>
          </p:cNvPr>
          <p:cNvSpPr>
            <a:spLocks xmlns:a="http://schemas.openxmlformats.org/drawingml/2006/main" noGrp="1"/>
          </p:cNvSpPr>
          <p:nvPr/>
        </p:nvSpPr>
        <p:spPr>
          <a:xfrm xmlns:a="http://schemas.openxmlformats.org/drawingml/2006/main">
            <a:off x="609600" y="752475"/>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0A2538"/>
                </a:solidFill>
                <a:latin typeface="Avenir Next"/>
                <a:ea typeface="Avenir Next"/>
                <a:cs typeface="Avenir Next"/>
              </a:defRPr>
            </a:pPr>
            <a:r>
              <a:rPr sz="3450" b="1">
                <a:solidFill>
                  <a:srgbClr val="0A2538"/>
                </a:solidFill>
                <a:latin typeface="Avenir Next"/>
                <a:ea typeface="Avenir Next"/>
                <a:cs typeface="Avenir Next"/>
              </a:rPr>
              <a:t>Limits and next steps</a:t>
            </a:r>
          </a:p>
        </p:txBody>
      </p:sp>
      <p:sp>
        <p:nvSpPr>
          <p:cNvPr id="4" name="">
            <a:extLst xmlns:a="http://schemas.openxmlformats.org/drawingml/2006/main">
              <a:ext uri="{FF2B5EF4-FFF2-40B4-BE49-F238E27FC236}">
                <a16:creationId xmlns:a16="http://schemas.microsoft.com/office/drawing/2014/main" id="{23CE9482-5147-4CB2-AB11-C1DAAF8633B1}"/>
              </a:ext>
            </a:extLst>
          </p:cNvPr>
          <p:cNvSpPr>
            <a:spLocks xmlns:a="http://schemas.openxmlformats.org/drawingml/2006/main" noGrp="1"/>
          </p:cNvSpPr>
          <p:nvPr/>
        </p:nvSpPr>
        <p:spPr>
          <a:xfrm xmlns:a="http://schemas.openxmlformats.org/drawingml/2006/main">
            <a:off x="628650" y="1885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0A8A88"/>
                </a:solidFill>
                <a:latin typeface="Avenir Next"/>
                <a:ea typeface="Avenir Next"/>
                <a:cs typeface="Avenir Next"/>
              </a:defRPr>
            </a:pPr>
            <a:r>
              <a:rPr sz="1050" b="1">
                <a:solidFill>
                  <a:srgbClr val="0A8A88"/>
                </a:solidFill>
                <a:latin typeface="Avenir Next"/>
                <a:ea typeface="Avenir Next"/>
                <a:cs typeface="Avenir Next"/>
              </a:rPr>
              <a:t>CURRENT BOUNDARY</a:t>
            </a:r>
          </a:p>
        </p:txBody>
      </p:sp>
      <p:sp>
        <p:nvSpPr>
          <p:cNvPr id="5" name="">
            <a:extLst xmlns:a="http://schemas.openxmlformats.org/drawingml/2006/main">
              <a:ext uri="{FF2B5EF4-FFF2-40B4-BE49-F238E27FC236}">
                <a16:creationId xmlns:a16="http://schemas.microsoft.com/office/drawing/2014/main" id="{9D8072B5-249D-4985-9DAF-A0F46207AD21}"/>
              </a:ext>
            </a:extLst>
          </p:cNvPr>
          <p:cNvSpPr>
            <a:spLocks xmlns:a="http://schemas.openxmlformats.org/drawingml/2006/main" noGrp="1"/>
          </p:cNvSpPr>
          <p:nvPr/>
        </p:nvSpPr>
        <p:spPr>
          <a:xfrm xmlns:a="http://schemas.openxmlformats.org/drawingml/2006/main">
            <a:off x="628650" y="24003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A2538"/>
                </a:solidFill>
                <a:latin typeface="Avenir Next"/>
                <a:ea typeface="Avenir Next"/>
                <a:cs typeface="Avenir Next"/>
              </a:defRPr>
            </a:pPr>
            <a:r>
              <a:rPr sz="1425" b="1">
                <a:solidFill>
                  <a:srgbClr val="0A2538"/>
                </a:solidFill>
                <a:latin typeface="Avenir Next"/>
                <a:ea typeface="Avenir Next"/>
                <a:cs typeface="Avenir Next"/>
              </a:rPr>
              <a:t>Public data</a:t>
            </a:r>
          </a:p>
        </p:txBody>
      </p:sp>
      <p:sp>
        <p:nvSpPr>
          <p:cNvPr id="6" name="">
            <a:extLst xmlns:a="http://schemas.openxmlformats.org/drawingml/2006/main">
              <a:ext uri="{FF2B5EF4-FFF2-40B4-BE49-F238E27FC236}">
                <a16:creationId xmlns:a16="http://schemas.microsoft.com/office/drawing/2014/main" id="{05C8B342-FBF4-4F88-8F2F-BBAB493DC199}"/>
              </a:ext>
            </a:extLst>
          </p:cNvPr>
          <p:cNvSpPr>
            <a:spLocks xmlns:a="http://schemas.openxmlformats.org/drawingml/2006/main" noGrp="1"/>
          </p:cNvSpPr>
          <p:nvPr/>
        </p:nvSpPr>
        <p:spPr>
          <a:xfrm xmlns:a="http://schemas.openxmlformats.org/drawingml/2006/main">
            <a:off x="2381250" y="240030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27781"/>
                </a:solidFill>
                <a:latin typeface="Avenir Next"/>
                <a:ea typeface="Avenir Next"/>
                <a:cs typeface="Avenir Next"/>
              </a:defRPr>
            </a:pPr>
            <a:r>
              <a:rPr sz="1500" b="0">
                <a:solidFill>
                  <a:srgbClr val="627781"/>
                </a:solidFill>
                <a:latin typeface="Avenir Next"/>
                <a:ea typeface="Avenir Next"/>
                <a:cs typeface="Avenir Next"/>
              </a:rPr>
              <a:t>Selected, allowlisted ClinicalTrials.gov fields only</a:t>
            </a:r>
          </a:p>
        </p:txBody>
      </p:sp>
      <p:sp>
        <p:nvSpPr>
          <p:cNvPr id="7" name="">
            <a:extLst xmlns:a="http://schemas.openxmlformats.org/drawingml/2006/main">
              <a:ext uri="{FF2B5EF4-FFF2-40B4-BE49-F238E27FC236}">
                <a16:creationId xmlns:a16="http://schemas.microsoft.com/office/drawing/2014/main" id="{9A9F0EF3-A172-4BBA-8AEA-9E02D48573BC}"/>
              </a:ext>
            </a:extLst>
          </p:cNvPr>
          <p:cNvSpPr>
            <a:spLocks xmlns:a="http://schemas.openxmlformats.org/drawingml/2006/main" noGrp="1"/>
          </p:cNvSpPr>
          <p:nvPr/>
        </p:nvSpPr>
        <p:spPr>
          <a:xfrm xmlns:a="http://schemas.openxmlformats.org/drawingml/2006/main">
            <a:off x="628650" y="2971800"/>
            <a:ext cx="59055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8" name="">
            <a:extLst xmlns:a="http://schemas.openxmlformats.org/drawingml/2006/main">
              <a:ext uri="{FF2B5EF4-FFF2-40B4-BE49-F238E27FC236}">
                <a16:creationId xmlns:a16="http://schemas.microsoft.com/office/drawing/2014/main" id="{FB937CF7-EF1A-4AEE-B32E-DA7224C3EC2A}"/>
              </a:ext>
            </a:extLst>
          </p:cNvPr>
          <p:cNvSpPr>
            <a:spLocks xmlns:a="http://schemas.openxmlformats.org/drawingml/2006/main" noGrp="1"/>
          </p:cNvSpPr>
          <p:nvPr/>
        </p:nvSpPr>
        <p:spPr>
          <a:xfrm xmlns:a="http://schemas.openxmlformats.org/drawingml/2006/main">
            <a:off x="628650" y="31813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A2538"/>
                </a:solidFill>
                <a:latin typeface="Avenir Next"/>
                <a:ea typeface="Avenir Next"/>
                <a:cs typeface="Avenir Next"/>
              </a:defRPr>
            </a:pPr>
            <a:r>
              <a:rPr sz="1425" b="1">
                <a:solidFill>
                  <a:srgbClr val="0A2538"/>
                </a:solidFill>
                <a:latin typeface="Avenir Next"/>
                <a:ea typeface="Avenir Next"/>
                <a:cs typeface="Avenir Next"/>
              </a:rPr>
              <a:t>Safety boundary</a:t>
            </a:r>
          </a:p>
        </p:txBody>
      </p:sp>
      <p:sp>
        <p:nvSpPr>
          <p:cNvPr id="9" name="">
            <a:extLst xmlns:a="http://schemas.openxmlformats.org/drawingml/2006/main">
              <a:ext uri="{FF2B5EF4-FFF2-40B4-BE49-F238E27FC236}">
                <a16:creationId xmlns:a16="http://schemas.microsoft.com/office/drawing/2014/main" id="{8C75462A-D24A-49FA-B459-8FC3D1475E28}"/>
              </a:ext>
            </a:extLst>
          </p:cNvPr>
          <p:cNvSpPr>
            <a:spLocks xmlns:a="http://schemas.openxmlformats.org/drawingml/2006/main" noGrp="1"/>
          </p:cNvSpPr>
          <p:nvPr/>
        </p:nvSpPr>
        <p:spPr>
          <a:xfrm xmlns:a="http://schemas.openxmlformats.org/drawingml/2006/main">
            <a:off x="2381250" y="31813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27781"/>
                </a:solidFill>
                <a:latin typeface="Avenir Next"/>
                <a:ea typeface="Avenir Next"/>
                <a:cs typeface="Avenir Next"/>
              </a:defRPr>
            </a:pPr>
            <a:r>
              <a:rPr sz="1500" b="0">
                <a:solidFill>
                  <a:srgbClr val="627781"/>
                </a:solidFill>
                <a:latin typeface="Avenir Next"/>
                <a:ea typeface="Avenir Next"/>
                <a:cs typeface="Avenir Next"/>
              </a:rPr>
              <a:t>No PHI uploads, prediction, design recommendation, or advice</a:t>
            </a:r>
          </a:p>
        </p:txBody>
      </p:sp>
      <p:sp>
        <p:nvSpPr>
          <p:cNvPr id="10" name="">
            <a:extLst xmlns:a="http://schemas.openxmlformats.org/drawingml/2006/main">
              <a:ext uri="{FF2B5EF4-FFF2-40B4-BE49-F238E27FC236}">
                <a16:creationId xmlns:a16="http://schemas.microsoft.com/office/drawing/2014/main" id="{6D431CAD-C6C9-4DF4-B853-83ECEF8263C2}"/>
              </a:ext>
            </a:extLst>
          </p:cNvPr>
          <p:cNvSpPr>
            <a:spLocks xmlns:a="http://schemas.openxmlformats.org/drawingml/2006/main" noGrp="1"/>
          </p:cNvSpPr>
          <p:nvPr/>
        </p:nvSpPr>
        <p:spPr>
          <a:xfrm xmlns:a="http://schemas.openxmlformats.org/drawingml/2006/main">
            <a:off x="628650" y="3752850"/>
            <a:ext cx="59055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11" name="">
            <a:extLst xmlns:a="http://schemas.openxmlformats.org/drawingml/2006/main">
              <a:ext uri="{FF2B5EF4-FFF2-40B4-BE49-F238E27FC236}">
                <a16:creationId xmlns:a16="http://schemas.microsoft.com/office/drawing/2014/main" id="{798260D1-8B2D-4C82-B926-090F885D1AB5}"/>
              </a:ext>
            </a:extLst>
          </p:cNvPr>
          <p:cNvSpPr>
            <a:spLocks xmlns:a="http://schemas.openxmlformats.org/drawingml/2006/main" noGrp="1"/>
          </p:cNvSpPr>
          <p:nvPr/>
        </p:nvSpPr>
        <p:spPr>
          <a:xfrm xmlns:a="http://schemas.openxmlformats.org/drawingml/2006/main">
            <a:off x="628650" y="39624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A2538"/>
                </a:solidFill>
                <a:latin typeface="Avenir Next"/>
                <a:ea typeface="Avenir Next"/>
                <a:cs typeface="Avenir Next"/>
              </a:defRPr>
            </a:pPr>
            <a:r>
              <a:rPr sz="1425" b="1">
                <a:solidFill>
                  <a:srgbClr val="0A2538"/>
                </a:solidFill>
                <a:latin typeface="Avenir Next"/>
                <a:ea typeface="Avenir Next"/>
                <a:cs typeface="Avenir Next"/>
              </a:rPr>
              <a:t>Live allowance</a:t>
            </a:r>
          </a:p>
        </p:txBody>
      </p:sp>
      <p:sp>
        <p:nvSpPr>
          <p:cNvPr id="12" name="">
            <a:extLst xmlns:a="http://schemas.openxmlformats.org/drawingml/2006/main">
              <a:ext uri="{FF2B5EF4-FFF2-40B4-BE49-F238E27FC236}">
                <a16:creationId xmlns:a16="http://schemas.microsoft.com/office/drawing/2014/main" id="{16287BA4-E90B-4224-8D67-800950FB8558}"/>
              </a:ext>
            </a:extLst>
          </p:cNvPr>
          <p:cNvSpPr>
            <a:spLocks xmlns:a="http://schemas.openxmlformats.org/drawingml/2006/main" noGrp="1"/>
          </p:cNvSpPr>
          <p:nvPr/>
        </p:nvSpPr>
        <p:spPr>
          <a:xfrm xmlns:a="http://schemas.openxmlformats.org/drawingml/2006/main">
            <a:off x="2381250" y="396240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27781"/>
                </a:solidFill>
                <a:latin typeface="Avenir Next"/>
                <a:ea typeface="Avenir Next"/>
                <a:cs typeface="Avenir Next"/>
              </a:defRPr>
            </a:pPr>
            <a:r>
              <a:rPr sz="1500" b="0">
                <a:solidFill>
                  <a:srgbClr val="627781"/>
                </a:solidFill>
                <a:latin typeface="Avenir Next"/>
                <a:ea typeface="Avenir Next"/>
                <a:cs typeface="Avenir Next"/>
              </a:rPr>
              <a:t>15 shared assessment and model-backed chat operations per UTC day</a:t>
            </a:r>
          </a:p>
        </p:txBody>
      </p:sp>
      <p:sp>
        <p:nvSpPr>
          <p:cNvPr id="13" name="">
            <a:extLst xmlns:a="http://schemas.openxmlformats.org/drawingml/2006/main">
              <a:ext uri="{FF2B5EF4-FFF2-40B4-BE49-F238E27FC236}">
                <a16:creationId xmlns:a16="http://schemas.microsoft.com/office/drawing/2014/main" id="{489292D5-39C9-4325-AEA9-05A07AF02A25}"/>
              </a:ext>
            </a:extLst>
          </p:cNvPr>
          <p:cNvSpPr>
            <a:spLocks xmlns:a="http://schemas.openxmlformats.org/drawingml/2006/main" noGrp="1"/>
          </p:cNvSpPr>
          <p:nvPr/>
        </p:nvSpPr>
        <p:spPr>
          <a:xfrm xmlns:a="http://schemas.openxmlformats.org/drawingml/2006/main">
            <a:off x="628650" y="4533900"/>
            <a:ext cx="59055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14" name="">
            <a:extLst xmlns:a="http://schemas.openxmlformats.org/drawingml/2006/main">
              <a:ext uri="{FF2B5EF4-FFF2-40B4-BE49-F238E27FC236}">
                <a16:creationId xmlns:a16="http://schemas.microsoft.com/office/drawing/2014/main" id="{11EDCCE3-0300-4282-80F9-CC769ACB49B6}"/>
              </a:ext>
            </a:extLst>
          </p:cNvPr>
          <p:cNvSpPr>
            <a:spLocks xmlns:a="http://schemas.openxmlformats.org/drawingml/2006/main" noGrp="1"/>
          </p:cNvSpPr>
          <p:nvPr/>
        </p:nvSpPr>
        <p:spPr>
          <a:xfrm xmlns:a="http://schemas.openxmlformats.org/drawingml/2006/main">
            <a:off x="628650" y="47434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A2538"/>
                </a:solidFill>
                <a:latin typeface="Avenir Next"/>
                <a:ea typeface="Avenir Next"/>
                <a:cs typeface="Avenir Next"/>
              </a:defRPr>
            </a:pPr>
            <a:r>
              <a:rPr sz="1425" b="1">
                <a:solidFill>
                  <a:srgbClr val="0A2538"/>
                </a:solidFill>
                <a:latin typeface="Avenir Next"/>
                <a:ea typeface="Avenir Next"/>
                <a:cs typeface="Avenir Next"/>
              </a:rPr>
              <a:t>Accountability</a:t>
            </a:r>
          </a:p>
        </p:txBody>
      </p:sp>
      <p:sp>
        <p:nvSpPr>
          <p:cNvPr id="15" name="">
            <a:extLst xmlns:a="http://schemas.openxmlformats.org/drawingml/2006/main">
              <a:ext uri="{FF2B5EF4-FFF2-40B4-BE49-F238E27FC236}">
                <a16:creationId xmlns:a16="http://schemas.microsoft.com/office/drawing/2014/main" id="{29D93743-B346-486A-A9F6-83017FB3A6A0}"/>
              </a:ext>
            </a:extLst>
          </p:cNvPr>
          <p:cNvSpPr>
            <a:spLocks xmlns:a="http://schemas.openxmlformats.org/drawingml/2006/main" noGrp="1"/>
          </p:cNvSpPr>
          <p:nvPr/>
        </p:nvSpPr>
        <p:spPr>
          <a:xfrm xmlns:a="http://schemas.openxmlformats.org/drawingml/2006/main">
            <a:off x="2381250" y="47434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27781"/>
                </a:solidFill>
                <a:latin typeface="Avenir Next"/>
                <a:ea typeface="Avenir Next"/>
                <a:cs typeface="Avenir Next"/>
              </a:defRPr>
            </a:pPr>
            <a:r>
              <a:rPr sz="1500" b="0">
                <a:solidFill>
                  <a:srgbClr val="627781"/>
                </a:solidFill>
                <a:latin typeface="Avenir Next"/>
                <a:ea typeface="Avenir Next"/>
                <a:cs typeface="Avenir Next"/>
              </a:rPr>
              <a:t>A qualified reviewer makes the final decision</a:t>
            </a:r>
          </a:p>
        </p:txBody>
      </p:sp>
      <p:sp>
        <p:nvSpPr>
          <p:cNvPr id="16" name="">
            <a:extLst xmlns:a="http://schemas.openxmlformats.org/drawingml/2006/main">
              <a:ext uri="{FF2B5EF4-FFF2-40B4-BE49-F238E27FC236}">
                <a16:creationId xmlns:a16="http://schemas.microsoft.com/office/drawing/2014/main" id="{23D2B968-F03F-47F9-B751-E9031BDD7333}"/>
              </a:ext>
            </a:extLst>
          </p:cNvPr>
          <p:cNvSpPr>
            <a:spLocks xmlns:a="http://schemas.openxmlformats.org/drawingml/2006/main" noGrp="1"/>
          </p:cNvSpPr>
          <p:nvPr/>
        </p:nvSpPr>
        <p:spPr>
          <a:xfrm xmlns:a="http://schemas.openxmlformats.org/drawingml/2006/main">
            <a:off x="7810500" y="828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BEEBE4"/>
                </a:solidFill>
                <a:latin typeface="Avenir Next"/>
                <a:ea typeface="Avenir Next"/>
                <a:cs typeface="Avenir Next"/>
              </a:defRPr>
            </a:pPr>
            <a:r>
              <a:rPr sz="1050" b="1">
                <a:solidFill>
                  <a:srgbClr val="BEEBE4"/>
                </a:solidFill>
                <a:latin typeface="Avenir Next"/>
                <a:ea typeface="Avenir Next"/>
                <a:cs typeface="Avenir Next"/>
              </a:rPr>
              <a:t>DEPLOYMENT STATUS</a:t>
            </a:r>
          </a:p>
        </p:txBody>
      </p:sp>
      <p:sp>
        <p:nvSpPr>
          <p:cNvPr id="17" name="">
            <a:extLst xmlns:a="http://schemas.openxmlformats.org/drawingml/2006/main">
              <a:ext uri="{FF2B5EF4-FFF2-40B4-BE49-F238E27FC236}">
                <a16:creationId xmlns:a16="http://schemas.microsoft.com/office/drawing/2014/main" id="{2D967813-4BA0-476F-89FD-958ADBD55C69}"/>
              </a:ext>
            </a:extLst>
          </p:cNvPr>
          <p:cNvSpPr>
            <a:spLocks xmlns:a="http://schemas.openxmlformats.org/drawingml/2006/main" noGrp="1"/>
          </p:cNvSpPr>
          <p:nvPr/>
        </p:nvSpPr>
        <p:spPr>
          <a:xfrm xmlns:a="http://schemas.openxmlformats.org/drawingml/2006/main">
            <a:off x="7810500" y="1428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LIVE BEDROCK</a:t>
            </a:r>
          </a:p>
        </p:txBody>
      </p:sp>
      <p:sp>
        <p:nvSpPr>
          <p:cNvPr id="18" name="">
            <a:extLst xmlns:a="http://schemas.openxmlformats.org/drawingml/2006/main">
              <a:ext uri="{FF2B5EF4-FFF2-40B4-BE49-F238E27FC236}">
                <a16:creationId xmlns:a16="http://schemas.microsoft.com/office/drawing/2014/main" id="{43293BFA-B380-4302-BB60-839917F968B4}"/>
              </a:ext>
            </a:extLst>
          </p:cNvPr>
          <p:cNvSpPr>
            <a:spLocks xmlns:a="http://schemas.openxmlformats.org/drawingml/2006/main" noGrp="1"/>
          </p:cNvSpPr>
          <p:nvPr/>
        </p:nvSpPr>
        <p:spPr>
          <a:xfrm xmlns:a="http://schemas.openxmlformats.org/drawingml/2006/main">
            <a:off x="7810500" y="1724025"/>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commerce-terminal-contamination-</a:t>
            </a:r>
          </a:p>
          <a:p xmlns:a="http://schemas.openxmlformats.org/drawingml/2006/main">
            <a:pPr algn="l">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chosen.trycloudflare.com</a:t>
            </a:r>
          </a:p>
        </p:txBody>
      </p:sp>
      <p:sp>
        <p:nvSpPr>
          <p:cNvPr id="19" name="">
            <a:extLst xmlns:a="http://schemas.openxmlformats.org/drawingml/2006/main">
              <a:ext uri="{FF2B5EF4-FFF2-40B4-BE49-F238E27FC236}">
                <a16:creationId xmlns:a16="http://schemas.microsoft.com/office/drawing/2014/main" id="{E708A084-79E5-4269-9A7B-59084FD71B3A}"/>
              </a:ext>
            </a:extLst>
          </p:cNvPr>
          <p:cNvSpPr>
            <a:spLocks xmlns:a="http://schemas.openxmlformats.org/drawingml/2006/main" noGrp="1"/>
          </p:cNvSpPr>
          <p:nvPr/>
        </p:nvSpPr>
        <p:spPr>
          <a:xfrm xmlns:a="http://schemas.openxmlformats.org/drawingml/2006/main">
            <a:off x="7810500" y="2409825"/>
            <a:ext cx="3429000" cy="0"/>
          </a:xfrm>
          <a:prstGeom xmlns:a="http://schemas.openxmlformats.org/drawingml/2006/main" prst="line">
            <a:avLst/>
          </a:prstGeom>
          <a:noFill xmlns:a="http://schemas.openxmlformats.org/drawingml/2006/main"/>
          <a:ln xmlns:a="http://schemas.openxmlformats.org/drawingml/2006/main" w="9525">
            <a:solidFill>
              <a:srgbClr val="08706F"/>
            </a:solidFill>
          </a:ln>
        </p:spPr>
      </p:sp>
      <p:sp>
        <p:nvSpPr>
          <p:cNvPr id="20" name="">
            <a:extLst xmlns:a="http://schemas.openxmlformats.org/drawingml/2006/main">
              <a:ext uri="{FF2B5EF4-FFF2-40B4-BE49-F238E27FC236}">
                <a16:creationId xmlns:a16="http://schemas.microsoft.com/office/drawing/2014/main" id="{C4056107-8435-4799-82AC-C30B645CBD59}"/>
              </a:ext>
            </a:extLst>
          </p:cNvPr>
          <p:cNvSpPr>
            <a:spLocks xmlns:a="http://schemas.openxmlformats.org/drawingml/2006/main" noGrp="1"/>
          </p:cNvSpPr>
          <p:nvPr/>
        </p:nvSpPr>
        <p:spPr>
          <a:xfrm xmlns:a="http://schemas.openxmlformats.org/drawingml/2006/main">
            <a:off x="7810500" y="2571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DURABLE FALLBACK</a:t>
            </a:r>
          </a:p>
        </p:txBody>
      </p:sp>
      <p:sp>
        <p:nvSpPr>
          <p:cNvPr id="21" name="">
            <a:extLst xmlns:a="http://schemas.openxmlformats.org/drawingml/2006/main">
              <a:ext uri="{FF2B5EF4-FFF2-40B4-BE49-F238E27FC236}">
                <a16:creationId xmlns:a16="http://schemas.microsoft.com/office/drawing/2014/main" id="{93C56121-EC9E-4AE0-9B50-8F87F148EAE7}"/>
              </a:ext>
            </a:extLst>
          </p:cNvPr>
          <p:cNvSpPr>
            <a:spLocks xmlns:a="http://schemas.openxmlformats.org/drawingml/2006/main" noGrp="1"/>
          </p:cNvSpPr>
          <p:nvPr/>
        </p:nvSpPr>
        <p:spPr>
          <a:xfrm xmlns:a="http://schemas.openxmlformats.org/drawingml/2006/main">
            <a:off x="7810500" y="2867025"/>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trialguard-5erc.onrender.com</a:t>
            </a:r>
          </a:p>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Two reviewed replay IDs</a:t>
            </a:r>
          </a:p>
        </p:txBody>
      </p:sp>
      <p:sp>
        <p:nvSpPr>
          <p:cNvPr id="22" name="">
            <a:extLst xmlns:a="http://schemas.openxmlformats.org/drawingml/2006/main">
              <a:ext uri="{FF2B5EF4-FFF2-40B4-BE49-F238E27FC236}">
                <a16:creationId xmlns:a16="http://schemas.microsoft.com/office/drawing/2014/main" id="{EDF78FB7-D017-4248-AC23-B5C74DCDE2BB}"/>
              </a:ext>
            </a:extLst>
          </p:cNvPr>
          <p:cNvSpPr>
            <a:spLocks xmlns:a="http://schemas.openxmlformats.org/drawingml/2006/main" noGrp="1"/>
          </p:cNvSpPr>
          <p:nvPr/>
        </p:nvSpPr>
        <p:spPr>
          <a:xfrm xmlns:a="http://schemas.openxmlformats.org/drawingml/2006/main">
            <a:off x="7810500" y="3552825"/>
            <a:ext cx="3429000" cy="0"/>
          </a:xfrm>
          <a:prstGeom xmlns:a="http://schemas.openxmlformats.org/drawingml/2006/main" prst="line">
            <a:avLst/>
          </a:prstGeom>
          <a:noFill xmlns:a="http://schemas.openxmlformats.org/drawingml/2006/main"/>
          <a:ln xmlns:a="http://schemas.openxmlformats.org/drawingml/2006/main" w="9525">
            <a:solidFill>
              <a:srgbClr val="08706F"/>
            </a:solidFill>
          </a:ln>
        </p:spPr>
      </p:sp>
      <p:sp>
        <p:nvSpPr>
          <p:cNvPr id="23" name="">
            <a:extLst xmlns:a="http://schemas.openxmlformats.org/drawingml/2006/main">
              <a:ext uri="{FF2B5EF4-FFF2-40B4-BE49-F238E27FC236}">
                <a16:creationId xmlns:a16="http://schemas.microsoft.com/office/drawing/2014/main" id="{7C1CA53F-4556-44FA-9980-23A7AA31905B}"/>
              </a:ext>
            </a:extLst>
          </p:cNvPr>
          <p:cNvSpPr>
            <a:spLocks xmlns:a="http://schemas.openxmlformats.org/drawingml/2006/main" noGrp="1"/>
          </p:cNvSpPr>
          <p:nvPr/>
        </p:nvSpPr>
        <p:spPr>
          <a:xfrm xmlns:a="http://schemas.openxmlformats.org/drawingml/2006/main">
            <a:off x="7810500" y="3714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ACCESS NOTE</a:t>
            </a:r>
          </a:p>
        </p:txBody>
      </p:sp>
      <p:sp>
        <p:nvSpPr>
          <p:cNvPr id="24" name="">
            <a:extLst xmlns:a="http://schemas.openxmlformats.org/drawingml/2006/main">
              <a:ext uri="{FF2B5EF4-FFF2-40B4-BE49-F238E27FC236}">
                <a16:creationId xmlns:a16="http://schemas.microsoft.com/office/drawing/2014/main" id="{1F853D2B-6E1D-4C09-A58E-02BB37199649}"/>
              </a:ext>
            </a:extLst>
          </p:cNvPr>
          <p:cNvSpPr>
            <a:spLocks xmlns:a="http://schemas.openxmlformats.org/drawingml/2006/main" noGrp="1"/>
          </p:cNvSpPr>
          <p:nvPr/>
        </p:nvSpPr>
        <p:spPr>
          <a:xfrm xmlns:a="http://schemas.openxmlformats.org/drawingml/2006/main">
            <a:off x="7810500" y="4010025"/>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Live route needs this laptop awake; Render may cold-start</a:t>
            </a:r>
          </a:p>
        </p:txBody>
      </p:sp>
      <p:sp>
        <p:nvSpPr>
          <p:cNvPr id="25" name="">
            <a:extLst xmlns:a="http://schemas.openxmlformats.org/drawingml/2006/main">
              <a:ext uri="{FF2B5EF4-FFF2-40B4-BE49-F238E27FC236}">
                <a16:creationId xmlns:a16="http://schemas.microsoft.com/office/drawing/2014/main" id="{DEC864CB-07EF-4582-9BBC-49B0DE1AB97A}"/>
              </a:ext>
            </a:extLst>
          </p:cNvPr>
          <p:cNvSpPr>
            <a:spLocks xmlns:a="http://schemas.openxmlformats.org/drawingml/2006/main" noGrp="1"/>
          </p:cNvSpPr>
          <p:nvPr/>
        </p:nvSpPr>
        <p:spPr>
          <a:xfrm xmlns:a="http://schemas.openxmlformats.org/drawingml/2006/main">
            <a:off x="7810500" y="4695825"/>
            <a:ext cx="3429000" cy="0"/>
          </a:xfrm>
          <a:prstGeom xmlns:a="http://schemas.openxmlformats.org/drawingml/2006/main" prst="line">
            <a:avLst/>
          </a:prstGeom>
          <a:noFill xmlns:a="http://schemas.openxmlformats.org/drawingml/2006/main"/>
          <a:ln xmlns:a="http://schemas.openxmlformats.org/drawingml/2006/main" w="9525">
            <a:solidFill>
              <a:srgbClr val="08706F"/>
            </a:solidFill>
          </a:ln>
        </p:spPr>
      </p:sp>
      <p:sp>
        <p:nvSpPr>
          <p:cNvPr id="26" name="">
            <a:extLst xmlns:a="http://schemas.openxmlformats.org/drawingml/2006/main">
              <a:ext uri="{FF2B5EF4-FFF2-40B4-BE49-F238E27FC236}">
                <a16:creationId xmlns:a16="http://schemas.microsoft.com/office/drawing/2014/main" id="{27F82C93-0A86-4067-A9E2-98A1165D77CD}"/>
              </a:ext>
            </a:extLst>
          </p:cNvPr>
          <p:cNvSpPr>
            <a:spLocks xmlns:a="http://schemas.openxmlformats.org/drawingml/2006/main" noGrp="1"/>
          </p:cNvSpPr>
          <p:nvPr/>
        </p:nvSpPr>
        <p:spPr>
          <a:xfrm xmlns:a="http://schemas.openxmlformats.org/drawingml/2006/main">
            <a:off x="7810500" y="4857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NEXT PRODUCTION</a:t>
            </a:r>
          </a:p>
        </p:txBody>
      </p:sp>
      <p:sp>
        <p:nvSpPr>
          <p:cNvPr id="27" name="">
            <a:extLst xmlns:a="http://schemas.openxmlformats.org/drawingml/2006/main">
              <a:ext uri="{FF2B5EF4-FFF2-40B4-BE49-F238E27FC236}">
                <a16:creationId xmlns:a16="http://schemas.microsoft.com/office/drawing/2014/main" id="{F492216B-ED70-4FE5-8519-13CB6D9C882D}"/>
              </a:ext>
            </a:extLst>
          </p:cNvPr>
          <p:cNvSpPr>
            <a:spLocks xmlns:a="http://schemas.openxmlformats.org/drawingml/2006/main" noGrp="1"/>
          </p:cNvSpPr>
          <p:nvPr/>
        </p:nvSpPr>
        <p:spPr>
          <a:xfrm xmlns:a="http://schemas.openxmlformats.org/drawingml/2006/main">
            <a:off x="7810500" y="5153025"/>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Managed AWS compute plus shared storage and rate limits</a:t>
            </a:r>
          </a:p>
        </p:txBody>
      </p:sp>
      <p:sp>
        <p:nvSpPr>
          <p:cNvPr id="28" name="">
            <a:extLst xmlns:a="http://schemas.openxmlformats.org/drawingml/2006/main">
              <a:ext uri="{FF2B5EF4-FFF2-40B4-BE49-F238E27FC236}">
                <a16:creationId xmlns:a16="http://schemas.microsoft.com/office/drawing/2014/main" id="{8EC4D98B-9A13-4B6C-8B61-5712E124A8E9}"/>
              </a:ext>
            </a:extLst>
          </p:cNvPr>
          <p:cNvSpPr>
            <a:spLocks xmlns:a="http://schemas.openxmlformats.org/drawingml/2006/main" noGrp="1"/>
          </p:cNvSpPr>
          <p:nvPr/>
        </p:nvSpPr>
        <p:spPr>
          <a:xfrm xmlns:a="http://schemas.openxmlformats.org/drawingml/2006/main">
            <a:off x="628650" y="58674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E56B52"/>
                </a:solidFill>
                <a:latin typeface="Avenir Next"/>
                <a:ea typeface="Avenir Next"/>
                <a:cs typeface="Avenir Next"/>
              </a:defRPr>
            </a:pPr>
            <a:r>
              <a:rPr sz="1275" b="1">
                <a:solidFill>
                  <a:srgbClr val="E56B52"/>
                </a:solidFill>
                <a:latin typeface="Avenir Next"/>
                <a:ea typeface="Avenir Next"/>
                <a:cs typeface="Avenir Next"/>
              </a:rPr>
              <a:t>Hackathon decision-support demonstration. Not clinical, regulatory, legal, or medical advice.</a:t>
            </a:r>
          </a:p>
        </p:txBody>
      </p:sp>
      <p:sp>
        <p:nvSpPr>
          <p:cNvPr id="29" name="">
            <a:extLst xmlns:a="http://schemas.openxmlformats.org/drawingml/2006/main">
              <a:ext uri="{FF2B5EF4-FFF2-40B4-BE49-F238E27FC236}">
                <a16:creationId xmlns:a16="http://schemas.microsoft.com/office/drawing/2014/main" id="{23F2E1A4-877D-4499-8254-72DEFDE9D497}"/>
              </a:ext>
            </a:extLst>
          </p:cNvPr>
          <p:cNvSpPr>
            <a:spLocks xmlns:a="http://schemas.openxmlformats.org/drawingml/2006/main" noGrp="1"/>
          </p:cNvSpPr>
          <p:nvPr/>
        </p:nvSpPr>
        <p:spPr>
          <a:xfrm xmlns:a="http://schemas.openxmlformats.org/drawingml/2006/main">
            <a:off x="609600" y="64389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TRIALGUARD  ·  PRESENTATION DECK</a:t>
            </a:r>
          </a:p>
        </p:txBody>
      </p:sp>
      <p:sp>
        <p:nvSpPr>
          <p:cNvPr id="30" name="">
            <a:extLst xmlns:a="http://schemas.openxmlformats.org/drawingml/2006/main">
              <a:ext uri="{FF2B5EF4-FFF2-40B4-BE49-F238E27FC236}">
                <a16:creationId xmlns:a16="http://schemas.microsoft.com/office/drawing/2014/main" id="{050C0EB2-EC91-4108-B7A8-480F4CA68DAF}"/>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06</a:t>
            </a:r>
          </a:p>
        </p:txBody>
      </p:sp>
    </p:spTree>
    <p:extLst>
      <p:ext uri="{BB962C8B-B14F-4D97-AF65-F5344CB8AC3E}">
        <p14:creationId xmlns:p14="http://schemas.microsoft.com/office/powerpoint/2010/main" val="2069745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2026-09-26T21:32:57.2260000Z</dcterms:created>
  <dcterms:modified xsi:type="dcterms:W3CDTF">2026-09-26T21:32:57.2260000Z</dcterms:modified>
</coreProperties>
</file>