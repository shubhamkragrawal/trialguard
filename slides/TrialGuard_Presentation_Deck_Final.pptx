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1a6de7b5924960" /><Relationship Type="http://schemas.openxmlformats.org/officeDocument/2006/relationships/extended-properties" Target="/docProps/app.xml" Id="Rd29f8ade42f7499e" /><Relationship Type="http://schemas.openxmlformats.org/officeDocument/2006/relationships/officeDocument" Target="/ppt/presentation.xml" Id="R40921171b1b946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93619620b64dac"/>
  </p:sldMasterIdLst>
  <p:notesMasterIdLst>
    <p:notesMasterId xmlns:r="http://schemas.openxmlformats.org/officeDocument/2006/relationships" r:id="R34fbc5a8549d4429"/>
  </p:notesMasterIdLst>
  <p:sldIdLst>
    <p:sldId xmlns:r="http://schemas.openxmlformats.org/officeDocument/2006/relationships" id="256" r:id="R79b7d0a4dfbc4b44"/>
    <p:sldId xmlns:r="http://schemas.openxmlformats.org/officeDocument/2006/relationships" id="257" r:id="R17e9d2a459b341b9"/>
    <p:sldId xmlns:r="http://schemas.openxmlformats.org/officeDocument/2006/relationships" id="258" r:id="Rbe9aca0474af49ef"/>
    <p:sldId xmlns:r="http://schemas.openxmlformats.org/officeDocument/2006/relationships" id="259" r:id="R5b973ecc342f4c00"/>
    <p:sldId xmlns:r="http://schemas.openxmlformats.org/officeDocument/2006/relationships" id="260" r:id="Rad5ca54d47214357"/>
    <p:sldId xmlns:r="http://schemas.openxmlformats.org/officeDocument/2006/relationships" id="261" r:id="Rab62d91e75a54e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dd46118684218" /><Relationship Type="http://schemas.openxmlformats.org/officeDocument/2006/relationships/slideMaster" Target="/ppt/slideMasters/slideMaster1.xml" Id="R7393619620b64dac" /><Relationship Type="http://schemas.openxmlformats.org/officeDocument/2006/relationships/notesMaster" Target="/ppt/notesMasters/notesMaster1.xml" Id="R34fbc5a8549d4429" /><Relationship Type="http://schemas.openxmlformats.org/officeDocument/2006/relationships/presProps" Target="/ppt/presProps.xml" Id="R2405e4f41a72464b" /><Relationship Type="http://schemas.openxmlformats.org/officeDocument/2006/relationships/tableStyles" Target="/ppt/tableStyles.xml" Id="R4357c00448c74d78" /><Relationship Type="http://schemas.openxmlformats.org/officeDocument/2006/relationships/slide" Target="/ppt/slides/slide1.xml" Id="R79b7d0a4dfbc4b44" /><Relationship Type="http://schemas.openxmlformats.org/officeDocument/2006/relationships/slide" Target="/ppt/slides/slide2.xml" Id="R17e9d2a459b341b9" /><Relationship Type="http://schemas.openxmlformats.org/officeDocument/2006/relationships/slide" Target="/ppt/slides/slide3.xml" Id="Rbe9aca0474af49ef" /><Relationship Type="http://schemas.openxmlformats.org/officeDocument/2006/relationships/slide" Target="/ppt/slides/slide4.xml" Id="R5b973ecc342f4c00" /><Relationship Type="http://schemas.openxmlformats.org/officeDocument/2006/relationships/slide" Target="/ppt/slides/slide5.xml" Id="Rad5ca54d47214357" /><Relationship Type="http://schemas.openxmlformats.org/officeDocument/2006/relationships/slide" Target="/ppt/slides/slide6.xml" Id="Rab62d91e75a54e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12a5beb04940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7ff4627474acc" /><Relationship Type="http://schemas.openxmlformats.org/officeDocument/2006/relationships/notesMaster" Target="/ppt/notesMasters/notesMaster1.xml" Id="Rdb1757927ea149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6e95aa6f174978" /><Relationship Type="http://schemas.openxmlformats.org/officeDocument/2006/relationships/notesMaster" Target="/ppt/notesMasters/notesMaster1.xml" Id="R3e65d843af264c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ec93cb521a4a01" /><Relationship Type="http://schemas.openxmlformats.org/officeDocument/2006/relationships/notesMaster" Target="/ppt/notesMasters/notesMaster1.xml" Id="R07ea3496ca2d40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204a4eeeb941ef" /><Relationship Type="http://schemas.openxmlformats.org/officeDocument/2006/relationships/notesMaster" Target="/ppt/notesMasters/notesMaster1.xml" Id="R5f2b1830a62940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38d9d86de34147" /><Relationship Type="http://schemas.openxmlformats.org/officeDocument/2006/relationships/notesMaster" Target="/ppt/notesMasters/notesMaster1.xml" Id="R14fffcf650a743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5f49932681481f" /><Relationship Type="http://schemas.openxmlformats.org/officeDocument/2006/relationships/notesMaster" Target="/ppt/notesMasters/notesMaster1.xml" Id="R3e43791fd3b6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1 and 15. TrialGuard is a bounded decision-support demonstration, not a clinical decision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1, 4, and 7. No external statistics appear on this template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4 and 15. Product image: slides/assets/trialguard-report.png, captured from the implemented checked-report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implemented TrialGuard runtime and deployment package, 2026-09-26. This is the intended AWS production design. The current workshop role cannot provision App Runner. The diagram uses editable native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values supplied from the stable TrialGuard build on 2026-09-26: 52/52 tests pass; 7/7 synthetic offline behaviors matched; one NCT06860815 live smoke test produced a full release, 14/14 checks, 3 calls, 10,821 input tokens, 1,758 output tokens, and 11.77 seconds elapsed. Estimated cost uses Amazon Nova Lite Standard rates of $0.06 per million input tokens and $0.24 per million output tokens, verified 2026-09-26. One live sample is not a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1, 3, 9, 17, and 18, plus deployment status verified 2026-09-26. The public showcase is live at https://shubhamkragrawal.github.io/TrialGuard/ and uses static GitHub Pages because the workshop IAM role blocks App Runner provisioning. The App Runner package is ready for an authorized AWS account. Keep the intended-use boundary in the final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ad64c983e43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eb12d807194936" /><Relationship Type="http://schemas.openxmlformats.org/officeDocument/2006/relationships/slideLayout" Target="/ppt/slideLayouts/slideLayout1.xml" Id="Rae5e3cf4528746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5e3cf4528746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b10b0425948d9" /><Relationship Type="http://schemas.openxmlformats.org/officeDocument/2006/relationships/notesSlide" Target="/ppt/notesSlides/notesSlide1.xml" Id="R254704f7fe3742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205c8863d4ac7" /><Relationship Type="http://schemas.openxmlformats.org/officeDocument/2006/relationships/notesSlide" Target="/ppt/notesSlides/notesSlide2.xml" Id="R8159ecd162154e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4bb58a9034384" /><Relationship Type="http://schemas.openxmlformats.org/officeDocument/2006/relationships/image" Target="/ppt/media/image.png" Id="R2920744f944b4f1a" /><Relationship Type="http://schemas.openxmlformats.org/officeDocument/2006/relationships/notesSlide" Target="/ppt/notesSlides/notesSlide3.xml" Id="Rea148775619e40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e7019786a48e4" /><Relationship Type="http://schemas.openxmlformats.org/officeDocument/2006/relationships/notesSlide" Target="/ppt/notesSlides/notesSlide4.xml" Id="R8b679954acb84b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fcd8a5caf4151" /><Relationship Type="http://schemas.openxmlformats.org/officeDocument/2006/relationships/notesSlide" Target="/ppt/notesSlides/notesSlide5.xml" Id="R067416fc74604a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201aff93a42d2" /><Relationship Type="http://schemas.openxmlformats.org/officeDocument/2006/relationships/notesSlide" Target="/ppt/notesSlides/notesSlide6.xml" Id="R79b4741a5ca0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D2255-3F7C-4ECF-8333-E206070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0"/>
            <a:ext cx="3095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199AA-AB73-41DD-B8C8-89782201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B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12358-6DDD-42C7-8436-1B143ABB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HACKATHON DECISION-SUPPORT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D49BD-E9DD-4F8C-81E5-C59ED863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TrialGuard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7CA13-0924-4954-A018-A7F80686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7334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Evidence-linked operational review questions from public trial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878AB-1FC8-4DBD-8AC1-AFF5B209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EEB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308A4-5D20-47F8-8EFA-F51720D5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For clinical operations and trial-review 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1F691-8639-4A80-B6A7-5D813CCA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47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PUBLIC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D29C8-521C-44AC-A2A2-FC2343A5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BOUNDED COHORT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23F7A-D3BB-496A-B73B-D3B677D5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RELEASE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D21FA-9A5A-4EC1-A3A3-BC2C3B6C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EB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1C7E9-1F66-4EAC-ACE6-48FAAC22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EB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89DD2-E400-4370-A922-23D828A2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481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EB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A6E28-978B-4810-AEC0-3F81D0D9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IMPLEMENTED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151531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6B554-14C1-4958-B208-3DE5BBD9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5AAE3-8B45-4750-92DD-EECBCE96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The trial review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53A8D-CC05-4954-BA7A-5C1D37D4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Operational review starts with fragments spread across public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E73B2-48E0-43CB-8D64-31E2AC5B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1D3D3-9656-4C8B-854B-78BC3FAB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50C7B-CCB3-460D-9972-68BACCE7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A0F4E-1D5E-4D2C-A5B9-AA8337AB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A trial status has little meaning without a bounded peer cohort.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77BD1-43D0-4CEC-A556-A9C56A56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2CC79-994F-41B4-9FA9-5F6ED0D9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383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A5387-BB4F-4AC2-9A56-20E3B232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76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COMPARABILITY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7F0FC-6F64-47D3-8ED6-19B086FF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05175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Phase, condition, intervention, and design vary across candidate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05EBD-66A4-43EC-A15D-F01269FF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190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EBF77-5FA0-4661-B386-4951ACAE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383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F928F-8919-4A0B-BFC4-DD266525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0940D-3C37-463F-88AE-8017109D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Stop reasons must trace back to the exact source field and registry record.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27611-A355-41C6-8323-F0E537AB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9A0BB-C698-43A0-B0DA-296A9025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A useful review keeps source links visible and leaves the decision with a qualified reviewer. Uncertainty stays explicit.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2CB8A-CA19-4152-83BA-8618A405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TRIALGUARD  ·  PRESENTATION 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0CC50-01C2-4917-B20D-D8127C42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597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806636-6FB0-4F09-9423-A92E3E1C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DE1B7-8C18-4B74-A388-385AEED0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Product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B9401-7304-49CA-B641-88DD67A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One NCT ID becomes a checked review brief with visible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53333-CEF0-4A3B-8FB0-A86F7D7C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DCC78-C346-42A1-A5C6-D76AA50C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A55A7-57AD-40EC-9E58-AC84BD62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2D574-DB2F-4793-9649-A7B0411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F06D8-26FF-4F15-B8E1-B430E176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Confirm the NCT ID before any model 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A9CA1-5B6B-4209-9D25-62FE20BD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622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A8165-24EC-4A6B-A69A-E168F76A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BE16F-4CC7-4029-948A-048D97CB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6268F-E7C2-4A2E-AA60-332FEC51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981BB-175D-4206-A81E-7EE61759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718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Load an allowlisted public trial record.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C2746-51D3-45ED-9F90-555F400C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051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59610-1245-44B5-8E66-D409A601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BAB9C-3E9E-4764-82E3-F6BE3C45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C8D70-2300-4C90-966E-107CCE41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05563-6B50-4310-BADA-1FF7B4B0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Build the cohort and rank stopped precedents.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3FA90-7C59-425F-926B-F85FE40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481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5988B-4113-4BAF-AB32-4BE2ED4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CEDE8-BA04-43AD-BEE7-F6A7319C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12B66-859D-4B7E-B1A7-918131DD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Draft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5583F-8BC3-4286-BAFD-F3C9516B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577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Create evidence-linked review questions.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8A5C0-92E7-406A-A656-7EE3FE2E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910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4B00D1-576B-475B-99A9-0BCE5057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2EBD01-00D4-454C-93CC-9DDDD2D6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72C51B-FE5A-4ED9-977E-061E99B1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Release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00067-6B50-4B77-AA1C-AC88E540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006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Challenge the draft and apply deterministic checks.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55079-63FC-44A3-A84F-D06B5CA7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6334125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9"/>
          </a:solidFill>
          <a:ln xmlns:a="http://schemas.openxmlformats.org/drawingml/2006/main" w="19050">
            <a:solidFill>
              <a:srgbClr val="0A8A8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B0EF6-41A2-48F0-84D3-BC63ABA9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859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CHECKED DEMO REPORT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0744f944b4f1a"/>
          <a:stretch xmlns:a="http://schemas.openxmlformats.org/drawingml/2006/main"/>
        </p:blipFill>
        <p:spPr>
          <a:xfrm xmlns:a="http://schemas.openxmlformats.org/drawingml/2006/main">
            <a:off x="5314950" y="2154436"/>
            <a:ext cx="6181725" cy="3863578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175BE8-4B20-461B-B298-D9AEA7FE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TRIALGUARD  ·  PRESENTATION DECK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7E950D-EEB5-41A6-8554-4637898B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6493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E2D23B-7BF6-459B-B883-B6140029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25DDF-8528-47F8-AB55-535F2E9A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58368-049E-43E5-8CB3-53F8E6CA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The intended AWS design keeps model output inside a deterministic release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294E2-4562-4907-8DEE-2C374DAD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93FB1-B98A-4257-A2FF-E736E8B4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4317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EBE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BA938-22E7-4BF0-8E85-8B6CEBC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4317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EB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DE2D1-0D05-480E-84D8-DB9CA791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4317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EBE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E97DD-62B8-43B2-9F4E-1A3AF721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4317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EB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F9F2A-FD7A-468B-AF4F-2792D80B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352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AF9"/>
          </a:solidFill>
          <a:ln xmlns:a="http://schemas.openxmlformats.org/drawingml/2006/main" w="19050">
            <a:solidFill>
              <a:srgbClr val="0A8A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A9DE6-C474-4B0D-BA10-3AEA9074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5EB2C-6759-4385-8419-463EBF7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70E39-4549-4680-A723-3A149BEA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Public review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B9823-9465-449C-99E7-DB7DAF64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336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19050">
            <a:solidFill>
              <a:srgbClr val="0A8A8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574D8-3D6D-437C-9331-DAC25AFE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5742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AWS APP RUNNER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31643-91DA-4E2D-9128-BAC31F6F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D96D0-CC6E-4B59-B1BA-F91F00C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Container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3253C-BB02-4768-B5F0-0802224E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238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A2538"/>
          </a:solidFill>
          <a:ln xmlns:a="http://schemas.openxmlformats.org/drawingml/2006/main" w="19050">
            <a:solidFill>
              <a:srgbClr val="0A25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7F416-9364-4411-8E7A-D4988D15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57425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1896C-F880-417B-92B0-C7EC0816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Bounded orchestrator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97AFF-FCE1-46AB-BADF-F54D90A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215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Call limits and one revision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ABEB6-3E59-451F-BB2D-E6FF79C2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2495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1E2D7-8453-4DB1-B766-FCACBD9E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57425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56B5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56B52"/>
                </a:solidFill>
                <a:latin typeface="Avenir Next"/>
                <a:ea typeface="Avenir Next"/>
                <a:cs typeface="Avenir Next"/>
              </a:rPr>
              <a:t>DETERMINISTIC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885EC-2CD3-4EC0-9CC8-9CD36C76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Release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3D670-1F52-415B-B98A-4D0DAB59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81300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Citation · numeric · language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72A90A-85AD-4A5C-AD0E-B576D720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33600"/>
            <a:ext cx="1333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19050">
            <a:solidFill>
              <a:srgbClr val="E56B5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D3227-4079-44E3-BCE5-70CEC863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574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56B5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56B52"/>
                </a:solidFill>
                <a:latin typeface="Avenir Next"/>
                <a:ea typeface="Avenir Next"/>
                <a:cs typeface="Avenir Next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D0B94-1F29-4CCA-8F08-D93AF90D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76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CFAB4-114B-4F23-8EBF-E82D87BC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81300"/>
            <a:ext cx="110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Human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1AAF19-77AA-4CA8-BAE1-4DC47790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2420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7ED03-BD7E-4D1C-BCB1-057618B1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6DE3C-FD85-42A0-B83A-3014DC50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B03C07-86B2-4918-9FE3-71E2ED54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10DD6B-24BF-4499-8AEC-BA25897D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05225"/>
            <a:ext cx="1714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EEBE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7B095D-6D5E-4F48-94B7-9CF223C0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705225"/>
            <a:ext cx="1714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EEBE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2C8340-DCBA-4AA9-918B-AAD39FFA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READS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637A9-DC52-4175-8682-4B190DB4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86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INVOKES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97FF5D-9C10-42C6-9028-A2D7E1CA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76675"/>
            <a:ext cx="2400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AF9"/>
          </a:solidFill>
          <a:ln xmlns:a="http://schemas.openxmlformats.org/drawingml/2006/main" w="19050">
            <a:solidFill>
              <a:srgbClr val="0A8A8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6CA0B3-E474-4254-A9F7-C13AAF6B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PUBLIC 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FA144A-374A-4B1A-981F-D32FBF3A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19575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ClinicalTrials.gov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845FF1-4ADF-4309-B379-28F4A47E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2437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Allowlisted fields · bounded cohort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FE25CC-EECC-4142-A7FD-4D4B325C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29050"/>
            <a:ext cx="5829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5FAF9"/>
          </a:solidFill>
          <a:ln xmlns:a="http://schemas.openxmlformats.org/drawingml/2006/main" w="19050">
            <a:solidFill>
              <a:srgbClr val="0A8A8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DDFE80-AD70-4F95-9C4C-DF582202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62400"/>
            <a:ext cx="5448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AMAZON BEDROCK  ·  US-EAST-1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E928A1-8C8A-4FF2-AC6A-0946FF4C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43400"/>
            <a:ext cx="1638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E1463F-F623-4FAF-8A96-A2C1FFEF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9600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322E10-AADB-4EE0-B0EA-7B2602D2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Grounded facts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A7AA40-7B26-449F-BB89-B3D05845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43400"/>
            <a:ext cx="1752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3FF489-07FE-4CEB-B54E-44B1C219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COORDINATOR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90D3ED-677B-4163-9B41-A15D6060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0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Review questions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6F6065-5A12-4689-991A-6601C11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43400"/>
            <a:ext cx="1752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ACAD53-2FFF-452C-BA7E-80686E80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196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ECD6B7-202E-4330-A21F-D8BB1A52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10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Adversarial review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80E7FE-DE30-49B7-AB5E-2EA09D75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521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1A980B-B799-48B0-8005-64497637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IAM WORKLOAD ROLE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FE442A-5C96-4EAD-852B-6305D853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No embedded credentials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720B1B-98D3-4024-BD05-BCD409A3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05425"/>
            <a:ext cx="5600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11B788-9D00-45F3-BAC5-EAAA1B4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578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CLOUDWATCH METADATA-ONLY LOGS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E31545-D44A-4A77-8771-CEBAFCBC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95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Run ID, latency, token counts, and gate status only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F94D05-8F60-4129-AB43-8BB7AB2E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TRIALGUARD  ·  PRESENTATION DECK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331511-5551-47AC-9F03-6A1AEAC0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7791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596E5D-A55A-4CDD-ADC3-63A3A3B9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80359-64C1-45B3-A6A9-0F7985A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Evaluation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D7202-3077-4F5D-8A85-DBB47851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Repeatable checks and one live smoke test show the current implementation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764AF-5999-40CB-8CC0-164E0277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09A74-DB74-4175-B1E1-49FF0996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AUTOMATED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FDB8B-0893-4534-B37C-10BDB914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52/52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BC735-960A-4968-AB9C-1F55675C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tests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ABAE7-7F88-46A7-98B2-92008A85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7B4BD-AC45-43CC-BBDA-06D4A1CB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7/7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13F55-911E-4836-B0FA-E87F51FC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synthetic offline evaluation behaviors matched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70154-96EC-4B98-80A8-31E45404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Cases cover invalid IDs, sparse evidence, prompt injection, fabricated citations, and numeric mismatches.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1A201-8D8E-416E-9297-47024449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574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6D73D-B638-4460-BC49-F79567D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14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6B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56B52"/>
                </a:solidFill>
                <a:latin typeface="Avenir Next"/>
                <a:ea typeface="Avenir Next"/>
                <a:cs typeface="Avenir Next"/>
              </a:rPr>
              <a:t>LIVE SMOKE TEST  ·  ONE 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F60A1-ECDD-4D73-8B56-A4ECA4F8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NCT06860815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17520-5EB8-476A-957C-B7A10D21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57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Full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5F84F-0282-4D81-AC35-74767589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62275"/>
            <a:ext cx="2828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14/14 checks 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11EC0-745B-4729-B700-FCFB9A91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7F1EB-4FF9-435C-B1E3-5AF95B1F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433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DF3A2-5B87-4744-B70F-5F8F6D82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52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BEDROCK CALLS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17B95-540F-425C-AE1E-3E041B5F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2427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39961-551F-4E8B-A917-3882A0F4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433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10,821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0D77A-D344-49C6-9317-FED931A7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52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INPUT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F8B52-EC91-44B9-AA41-436B705E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97596-42E1-47AC-9D37-B0AA2CB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433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1,758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456B82-5874-458A-9772-A5859FCF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52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OUTPUT TOKENS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FDF104-4295-4C07-A163-1440D56A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2427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2412A-AD7D-410A-8C1C-D6905962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433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11.77 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1723C8-09AA-434E-BC10-197085BB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52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ELAPSED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B4839A-CF46-44DC-9E6E-75B44CC0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0"/>
            <a:ext cx="5810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E79D7-B268-47B0-BAB1-65D6BC9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053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$0.001071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259217-29E5-4B8D-9256-605656BD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9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estimated Bedrock model cost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919FB5-39F0-4C68-9006-FA2BCCE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339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Nova Lite Standard: $0.06/M input and $0.24/M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689EDA-C044-45FB-95E2-0AEB6128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5626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56B5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56B52"/>
                </a:solidFill>
                <a:latin typeface="Avenir Next"/>
                <a:ea typeface="Avenir Next"/>
                <a:cs typeface="Avenir Next"/>
              </a:rPr>
              <a:t>Rates verified 2026-09-26. One live sample, not a benchmark.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80A72E-1851-429E-8970-CA239A83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TRIALGUARD  ·  PRESENTATION DECK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872ED7-8598-4B7C-BBB7-61D0360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4068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1D85DE-E01E-46B2-ABA2-55306D33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E1DB2-F9EC-4E26-A829-6AD6FFDA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B007B-797C-4C0E-8520-C73F62A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Limits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DD009-53FE-4CB2-944F-9E3F4DB6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CURRENT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56847-E047-4B32-AEF2-B8C223D6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Public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AD95D-2048-4179-98AC-3F0D6367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Selected, allowlisted ClinicalTrials.gov fields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6F360-75A0-4588-A627-2C568CE8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A4931-82BE-4FAC-8851-C61AF9DC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Sensitive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AF4B3-C02B-435C-9662-034FF54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No PHI or confidential protocol uploads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A62AB-9D63-4034-96E8-D22C39DF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44325-39F4-4349-B8E2-53CA9D35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Decision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AE814-8E92-4C06-A67E-7BB4189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No prediction, design recommendation, or clinical advice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66A29-25DF-4A43-99C1-2304D5DE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9C732-1D01-4A2B-AF46-069554D5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Accountability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EBE41-6357-4395-B6DB-BC578CA7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A qualified reviewer makes the final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6FDF2-0028-4EF8-9439-D1B5DA7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28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DEPLOYMENT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38120-AC3F-4582-B911-3BC3BEED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PUBLIC SHOWCASE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0001C-7C88-4201-AFCB-D5582E5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2402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Live public demo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shubhamkragrawal.github.io/TrialGuard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585CC-FABE-4D6D-9703-FC602B1E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98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06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5300E-8C0E-40CC-A208-4528DF96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PRODUCTION TARGET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D55A7-F614-436B-931A-66DA567B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6702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FastAPI on AWS App Runner with Bedrock in us-east-1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7059C-27AD-4584-A8E2-E0FC2BE6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528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06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1E8F9-4D69-40B2-B600-289D049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CURRENT CONSTRAINT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03EAA-C652-4BA1-ADFE-98388796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workshop IAM role blocks App Runner provisioning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79608-D396-41B1-97F1-344EE045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958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06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69937-F8F1-4676-8F21-EC018246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PACKAGE 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1A171-6E4C-486F-9685-946B1FD8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5302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Ready for deployment from an authorized AWS account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1E5AA-B44F-4808-AC8F-752F5598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6B5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56B52"/>
                </a:solidFill>
                <a:latin typeface="Avenir Next"/>
                <a:ea typeface="Avenir Next"/>
                <a:cs typeface="Avenir Next"/>
              </a:rPr>
              <a:t>Hackathon decision-support demonstration. Not clinical, regulatory, legal, or medical advice.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31439-6C27-4D70-A604-BE9FBD30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TRIALGUARD  ·  PRESENTATION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5106A9-44BE-447E-A99E-D71D496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0810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2026-09-26T19:47:36.4450000Z</dcterms:created>
  <dcterms:modified xsi:type="dcterms:W3CDTF">2026-09-26T19:47:36.4450000Z</dcterms:modified>
</coreProperties>
</file>