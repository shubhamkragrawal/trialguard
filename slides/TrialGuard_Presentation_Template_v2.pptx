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3245d8ab342df" /><Relationship Type="http://schemas.openxmlformats.org/officeDocument/2006/relationships/extended-properties" Target="/docProps/app.xml" Id="R57c2a214cfbe45ee" /><Relationship Type="http://schemas.openxmlformats.org/officeDocument/2006/relationships/officeDocument" Target="/ppt/presentation.xml" Id="R0860dad467d0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410daf0dd449d"/>
  </p:sldMasterIdLst>
  <p:notesMasterIdLst>
    <p:notesMasterId xmlns:r="http://schemas.openxmlformats.org/officeDocument/2006/relationships" r:id="Ra02c94a46b67491b"/>
  </p:notesMasterIdLst>
  <p:sldIdLst>
    <p:sldId xmlns:r="http://schemas.openxmlformats.org/officeDocument/2006/relationships" id="256" r:id="Rbc83f58df7fd427c"/>
    <p:sldId xmlns:r="http://schemas.openxmlformats.org/officeDocument/2006/relationships" id="257" r:id="R1138ab47d05f48e0"/>
    <p:sldId xmlns:r="http://schemas.openxmlformats.org/officeDocument/2006/relationships" id="258" r:id="Re69665effacb4089"/>
    <p:sldId xmlns:r="http://schemas.openxmlformats.org/officeDocument/2006/relationships" id="259" r:id="R59c9c401cc01454e"/>
    <p:sldId xmlns:r="http://schemas.openxmlformats.org/officeDocument/2006/relationships" id="260" r:id="R44134658ba9a4f02"/>
    <p:sldId xmlns:r="http://schemas.openxmlformats.org/officeDocument/2006/relationships" id="261" r:id="R257d9bca5d5c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1868cc9263443c" /><Relationship Type="http://schemas.openxmlformats.org/officeDocument/2006/relationships/slideMaster" Target="/ppt/slideMasters/slideMaster1.xml" Id="R57a410daf0dd449d" /><Relationship Type="http://schemas.openxmlformats.org/officeDocument/2006/relationships/notesMaster" Target="/ppt/notesMasters/notesMaster1.xml" Id="Ra02c94a46b67491b" /><Relationship Type="http://schemas.openxmlformats.org/officeDocument/2006/relationships/presProps" Target="/ppt/presProps.xml" Id="R387fff1ebfec4edc" /><Relationship Type="http://schemas.openxmlformats.org/officeDocument/2006/relationships/tableStyles" Target="/ppt/tableStyles.xml" Id="Ra1693507a19e4f50" /><Relationship Type="http://schemas.openxmlformats.org/officeDocument/2006/relationships/slide" Target="/ppt/slides/slide1.xml" Id="Rbc83f58df7fd427c" /><Relationship Type="http://schemas.openxmlformats.org/officeDocument/2006/relationships/slide" Target="/ppt/slides/slide2.xml" Id="R1138ab47d05f48e0" /><Relationship Type="http://schemas.openxmlformats.org/officeDocument/2006/relationships/slide" Target="/ppt/slides/slide3.xml" Id="Re69665effacb4089" /><Relationship Type="http://schemas.openxmlformats.org/officeDocument/2006/relationships/slide" Target="/ppt/slides/slide4.xml" Id="R59c9c401cc01454e" /><Relationship Type="http://schemas.openxmlformats.org/officeDocument/2006/relationships/slide" Target="/ppt/slides/slide5.xml" Id="R44134658ba9a4f02" /><Relationship Type="http://schemas.openxmlformats.org/officeDocument/2006/relationships/slide" Target="/ppt/slides/slide6.xml" Id="R257d9bca5d5c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7f2803d40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803af146d4459" /><Relationship Type="http://schemas.openxmlformats.org/officeDocument/2006/relationships/notesMaster" Target="/ppt/notesMasters/notesMaster1.xml" Id="R14432a9a471943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e27980586b405c" /><Relationship Type="http://schemas.openxmlformats.org/officeDocument/2006/relationships/notesMaster" Target="/ppt/notesMasters/notesMaster1.xml" Id="R366eabb11eb249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61db735a654396" /><Relationship Type="http://schemas.openxmlformats.org/officeDocument/2006/relationships/notesMaster" Target="/ppt/notesMasters/notesMaster1.xml" Id="Ra16e7029436947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41b29f12184cfd" /><Relationship Type="http://schemas.openxmlformats.org/officeDocument/2006/relationships/notesMaster" Target="/ppt/notesMasters/notesMaster1.xml" Id="R7d65cab0217540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ec5c386ad64b16" /><Relationship Type="http://schemas.openxmlformats.org/officeDocument/2006/relationships/notesMaster" Target="/ppt/notesMasters/notesMaster1.xml" Id="R59de6a8faf0642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5cd61cee4d4506" /><Relationship Type="http://schemas.openxmlformats.org/officeDocument/2006/relationships/notesMaster" Target="/ppt/notesMasters/notesMaster1.xml" Id="R781248c6c65240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 and 15. Replace the template label before the final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1, 4, and 7. No external statistics appear on this template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4 and 15. Replace the screenshot placeholder only with a real, checked app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5, 7, 8, and 15. The architecture diagram remains a placeholder by request and should be added after the integrated build stabilizes.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14 and 15. Replace every bracketed placeholder with measured output from the frozen evaluation run. Do not estimate or invent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TrialGuard Development Plan, sections 1, 3, 9, 17, and 18. Keep the intended-use boundary in the final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644421ca04c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3ca2cd70e45fb" /><Relationship Type="http://schemas.openxmlformats.org/officeDocument/2006/relationships/slideLayout" Target="/ppt/slideLayouts/slideLayout1.xml" Id="R3aef3959caed40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f3959caed40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86242d6094876" /><Relationship Type="http://schemas.openxmlformats.org/officeDocument/2006/relationships/notesSlide" Target="/ppt/notesSlides/notesSlide1.xml" Id="R805022fe2c1f47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00ef954a34558" /><Relationship Type="http://schemas.openxmlformats.org/officeDocument/2006/relationships/notesSlide" Target="/ppt/notesSlides/notesSlide2.xml" Id="Rd407d87885a14e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e0e25eb6040d4" /><Relationship Type="http://schemas.openxmlformats.org/officeDocument/2006/relationships/notesSlide" Target="/ppt/notesSlides/notesSlide3.xml" Id="R02f45f477aed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0404136a748ee" /><Relationship Type="http://schemas.openxmlformats.org/officeDocument/2006/relationships/notesSlide" Target="/ppt/notesSlides/notesSlide4.xml" Id="R1034f938943845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1de2486524827" /><Relationship Type="http://schemas.openxmlformats.org/officeDocument/2006/relationships/notesSlide" Target="/ppt/notesSlides/notesSlide5.xml" Id="R5f687ad20e264d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395c6428648ea" /><Relationship Type="http://schemas.openxmlformats.org/officeDocument/2006/relationships/notesSlide" Target="/ppt/notesSlides/notesSlide6.xml" Id="Rcb955b8c210746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E94ED-3B38-49D3-AA93-30B43928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081A9-E6CE-4E6A-B2D3-047E9C2C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B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9C765-BDDC-4B4F-8068-7D4F5B82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HACKATHON DECISION-SUPPORT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35F71-9FCB-4030-BD55-88E4D5C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TrialGuard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B8AEE-8C2E-42A3-8F91-2144C94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733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Evidence-linked operational review questions from public trial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308D0-A140-48C5-A1E0-1574FD6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EE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03CD7-7E34-408D-B43F-67069EEF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For clinical operations and trial-review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6052A-28B4-433D-809B-3D9CB905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47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PUBLIC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D0624-6DFE-4F2B-8D7C-CDAD50AB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BOUNDED COHORT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A0FCC-49C7-49BF-AB26-B6C4D48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RELEASE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FC4B5-842D-4F5B-A9CE-BF04DE57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3DA5F-83C2-4062-A97E-0F93BC5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80D49-68F8-4B99-BC7A-B647FF3E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481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18031-9E91-4188-B0FF-51FEFA18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TEMPLATE FOR REVIEW</a:t>
            </a:r>
          </a:p>
        </p:txBody>
      </p:sp>
    </p:spTree>
    <p:extLst>
      <p:ext uri="{BB962C8B-B14F-4D97-AF65-F5344CB8AC3E}">
        <p14:creationId xmlns:p14="http://schemas.microsoft.com/office/powerpoint/2010/main" val="1812690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24722-7144-48F4-88D0-6FAB4C3B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10237-57DC-4244-A994-05B7802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The trial review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CE6CF-1EAB-4F89-9673-3B3EF92A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Operational review starts with fragments spread across public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1150-4636-4548-BF09-FC0F853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E4A35-C6F9-4991-8B38-69D43ED9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5763C-81AB-42CD-B335-15E38BC5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4AC82-2976-4646-958D-72C0CBCA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A trial status has little meaning without a bounded peer cohort.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07935-AB12-4F43-8F3B-F8C4D42B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7F0EA-B4B8-49B4-A872-AB189B2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383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59408-F297-4D86-B449-42F7CEE6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COMPARABILITY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77AF3-D234-4D64-99F6-ACD2784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05175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Phase, condition, intervention, and design vary across candidate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B03DD-7DDF-490C-AC0E-902667C9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90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D9A5B-CFFA-4877-B2A3-EAEC00E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04557-5D00-4170-A324-B444B133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8CDAE-07D3-442F-B440-7E8CFC9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Stop reasons must trace back to the exact source field and registry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73494-EDF0-4B09-A528-9307CB88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C8751-961D-4973-97F7-E4E5D4B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A useful review keeps source links visible and leaves the decision with a qualified reviewer. Uncertainty stays explicit.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8692A-8A94-4DC5-B0BB-13C42D2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REVIEW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40E77-6C5A-4936-9FC4-3A4A6262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0283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002DA1-2D61-4AA8-9C28-FE7D758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28CBC-41A7-4A9C-A16F-2561868F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Product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F6708-9361-4ABC-84A1-71BD13F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One NCT ID becomes a checked review brief with visible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5F740-9B3A-47CD-8278-DCA1439C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0631-7E42-43BA-9C6F-D8452F1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64434-FCA8-419F-ADA4-2405DDC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E75D6-EDEA-40E2-9674-4163E2B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993D2-5F60-4913-8F8C-99A0EDD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Confirm the NCT ID before any model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48893-56AB-4479-93B3-E7AEA4A6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622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DA0EA-54FA-4C04-808A-615D1099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56BAA-1BAD-44A0-ABD3-D729DFC2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77923-7221-4972-B085-29FA2349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3BB08-34AE-4299-BB4A-4C553AE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Load an allowlisted public trial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7B39D-ABD0-42BC-A800-48A6E9A2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051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B46A8-8A85-4265-B05E-D537A195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FDE2A-A177-489C-B24F-D225545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ACD64-C7C3-4C39-8A5D-B093DC04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D7018-49C3-414B-B1E5-AA8AF12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Build the cohort and rank stopped precedents.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14F0F-7416-4744-A11E-804C817F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481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19F51-0B4F-4619-93B7-6489242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A8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F4C16-4A3B-4DB8-80E6-702BB56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88085-E348-4991-8BB3-2953380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A80EE-173F-484C-8AE2-FD9F44D1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Create evidence-linked review questions.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4AF78-3E08-430D-9B4B-D07F752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910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EB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03C3F-77BE-4753-894E-6854F59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E74CF-FF6B-4054-B4DD-4D5F8887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FB2A9-95A8-4EF9-99FC-9E4AF227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DAB03-BB51-4FA7-86EE-6C221C98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00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Challenge the draft and apply deterministic checks.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54C722-5BA7-470D-BFE1-3618E9C8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6381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9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F3774-D389-440F-BC79-8273578C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5433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Replace with final app screenshot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00979-54CB-47EA-BF04-81300E8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00050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Use the checked success run showing source links, review questions, and release checks.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73B78-31E7-4C32-9112-F06BCB2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336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SCREENSHOT PLACEHOLDER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3F681-4456-475A-BA18-6828C60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REVIEW TEMPLATE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5A877D-7740-49E2-A8BF-834BE0F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0199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6B23C-E6D9-4018-B072-20AB0DDC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1C600-4204-4075-BD88-61B80555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6E264-F197-47A9-BD10-B1137503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Diagram intentionally reserved until the integrated build stabilizes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47CC6-1CDD-44A5-86E8-603A8E2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CDDED-6305-4F3B-AA7C-BF5B594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6676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54A"/>
          </a:solidFill>
          <a:ln xmlns:a="http://schemas.openxmlformats.org/drawingml/2006/main" w="19050">
            <a:solidFill>
              <a:srgbClr val="BEE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E90C4-D495-4338-89C4-5E24730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701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Architecture diagram reserved for the final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4FAE0-A9D3-41C0-BAAB-28520AA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6867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Insert one editable diagram after the runtime, checks, and deployment path are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1D43C-2E73-4698-A52E-D2F6BF5E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INCLUDE IN THE FINAL DIAGRAM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51364-06A0-487E-B601-3A0B71FB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76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ClinicalTrials.gov retrieval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Allowlist and cohort logic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Evidence, Coordinator, and Challenge roles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Citation and numeric release gates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5354A"/>
                </a:solidFill>
                <a:latin typeface="Avenir Next"/>
                <a:ea typeface="Avenir Next"/>
                <a:cs typeface="Avenir Next"/>
              </a:rPr>
              <a:t>Qualified human decision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3FD3-1598-4827-8480-66FBF10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610225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5547D-C11F-4337-8ACD-0A6520C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4832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Do not add final service boundaries yet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6601B-AF81-450A-A867-26F00660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REVIEW TEMPLATE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4DF03-7BE8-437A-94BA-AE94F6F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0975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AFA42-65D9-41FE-A568-517A0580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936B6-2A8F-4D4D-8960-857379EC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Evaluation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CA8EB-63C0-4833-97A5-B8135351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Seven fixed cases define the release test. Add only measured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135D2-82D4-4A71-A239-87BA7E78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89009-D543-4B81-9EBA-501D80F4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FIXED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C88D-BF93-4B92-B129-02AC3A2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859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EXPECTED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ABDC-F9BB-4118-8229-D76EFD2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4BD1D-CE03-453E-B675-44D5303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F3527-9511-4876-BF22-FEFFBDD8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Evidence-rich real trial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1F8C7-5483-4D2C-9385-A2DDBD6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Checked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B51BD-8768-47E9-811E-14A37F3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4D34E-D4B5-4B32-98D3-55FD28C5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0F63A-DBC0-4F72-ACD0-8F6BC10B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Sparse-evidence real trial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19D9A-12B3-4FD7-B8F6-101FBFA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1942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Insufficient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1337C-BC2E-47E8-BFBA-F07F8C4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4B049-0569-4DD5-A0F8-D7C1152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853FB-7E59-45A6-BDBF-0AAF3B2C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Invalid NCT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6C846-D618-4A8E-B33E-0D91D82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Stops before 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9B602-CFA5-4CF5-9198-3C79A4DB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D20DD-6094-405B-8E5B-335769E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B7C66-9958-4AE7-9551-998D9BAD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71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Resolved trial in prospective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67F13-F1D5-4E48-A868-DFB836D2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7192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Retrospective label or rejection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AFFE3-C703-4666-AD43-18FC89DF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261BC-5225-42F2-A0D1-E9788D2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310BE-09DD-4742-8DE6-C013B5EC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48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Prompt injection fixture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3C63D-CFD5-414A-A4CF-852AE2E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4817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Release blocked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BA1DD-7E5A-488C-A015-EEE71A4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9674A7-6F4B-447F-96C3-1FFBE04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D02E8-A8A2-4A7F-9F7F-D3A89C50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Fabricated citation fixture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6D8122-1FCC-47A9-AA1C-00138EA3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2442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Affected output 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7A76D-E13A-4862-861D-2AB20EAB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E5727-954C-47B4-98D7-7D8AA67A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CE3BB2-B6C7-47C2-A270-7942ABFA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Numeric mismatch fixture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8D874-6AF9-4890-BA37-34949C3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00675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Affected output blocked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4C3B03-563A-46B6-ABEA-5AD2970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4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35D0AB-28D2-487E-96D0-FBB8128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667125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3B24F1-D8A2-466A-B712-CC91EF4A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MEASURED RESULTS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49821-7882-4197-A747-06AB9306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Overall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FFB136-45B1-4414-BD8E-CDAB9F4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[Add measured pass summary]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7A2336-D2CD-4A22-AAFA-8F6864A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FE95EA-C013-4C65-ABE4-B963C82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575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841CC1-FFBA-4949-904E-D732F9D5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575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[Add measured value]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0B3DAB-C9A1-45ED-BEEE-25D78C5E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825DE2-2938-44DA-ABED-F732E192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Grounding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7F08D-DB95-4ECB-BA21-5BA70A4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57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[Add measured result]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134BCB-F13D-4D7A-A117-A4808CD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A8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985490-1CB4-4519-88AE-41BD26E2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012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Blocked-case screenshot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F29FBA-FD07-4384-9C2F-7EF64CC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[Insert the final adversarial run]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FA8BD6-F54F-4FAF-90B7-4A6A08DC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TRIALGUARD  ·  REVIEW TEMPLATE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C2653F-C331-4DDF-93CC-E94641F6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0491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A955D-2392-49D1-812D-057C306E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5DFF3-CA66-4D34-B006-1E27FA9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514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074A2-7B73-4825-A928-3E8E429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Limits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119C3-43D9-4885-8BD6-3BB57C6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A8A88"/>
                </a:solidFill>
                <a:latin typeface="Avenir Next"/>
                <a:ea typeface="Avenir Next"/>
                <a:cs typeface="Avenir Next"/>
              </a:rPr>
              <a:t>CURRENT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149C-4B65-40D4-A089-67445420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Public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91D78-17CB-472B-B5A5-0C1F1DB0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Selected, allowlisted ClinicalTrials.gov fields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EC998-17FE-4A30-AEE2-0949DD58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4BEA8-AA4E-4798-8AD5-56431B91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Sensitive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29622-1AF8-46C2-975E-90B4F8F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No PHI or confidential protocol uploads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33114-DEB8-4801-BAE2-EF5A5409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AB600-7DD4-438E-8562-89D4DCE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Decision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78F79-35CA-4DD1-ACC5-8C9DD162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No prediction, design recommendation, or clinical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4EC5B-B74A-420A-B4AF-5A4D6A7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6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82D0F-6D66-43A1-900C-0B96FDE5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A2538"/>
                </a:solidFill>
                <a:latin typeface="Avenir Next"/>
                <a:ea typeface="Avenir Next"/>
                <a:cs typeface="Avenir Next"/>
              </a:rPr>
              <a:t>Accountability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EA213-1796-4D2A-A249-6516F777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27781"/>
                </a:solidFill>
                <a:latin typeface="Avenir Next"/>
                <a:ea typeface="Avenir Next"/>
                <a:cs typeface="Avenir Next"/>
              </a:rPr>
              <a:t>A qualified reviewer makes the final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7306F-26F4-4376-A785-65B20CFB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28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AFTER THE HACKATHON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50F99-731E-4D37-A860-E640D048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6BD83-463F-4244-BF04-580B2589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Measure retrieval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B0A8D-E31F-4C73-BBD9-71F9F67C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Test precision before adding semantic retrieval.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15C9F-EB7B-45AC-A2D1-A09798E0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0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1611F-B442-4364-B501-FA3BEE1A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CA623-1B5E-48C9-863E-CEF1A67A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479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Harden public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95C8D-352F-4D30-A9E3-E085733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3852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Add authentication, WAF, durable storage, and monitored costs.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C093E-7F78-46DC-870E-603948B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06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258E5-7D99-40AA-BBE2-CF6D1994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8DBD0-8A9C-487C-BB2E-1C624233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Research prediction carefully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C36D8-64B1-44D9-815D-26C0A2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Use point-in-time data with leakage audits and calibration.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5A838-4474-44F1-A226-D1171A3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B5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56B52"/>
                </a:solidFill>
                <a:latin typeface="Avenir Next"/>
                <a:ea typeface="Avenir Next"/>
                <a:cs typeface="Avenir Next"/>
              </a:rPr>
              <a:t>Hackathon decision-support demonstration. Not clinical, regulatory, legal, or medical advice.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FF220-92BB-4455-BA54-57331B8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TRIALGUARD  ·  REVIEW TEMPLATE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3A1AF-1646-49F1-B702-C5D46FA6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EEBE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9204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2026-09-26T19:22:06.2710000Z</dcterms:created>
  <dcterms:modified xsi:type="dcterms:W3CDTF">2026-09-26T19:22:06.2710000Z</dcterms:modified>
</coreProperties>
</file>