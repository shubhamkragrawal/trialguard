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1091d767b74ecb" /><Relationship Type="http://schemas.openxmlformats.org/officeDocument/2006/relationships/extended-properties" Target="/docProps/app.xml" Id="Rde2b88897a8d4e0a" /><Relationship Type="http://schemas.openxmlformats.org/officeDocument/2006/relationships/officeDocument" Target="/ppt/presentation.xml" Id="R295b258e97c346a0" /></Relationships>
</file>

<file path=ppt/presentation.xml><?xml version="1.0" encoding="utf-8"?>
<p:presentation xmlns:p="http://schemas.openxmlformats.org/presentationml/2006/main">
  <p:sldMasterIdLst>
    <p:sldMasterId xmlns:r="http://schemas.openxmlformats.org/officeDocument/2006/relationships" id="2147483648" r:id="R76d03803dca04c6c"/>
  </p:sldMasterIdLst>
  <p:notesMasterIdLst>
    <p:notesMasterId xmlns:r="http://schemas.openxmlformats.org/officeDocument/2006/relationships" r:id="Rd1da15a9ee884440"/>
  </p:notesMasterIdLst>
  <p:sldIdLst>
    <p:sldId xmlns:r="http://schemas.openxmlformats.org/officeDocument/2006/relationships" id="256" r:id="R56f95cb13e1b4bf7"/>
    <p:sldId xmlns:r="http://schemas.openxmlformats.org/officeDocument/2006/relationships" id="257" r:id="R709d467ced9e4569"/>
    <p:sldId xmlns:r="http://schemas.openxmlformats.org/officeDocument/2006/relationships" id="258" r:id="R912924f70aa34225"/>
    <p:sldId xmlns:r="http://schemas.openxmlformats.org/officeDocument/2006/relationships" id="259" r:id="R60c362cbe9aa48a0"/>
    <p:sldId xmlns:r="http://schemas.openxmlformats.org/officeDocument/2006/relationships" id="260" r:id="R3138f773842e464d"/>
    <p:sldId xmlns:r="http://schemas.openxmlformats.org/officeDocument/2006/relationships" id="261" r:id="Rde6dc0dea22143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b221aca1504ffc" /><Relationship Type="http://schemas.openxmlformats.org/officeDocument/2006/relationships/slideMaster" Target="/ppt/slideMasters/slideMaster1.xml" Id="R76d03803dca04c6c" /><Relationship Type="http://schemas.openxmlformats.org/officeDocument/2006/relationships/notesMaster" Target="/ppt/notesMasters/notesMaster1.xml" Id="Rd1da15a9ee884440" /><Relationship Type="http://schemas.openxmlformats.org/officeDocument/2006/relationships/presProps" Target="/ppt/presProps.xml" Id="R33a2894906704527" /><Relationship Type="http://schemas.openxmlformats.org/officeDocument/2006/relationships/tableStyles" Target="/ppt/tableStyles.xml" Id="R31b9e685644c48df" /><Relationship Type="http://schemas.openxmlformats.org/officeDocument/2006/relationships/slide" Target="/ppt/slides/slide1.xml" Id="R56f95cb13e1b4bf7" /><Relationship Type="http://schemas.openxmlformats.org/officeDocument/2006/relationships/slide" Target="/ppt/slides/slide2.xml" Id="R709d467ced9e4569" /><Relationship Type="http://schemas.openxmlformats.org/officeDocument/2006/relationships/slide" Target="/ppt/slides/slide3.xml" Id="R912924f70aa34225" /><Relationship Type="http://schemas.openxmlformats.org/officeDocument/2006/relationships/slide" Target="/ppt/slides/slide4.xml" Id="R60c362cbe9aa48a0" /><Relationship Type="http://schemas.openxmlformats.org/officeDocument/2006/relationships/slide" Target="/ppt/slides/slide5.xml" Id="R3138f773842e464d" /><Relationship Type="http://schemas.openxmlformats.org/officeDocument/2006/relationships/slide" Target="/ppt/slides/slide6.xml" Id="Rde6dc0dea22143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74d3f200594b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99cd559a354b41" /><Relationship Type="http://schemas.openxmlformats.org/officeDocument/2006/relationships/notesMaster" Target="/ppt/notesMasters/notesMaster1.xml" Id="R4e889eb5a72547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052edc1e8a43c6" /><Relationship Type="http://schemas.openxmlformats.org/officeDocument/2006/relationships/notesMaster" Target="/ppt/notesMasters/notesMaster1.xml" Id="Rbf6ce2bb6e7740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a235a8948b4786" /><Relationship Type="http://schemas.openxmlformats.org/officeDocument/2006/relationships/notesMaster" Target="/ppt/notesMasters/notesMaster1.xml" Id="R62e2abe0fe0442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9744ccfc094949" /><Relationship Type="http://schemas.openxmlformats.org/officeDocument/2006/relationships/notesMaster" Target="/ppt/notesMasters/notesMaster1.xml" Id="Rf3e9f61a180a4e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af2f7cffff4fd7" /><Relationship Type="http://schemas.openxmlformats.org/officeDocument/2006/relationships/notesMaster" Target="/ppt/notesMasters/notesMaster1.xml" Id="R9a5a941db60a48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626f97ddc14568" /><Relationship Type="http://schemas.openxmlformats.org/officeDocument/2006/relationships/notesMaster" Target="/ppt/notesMasters/notesMaster1.xml" Id="R7de49d781e7e48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TrialGuard Development Plan, sections 1 and 15. TrialGuard is a bounded decision-support demonstration, not a clinical decision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TrialGuard Development Plan, sections 1, 4, and 7. No external statistics appear on this template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TrialGuard Development Plan, sections 4 and 15. Product image: slides/assets/trialguard-report.png, captured from the implemented checked-report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implemented TrialGuard runtime and deployment package, 2026-09-26. This is the intended AWS production design. The current workshop role cannot provision App Runner. The diagram uses editable native PowerPoint shapes.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values supplied from the stable TrialGuard build on 2026-09-26: 52/52 tests pass; 7/7 synthetic offline behaviors matched; one NCT06860815 live smoke test produced a full release, 14/14 checks, 3 calls, 10,821 input tokens, 1,758 output tokens, and 11.77 seconds elapsed. Estimated cost uses Amazon Nova Lite Standard rates of $0.06 per million input tokens and $0.24 per million output tokens, verified 2026-09-26. One live sample is not a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TrialGuard Development Plan, sections 1, 3, 9, 17, and 18, plus deployment status verified 2026-09-26. The current public showcase uses static GitHub Pages because the workshop IAM role blocks App Runner provisioning. The App Runner package is ready for an authorized AWS account. Keep the intended-use boundary in the final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ecbd5546b94f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5211ed1d3b48be" /><Relationship Type="http://schemas.openxmlformats.org/officeDocument/2006/relationships/slideLayout" Target="/ppt/slideLayouts/slideLayout1.xml" Id="R1beb135e251845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eb135e251845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380aa12c3d47bd" /><Relationship Type="http://schemas.openxmlformats.org/officeDocument/2006/relationships/notesSlide" Target="/ppt/notesSlides/notesSlide1.xml" Id="R29a8ba91e82646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7e8e2c7ae0452f" /><Relationship Type="http://schemas.openxmlformats.org/officeDocument/2006/relationships/notesSlide" Target="/ppt/notesSlides/notesSlide2.xml" Id="R2b4f1bf2d26449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18620b937e4431" /><Relationship Type="http://schemas.openxmlformats.org/officeDocument/2006/relationships/image" Target="/ppt/media/image.png" Id="Re831716c99344d16" /><Relationship Type="http://schemas.openxmlformats.org/officeDocument/2006/relationships/notesSlide" Target="/ppt/notesSlides/notesSlide3.xml" Id="R18632aedeed04e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4fd168d45943c9" /><Relationship Type="http://schemas.openxmlformats.org/officeDocument/2006/relationships/notesSlide" Target="/ppt/notesSlides/notesSlide4.xml" Id="Rf068e3b75e534c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7f6aa33664d4f41" /><Relationship Type="http://schemas.openxmlformats.org/officeDocument/2006/relationships/notesSlide" Target="/ppt/notesSlides/notesSlide5.xml" Id="R9202e4560b3a4f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8c675f486d47ae" /><Relationship Type="http://schemas.openxmlformats.org/officeDocument/2006/relationships/notesSlide" Target="/ppt/notesSlides/notesSlide6.xml" Id="Rd7d733d8988448bd" /></Relationships>
</file>

<file path=ppt/slides/slide1.xml><?xml version="1.0" encoding="utf-8"?>
<p:sld xmlns:p="http://schemas.openxmlformats.org/presentationml/2006/main">
  <p:cSld>
    <p:bg>
      <p:bgPr>
        <a:solidFill xmlns:a="http://schemas.openxmlformats.org/drawingml/2006/main">
          <a:srgbClr val="0A253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319C924-79DC-4B82-AE46-1A5E9D43C788}"/>
              </a:ext>
            </a:extLst>
          </p:cNvPr>
          <p:cNvSpPr>
            <a:spLocks xmlns:a="http://schemas.openxmlformats.org/drawingml/2006/main" noGrp="1"/>
          </p:cNvSpPr>
          <p:nvPr/>
        </p:nvSpPr>
        <p:spPr>
          <a:xfrm xmlns:a="http://schemas.openxmlformats.org/drawingml/2006/main">
            <a:off x="9096375" y="0"/>
            <a:ext cx="3095625" cy="6858000"/>
          </a:xfrm>
          <a:prstGeom xmlns:a="http://schemas.openxmlformats.org/drawingml/2006/main" prst="rect">
            <a:avLst/>
          </a:prstGeom>
          <a:solidFill xmlns:a="http://schemas.openxmlformats.org/drawingml/2006/main">
            <a:srgbClr val="0A8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A97D41-6746-4B48-A317-0EADDB0D8C5B}"/>
              </a:ext>
            </a:extLst>
          </p:cNvPr>
          <p:cNvSpPr>
            <a:spLocks xmlns:a="http://schemas.openxmlformats.org/drawingml/2006/main" noGrp="1"/>
          </p:cNvSpPr>
          <p:nvPr/>
        </p:nvSpPr>
        <p:spPr>
          <a:xfrm xmlns:a="http://schemas.openxmlformats.org/drawingml/2006/main">
            <a:off x="9096375" y="0"/>
            <a:ext cx="171450" cy="6858000"/>
          </a:xfrm>
          <a:prstGeom xmlns:a="http://schemas.openxmlformats.org/drawingml/2006/main" prst="rect">
            <a:avLst/>
          </a:prstGeom>
          <a:solidFill xmlns:a="http://schemas.openxmlformats.org/drawingml/2006/main">
            <a:srgbClr val="BEEBE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092C6A-D52E-4D5D-A5AA-F23E4F50AA55}"/>
              </a:ext>
            </a:extLst>
          </p:cNvPr>
          <p:cNvSpPr>
            <a:spLocks xmlns:a="http://schemas.openxmlformats.org/drawingml/2006/main" noGrp="1"/>
          </p:cNvSpPr>
          <p:nvPr/>
        </p:nvSpPr>
        <p:spPr>
          <a:xfrm xmlns:a="http://schemas.openxmlformats.org/drawingml/2006/main">
            <a:off x="704850" y="66675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BEEBE4"/>
                </a:solidFill>
                <a:latin typeface="Avenir Next"/>
                <a:ea typeface="Avenir Next"/>
                <a:cs typeface="Avenir Next"/>
              </a:defRPr>
            </a:pPr>
            <a:r>
              <a:rPr sz="1125" b="1">
                <a:solidFill>
                  <a:srgbClr val="BEEBE4"/>
                </a:solidFill>
                <a:latin typeface="Avenir Next"/>
                <a:ea typeface="Avenir Next"/>
                <a:cs typeface="Avenir Next"/>
              </a:rPr>
              <a:t>HACKATHON DECISION-SUPPORT DEMONSTRATION</a:t>
            </a:r>
          </a:p>
        </p:txBody>
      </p:sp>
      <p:sp>
        <p:nvSpPr>
          <p:cNvPr id="4" name="">
            <a:extLst xmlns:a="http://schemas.openxmlformats.org/drawingml/2006/main">
              <a:ext uri="{FF2B5EF4-FFF2-40B4-BE49-F238E27FC236}">
                <a16:creationId xmlns:a16="http://schemas.microsoft.com/office/drawing/2014/main" id="{52D751AC-9FA6-4942-B1D9-63438008A0F0}"/>
              </a:ext>
            </a:extLst>
          </p:cNvPr>
          <p:cNvSpPr>
            <a:spLocks xmlns:a="http://schemas.openxmlformats.org/drawingml/2006/main" noGrp="1"/>
          </p:cNvSpPr>
          <p:nvPr/>
        </p:nvSpPr>
        <p:spPr>
          <a:xfrm xmlns:a="http://schemas.openxmlformats.org/drawingml/2006/main">
            <a:off x="666750" y="1571625"/>
            <a:ext cx="752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6150" b="1">
                <a:solidFill>
                  <a:srgbClr val="FFFFFF"/>
                </a:solidFill>
                <a:latin typeface="Avenir Next"/>
                <a:ea typeface="Avenir Next"/>
                <a:cs typeface="Avenir Next"/>
              </a:defRPr>
            </a:pPr>
            <a:r>
              <a:rPr sz="6150" b="1">
                <a:solidFill>
                  <a:srgbClr val="FFFFFF"/>
                </a:solidFill>
                <a:latin typeface="Avenir Next"/>
                <a:ea typeface="Avenir Next"/>
                <a:cs typeface="Avenir Next"/>
              </a:rPr>
              <a:t>TrialGuard</a:t>
            </a:r>
          </a:p>
        </p:txBody>
      </p:sp>
      <p:sp>
        <p:nvSpPr>
          <p:cNvPr id="5" name="">
            <a:extLst xmlns:a="http://schemas.openxmlformats.org/drawingml/2006/main">
              <a:ext uri="{FF2B5EF4-FFF2-40B4-BE49-F238E27FC236}">
                <a16:creationId xmlns:a16="http://schemas.microsoft.com/office/drawing/2014/main" id="{811B69C4-F344-4763-AF36-77A8E7FB937A}"/>
              </a:ext>
            </a:extLst>
          </p:cNvPr>
          <p:cNvSpPr>
            <a:spLocks xmlns:a="http://schemas.openxmlformats.org/drawingml/2006/main" noGrp="1"/>
          </p:cNvSpPr>
          <p:nvPr/>
        </p:nvSpPr>
        <p:spPr>
          <a:xfrm xmlns:a="http://schemas.openxmlformats.org/drawingml/2006/main">
            <a:off x="704850" y="2714625"/>
            <a:ext cx="7334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Evidence-linked operational review questions from public trial records</a:t>
            </a:r>
          </a:p>
        </p:txBody>
      </p:sp>
      <p:sp>
        <p:nvSpPr>
          <p:cNvPr id="6" name="">
            <a:extLst xmlns:a="http://schemas.openxmlformats.org/drawingml/2006/main">
              <a:ext uri="{FF2B5EF4-FFF2-40B4-BE49-F238E27FC236}">
                <a16:creationId xmlns:a16="http://schemas.microsoft.com/office/drawing/2014/main" id="{ED9CB9F5-2DDF-4111-AD27-54657201D349}"/>
              </a:ext>
            </a:extLst>
          </p:cNvPr>
          <p:cNvSpPr>
            <a:spLocks xmlns:a="http://schemas.openxmlformats.org/drawingml/2006/main" noGrp="1"/>
          </p:cNvSpPr>
          <p:nvPr/>
        </p:nvSpPr>
        <p:spPr>
          <a:xfrm xmlns:a="http://schemas.openxmlformats.org/drawingml/2006/main">
            <a:off x="704850" y="4095750"/>
            <a:ext cx="1143000" cy="0"/>
          </a:xfrm>
          <a:prstGeom xmlns:a="http://schemas.openxmlformats.org/drawingml/2006/main" prst="line">
            <a:avLst/>
          </a:prstGeom>
          <a:noFill xmlns:a="http://schemas.openxmlformats.org/drawingml/2006/main"/>
          <a:ln xmlns:a="http://schemas.openxmlformats.org/drawingml/2006/main" w="47625">
            <a:solidFill>
              <a:srgbClr val="BEEBE4"/>
            </a:solidFill>
          </a:ln>
        </p:spPr>
      </p:sp>
      <p:sp>
        <p:nvSpPr>
          <p:cNvPr id="7" name="">
            <a:extLst xmlns:a="http://schemas.openxmlformats.org/drawingml/2006/main">
              <a:ext uri="{FF2B5EF4-FFF2-40B4-BE49-F238E27FC236}">
                <a16:creationId xmlns:a16="http://schemas.microsoft.com/office/drawing/2014/main" id="{95EB6CAC-5DE8-475D-8334-D8A4A5EF2C60}"/>
              </a:ext>
            </a:extLst>
          </p:cNvPr>
          <p:cNvSpPr>
            <a:spLocks xmlns:a="http://schemas.openxmlformats.org/drawingml/2006/main" noGrp="1"/>
          </p:cNvSpPr>
          <p:nvPr/>
        </p:nvSpPr>
        <p:spPr>
          <a:xfrm xmlns:a="http://schemas.openxmlformats.org/drawingml/2006/main">
            <a:off x="704850" y="4333875"/>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BEEBE4"/>
                </a:solidFill>
                <a:latin typeface="Avenir Next"/>
                <a:ea typeface="Avenir Next"/>
                <a:cs typeface="Avenir Next"/>
              </a:defRPr>
            </a:pPr>
            <a:r>
              <a:rPr sz="1500" b="0">
                <a:solidFill>
                  <a:srgbClr val="BEEBE4"/>
                </a:solidFill>
                <a:latin typeface="Avenir Next"/>
                <a:ea typeface="Avenir Next"/>
                <a:cs typeface="Avenir Next"/>
              </a:rPr>
              <a:t>For clinical operations and trial-review teams</a:t>
            </a:r>
          </a:p>
        </p:txBody>
      </p:sp>
      <p:sp>
        <p:nvSpPr>
          <p:cNvPr id="8" name="">
            <a:extLst xmlns:a="http://schemas.openxmlformats.org/drawingml/2006/main">
              <a:ext uri="{FF2B5EF4-FFF2-40B4-BE49-F238E27FC236}">
                <a16:creationId xmlns:a16="http://schemas.microsoft.com/office/drawing/2014/main" id="{BC028FAD-0D8C-4932-950A-CA9D3D5C934C}"/>
              </a:ext>
            </a:extLst>
          </p:cNvPr>
          <p:cNvSpPr>
            <a:spLocks xmlns:a="http://schemas.openxmlformats.org/drawingml/2006/main" noGrp="1"/>
          </p:cNvSpPr>
          <p:nvPr/>
        </p:nvSpPr>
        <p:spPr>
          <a:xfrm xmlns:a="http://schemas.openxmlformats.org/drawingml/2006/main">
            <a:off x="9639300" y="14478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PUBLIC RECORD</a:t>
            </a:r>
          </a:p>
        </p:txBody>
      </p:sp>
      <p:sp>
        <p:nvSpPr>
          <p:cNvPr id="9" name="">
            <a:extLst xmlns:a="http://schemas.openxmlformats.org/drawingml/2006/main">
              <a:ext uri="{FF2B5EF4-FFF2-40B4-BE49-F238E27FC236}">
                <a16:creationId xmlns:a16="http://schemas.microsoft.com/office/drawing/2014/main" id="{DB099879-A92A-4D28-B740-56C632E1B366}"/>
              </a:ext>
            </a:extLst>
          </p:cNvPr>
          <p:cNvSpPr>
            <a:spLocks xmlns:a="http://schemas.openxmlformats.org/drawingml/2006/main" noGrp="1"/>
          </p:cNvSpPr>
          <p:nvPr/>
        </p:nvSpPr>
        <p:spPr>
          <a:xfrm xmlns:a="http://schemas.openxmlformats.org/drawingml/2006/main">
            <a:off x="9639300" y="24003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BOUNDED COHORT</a:t>
            </a:r>
          </a:p>
        </p:txBody>
      </p:sp>
      <p:sp>
        <p:nvSpPr>
          <p:cNvPr id="10" name="">
            <a:extLst xmlns:a="http://schemas.openxmlformats.org/drawingml/2006/main">
              <a:ext uri="{FF2B5EF4-FFF2-40B4-BE49-F238E27FC236}">
                <a16:creationId xmlns:a16="http://schemas.microsoft.com/office/drawing/2014/main" id="{0FDE0267-FBF1-44A0-9B1B-FD6C04CC38D6}"/>
              </a:ext>
            </a:extLst>
          </p:cNvPr>
          <p:cNvSpPr>
            <a:spLocks xmlns:a="http://schemas.openxmlformats.org/drawingml/2006/main" noGrp="1"/>
          </p:cNvSpPr>
          <p:nvPr/>
        </p:nvSpPr>
        <p:spPr>
          <a:xfrm xmlns:a="http://schemas.openxmlformats.org/drawingml/2006/main">
            <a:off x="9639300" y="33528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RELEASE GATE</a:t>
            </a:r>
          </a:p>
        </p:txBody>
      </p:sp>
      <p:sp>
        <p:nvSpPr>
          <p:cNvPr id="11" name="">
            <a:extLst xmlns:a="http://schemas.openxmlformats.org/drawingml/2006/main">
              <a:ext uri="{FF2B5EF4-FFF2-40B4-BE49-F238E27FC236}">
                <a16:creationId xmlns:a16="http://schemas.microsoft.com/office/drawing/2014/main" id="{01A0B82E-3A11-477B-83C1-81B021EE6AF2}"/>
              </a:ext>
            </a:extLst>
          </p:cNvPr>
          <p:cNvSpPr>
            <a:spLocks xmlns:a="http://schemas.openxmlformats.org/drawingml/2006/main" noGrp="1"/>
          </p:cNvSpPr>
          <p:nvPr/>
        </p:nvSpPr>
        <p:spPr>
          <a:xfrm xmlns:a="http://schemas.openxmlformats.org/drawingml/2006/main">
            <a:off x="9639300" y="1943100"/>
            <a:ext cx="1390650" cy="0"/>
          </a:xfrm>
          <a:prstGeom xmlns:a="http://schemas.openxmlformats.org/drawingml/2006/main" prst="line">
            <a:avLst/>
          </a:prstGeom>
          <a:noFill xmlns:a="http://schemas.openxmlformats.org/drawingml/2006/main"/>
          <a:ln xmlns:a="http://schemas.openxmlformats.org/drawingml/2006/main" w="19050">
            <a:solidFill>
              <a:srgbClr val="BEEBE4"/>
            </a:solidFill>
          </a:ln>
        </p:spPr>
      </p:sp>
      <p:sp>
        <p:nvSpPr>
          <p:cNvPr id="12" name="">
            <a:extLst xmlns:a="http://schemas.openxmlformats.org/drawingml/2006/main">
              <a:ext uri="{FF2B5EF4-FFF2-40B4-BE49-F238E27FC236}">
                <a16:creationId xmlns:a16="http://schemas.microsoft.com/office/drawing/2014/main" id="{974CB0F7-6F61-458E-8F8E-4EDEEA34FB53}"/>
              </a:ext>
            </a:extLst>
          </p:cNvPr>
          <p:cNvSpPr>
            <a:spLocks xmlns:a="http://schemas.openxmlformats.org/drawingml/2006/main" noGrp="1"/>
          </p:cNvSpPr>
          <p:nvPr/>
        </p:nvSpPr>
        <p:spPr>
          <a:xfrm xmlns:a="http://schemas.openxmlformats.org/drawingml/2006/main">
            <a:off x="9639300" y="2895600"/>
            <a:ext cx="1390650" cy="0"/>
          </a:xfrm>
          <a:prstGeom xmlns:a="http://schemas.openxmlformats.org/drawingml/2006/main" prst="line">
            <a:avLst/>
          </a:prstGeom>
          <a:noFill xmlns:a="http://schemas.openxmlformats.org/drawingml/2006/main"/>
          <a:ln xmlns:a="http://schemas.openxmlformats.org/drawingml/2006/main" w="19050">
            <a:solidFill>
              <a:srgbClr val="BEEBE4"/>
            </a:solidFill>
          </a:ln>
        </p:spPr>
      </p:sp>
      <p:sp>
        <p:nvSpPr>
          <p:cNvPr id="13" name="">
            <a:extLst xmlns:a="http://schemas.openxmlformats.org/drawingml/2006/main">
              <a:ext uri="{FF2B5EF4-FFF2-40B4-BE49-F238E27FC236}">
                <a16:creationId xmlns:a16="http://schemas.microsoft.com/office/drawing/2014/main" id="{40185875-7D3D-422F-8C35-1EE202F4DB26}"/>
              </a:ext>
            </a:extLst>
          </p:cNvPr>
          <p:cNvSpPr>
            <a:spLocks xmlns:a="http://schemas.openxmlformats.org/drawingml/2006/main" noGrp="1"/>
          </p:cNvSpPr>
          <p:nvPr/>
        </p:nvSpPr>
        <p:spPr>
          <a:xfrm xmlns:a="http://schemas.openxmlformats.org/drawingml/2006/main">
            <a:off x="9639300" y="3848100"/>
            <a:ext cx="1390650" cy="0"/>
          </a:xfrm>
          <a:prstGeom xmlns:a="http://schemas.openxmlformats.org/drawingml/2006/main" prst="line">
            <a:avLst/>
          </a:prstGeom>
          <a:noFill xmlns:a="http://schemas.openxmlformats.org/drawingml/2006/main"/>
          <a:ln xmlns:a="http://schemas.openxmlformats.org/drawingml/2006/main" w="19050">
            <a:solidFill>
              <a:srgbClr val="BEEBE4"/>
            </a:solidFill>
          </a:ln>
        </p:spPr>
      </p:sp>
      <p:sp>
        <p:nvSpPr>
          <p:cNvPr id="14" name="">
            <a:extLst xmlns:a="http://schemas.openxmlformats.org/drawingml/2006/main">
              <a:ext uri="{FF2B5EF4-FFF2-40B4-BE49-F238E27FC236}">
                <a16:creationId xmlns:a16="http://schemas.microsoft.com/office/drawing/2014/main" id="{95353B1C-7195-4E5A-A3DA-98DBC0D9695C}"/>
              </a:ext>
            </a:extLst>
          </p:cNvPr>
          <p:cNvSpPr>
            <a:spLocks xmlns:a="http://schemas.openxmlformats.org/drawingml/2006/main" noGrp="1"/>
          </p:cNvSpPr>
          <p:nvPr/>
        </p:nvSpPr>
        <p:spPr>
          <a:xfrm xmlns:a="http://schemas.openxmlformats.org/drawingml/2006/main">
            <a:off x="704850" y="61912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IMPLEMENTED DEMONSTRATION</a:t>
            </a:r>
          </a:p>
        </p:txBody>
      </p:sp>
    </p:spTree>
    <p:extLst>
      <p:ext uri="{BB962C8B-B14F-4D97-AF65-F5344CB8AC3E}">
        <p14:creationId xmlns:p14="http://schemas.microsoft.com/office/powerpoint/2010/main" val="8418625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253054B-4049-48DB-B4C4-A67E88F02BE9}"/>
              </a:ext>
            </a:extLst>
          </p:cNvPr>
          <p:cNvSpPr>
            <a:spLocks xmlns:a="http://schemas.openxmlformats.org/drawingml/2006/main" noGrp="1"/>
          </p:cNvSpPr>
          <p:nvPr/>
        </p:nvSpPr>
        <p:spPr>
          <a:xfrm xmlns:a="http://schemas.openxmlformats.org/drawingml/2006/main">
            <a:off x="609600" y="466725"/>
            <a:ext cx="51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A8A88"/>
                </a:solidFill>
                <a:latin typeface="Avenir Next"/>
                <a:ea typeface="Avenir Next"/>
                <a:cs typeface="Avenir Next"/>
              </a:defRPr>
            </a:pPr>
            <a:r>
              <a:rPr sz="1275" b="1">
                <a:solidFill>
                  <a:srgbClr val="0A8A88"/>
                </a:solidFill>
                <a:latin typeface="Avenir Next"/>
                <a:ea typeface="Avenir Next"/>
                <a:cs typeface="Avenir Next"/>
              </a:rPr>
              <a:t>02</a:t>
            </a:r>
          </a:p>
        </p:txBody>
      </p:sp>
      <p:sp>
        <p:nvSpPr>
          <p:cNvPr id="2" name="">
            <a:extLst xmlns:a="http://schemas.openxmlformats.org/drawingml/2006/main">
              <a:ext uri="{FF2B5EF4-FFF2-40B4-BE49-F238E27FC236}">
                <a16:creationId xmlns:a16="http://schemas.microsoft.com/office/drawing/2014/main" id="{D91D6E7C-77DB-4C79-9498-F66419A5EC8E}"/>
              </a:ext>
            </a:extLst>
          </p:cNvPr>
          <p:cNvSpPr>
            <a:spLocks xmlns:a="http://schemas.openxmlformats.org/drawingml/2006/main" noGrp="1"/>
          </p:cNvSpPr>
          <p:nvPr/>
        </p:nvSpPr>
        <p:spPr>
          <a:xfrm xmlns:a="http://schemas.openxmlformats.org/drawingml/2006/main">
            <a:off x="609600" y="7524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0A2538"/>
                </a:solidFill>
                <a:latin typeface="Avenir Next"/>
                <a:ea typeface="Avenir Next"/>
                <a:cs typeface="Avenir Next"/>
              </a:defRPr>
            </a:pPr>
            <a:r>
              <a:rPr sz="3450" b="1">
                <a:solidFill>
                  <a:srgbClr val="0A2538"/>
                </a:solidFill>
                <a:latin typeface="Avenir Next"/>
                <a:ea typeface="Avenir Next"/>
                <a:cs typeface="Avenir Next"/>
              </a:rPr>
              <a:t>The trial review problem</a:t>
            </a:r>
          </a:p>
        </p:txBody>
      </p:sp>
      <p:sp>
        <p:nvSpPr>
          <p:cNvPr id="3" name="">
            <a:extLst xmlns:a="http://schemas.openxmlformats.org/drawingml/2006/main">
              <a:ext uri="{FF2B5EF4-FFF2-40B4-BE49-F238E27FC236}">
                <a16:creationId xmlns:a16="http://schemas.microsoft.com/office/drawing/2014/main" id="{E96C8E9A-F67D-43FD-B478-7338B220040A}"/>
              </a:ext>
            </a:extLst>
          </p:cNvPr>
          <p:cNvSpPr>
            <a:spLocks xmlns:a="http://schemas.openxmlformats.org/drawingml/2006/main" noGrp="1"/>
          </p:cNvSpPr>
          <p:nvPr/>
        </p:nvSpPr>
        <p:spPr>
          <a:xfrm xmlns:a="http://schemas.openxmlformats.org/drawingml/2006/main">
            <a:off x="628650" y="13144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Operational review starts with fragments spread across public records</a:t>
            </a:r>
          </a:p>
        </p:txBody>
      </p:sp>
      <p:sp>
        <p:nvSpPr>
          <p:cNvPr id="4" name="">
            <a:extLst xmlns:a="http://schemas.openxmlformats.org/drawingml/2006/main">
              <a:ext uri="{FF2B5EF4-FFF2-40B4-BE49-F238E27FC236}">
                <a16:creationId xmlns:a16="http://schemas.microsoft.com/office/drawing/2014/main" id="{3D0E054A-887E-4A3E-89C9-B7E98D896BF9}"/>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5" name="">
            <a:extLst xmlns:a="http://schemas.openxmlformats.org/drawingml/2006/main">
              <a:ext uri="{FF2B5EF4-FFF2-40B4-BE49-F238E27FC236}">
                <a16:creationId xmlns:a16="http://schemas.microsoft.com/office/drawing/2014/main" id="{45256A76-00F8-49F3-A98F-E17AE59AFF04}"/>
              </a:ext>
            </a:extLst>
          </p:cNvPr>
          <p:cNvSpPr>
            <a:spLocks xmlns:a="http://schemas.openxmlformats.org/drawingml/2006/main" noGrp="1"/>
          </p:cNvSpPr>
          <p:nvPr/>
        </p:nvSpPr>
        <p:spPr>
          <a:xfrm xmlns:a="http://schemas.openxmlformats.org/drawingml/2006/main">
            <a:off x="628650" y="223837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BEEBE4"/>
                </a:solidFill>
                <a:latin typeface="Avenir Next"/>
                <a:ea typeface="Avenir Next"/>
                <a:cs typeface="Avenir Next"/>
              </a:defRPr>
            </a:pPr>
            <a:r>
              <a:rPr sz="2850" b="1">
                <a:solidFill>
                  <a:srgbClr val="BEEBE4"/>
                </a:solidFill>
                <a:latin typeface="Avenir Next"/>
                <a:ea typeface="Avenir Next"/>
                <a:cs typeface="Avenir Next"/>
              </a:rPr>
              <a:t>01</a:t>
            </a:r>
          </a:p>
        </p:txBody>
      </p:sp>
      <p:sp>
        <p:nvSpPr>
          <p:cNvPr id="6" name="">
            <a:extLst xmlns:a="http://schemas.openxmlformats.org/drawingml/2006/main">
              <a:ext uri="{FF2B5EF4-FFF2-40B4-BE49-F238E27FC236}">
                <a16:creationId xmlns:a16="http://schemas.microsoft.com/office/drawing/2014/main" id="{7EE039A2-385E-4AC1-9CC9-B2A5E8F233EC}"/>
              </a:ext>
            </a:extLst>
          </p:cNvPr>
          <p:cNvSpPr>
            <a:spLocks xmlns:a="http://schemas.openxmlformats.org/drawingml/2006/main" noGrp="1"/>
          </p:cNvSpPr>
          <p:nvPr/>
        </p:nvSpPr>
        <p:spPr>
          <a:xfrm xmlns:a="http://schemas.openxmlformats.org/drawingml/2006/main">
            <a:off x="628650" y="28765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0A8A88"/>
                </a:solidFill>
                <a:latin typeface="Avenir Next"/>
                <a:ea typeface="Avenir Next"/>
                <a:cs typeface="Avenir Next"/>
              </a:defRPr>
            </a:pPr>
            <a:r>
              <a:rPr sz="1125" b="1">
                <a:solidFill>
                  <a:srgbClr val="0A8A88"/>
                </a:solidFill>
                <a:latin typeface="Avenir Next"/>
                <a:ea typeface="Avenir Next"/>
                <a:cs typeface="Avenir Next"/>
              </a:rPr>
              <a:t>CONTEXT</a:t>
            </a:r>
          </a:p>
        </p:txBody>
      </p:sp>
      <p:sp>
        <p:nvSpPr>
          <p:cNvPr id="7" name="">
            <a:extLst xmlns:a="http://schemas.openxmlformats.org/drawingml/2006/main">
              <a:ext uri="{FF2B5EF4-FFF2-40B4-BE49-F238E27FC236}">
                <a16:creationId xmlns:a16="http://schemas.microsoft.com/office/drawing/2014/main" id="{09FE0018-D0A5-4E5A-9614-F6CDB493428F}"/>
              </a:ext>
            </a:extLst>
          </p:cNvPr>
          <p:cNvSpPr>
            <a:spLocks xmlns:a="http://schemas.openxmlformats.org/drawingml/2006/main" noGrp="1"/>
          </p:cNvSpPr>
          <p:nvPr/>
        </p:nvSpPr>
        <p:spPr>
          <a:xfrm xmlns:a="http://schemas.openxmlformats.org/drawingml/2006/main">
            <a:off x="628650" y="3305175"/>
            <a:ext cx="3095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5354A"/>
                </a:solidFill>
                <a:latin typeface="Avenir Next"/>
                <a:ea typeface="Avenir Next"/>
                <a:cs typeface="Avenir Next"/>
              </a:defRPr>
            </a:pPr>
            <a:r>
              <a:rPr sz="1875" b="0">
                <a:solidFill>
                  <a:srgbClr val="15354A"/>
                </a:solidFill>
                <a:latin typeface="Avenir Next"/>
                <a:ea typeface="Avenir Next"/>
                <a:cs typeface="Avenir Next"/>
              </a:rPr>
              <a:t>A trial status has little meaning without a bounded peer cohort.</a:t>
            </a:r>
          </a:p>
        </p:txBody>
      </p:sp>
      <p:sp>
        <p:nvSpPr>
          <p:cNvPr id="8" name="">
            <a:extLst xmlns:a="http://schemas.openxmlformats.org/drawingml/2006/main">
              <a:ext uri="{FF2B5EF4-FFF2-40B4-BE49-F238E27FC236}">
                <a16:creationId xmlns:a16="http://schemas.microsoft.com/office/drawing/2014/main" id="{DD2D2886-8B6B-4047-92DC-60DA3C418EC5}"/>
              </a:ext>
            </a:extLst>
          </p:cNvPr>
          <p:cNvSpPr>
            <a:spLocks xmlns:a="http://schemas.openxmlformats.org/drawingml/2006/main" noGrp="1"/>
          </p:cNvSpPr>
          <p:nvPr/>
        </p:nvSpPr>
        <p:spPr>
          <a:xfrm xmlns:a="http://schemas.openxmlformats.org/drawingml/2006/main">
            <a:off x="3962400" y="2190750"/>
            <a:ext cx="0" cy="238125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9" name="">
            <a:extLst xmlns:a="http://schemas.openxmlformats.org/drawingml/2006/main">
              <a:ext uri="{FF2B5EF4-FFF2-40B4-BE49-F238E27FC236}">
                <a16:creationId xmlns:a16="http://schemas.microsoft.com/office/drawing/2014/main" id="{52807A87-513C-437C-A504-9D0306295AD8}"/>
              </a:ext>
            </a:extLst>
          </p:cNvPr>
          <p:cNvSpPr>
            <a:spLocks xmlns:a="http://schemas.openxmlformats.org/drawingml/2006/main" noGrp="1"/>
          </p:cNvSpPr>
          <p:nvPr/>
        </p:nvSpPr>
        <p:spPr>
          <a:xfrm xmlns:a="http://schemas.openxmlformats.org/drawingml/2006/main">
            <a:off x="4295775" y="223837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BEEBE4"/>
                </a:solidFill>
                <a:latin typeface="Avenir Next"/>
                <a:ea typeface="Avenir Next"/>
                <a:cs typeface="Avenir Next"/>
              </a:defRPr>
            </a:pPr>
            <a:r>
              <a:rPr sz="2850" b="1">
                <a:solidFill>
                  <a:srgbClr val="BEEBE4"/>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DA13FBEE-5B54-44CE-B6FF-207DDB577EF6}"/>
              </a:ext>
            </a:extLst>
          </p:cNvPr>
          <p:cNvSpPr>
            <a:spLocks xmlns:a="http://schemas.openxmlformats.org/drawingml/2006/main" noGrp="1"/>
          </p:cNvSpPr>
          <p:nvPr/>
        </p:nvSpPr>
        <p:spPr>
          <a:xfrm xmlns:a="http://schemas.openxmlformats.org/drawingml/2006/main">
            <a:off x="4295775" y="28765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0A8A88"/>
                </a:solidFill>
                <a:latin typeface="Avenir Next"/>
                <a:ea typeface="Avenir Next"/>
                <a:cs typeface="Avenir Next"/>
              </a:defRPr>
            </a:pPr>
            <a:r>
              <a:rPr sz="1125" b="1">
                <a:solidFill>
                  <a:srgbClr val="0A8A88"/>
                </a:solidFill>
                <a:latin typeface="Avenir Next"/>
                <a:ea typeface="Avenir Next"/>
                <a:cs typeface="Avenir Next"/>
              </a:rPr>
              <a:t>COMPARABILITY</a:t>
            </a:r>
          </a:p>
        </p:txBody>
      </p:sp>
      <p:sp>
        <p:nvSpPr>
          <p:cNvPr id="11" name="">
            <a:extLst xmlns:a="http://schemas.openxmlformats.org/drawingml/2006/main">
              <a:ext uri="{FF2B5EF4-FFF2-40B4-BE49-F238E27FC236}">
                <a16:creationId xmlns:a16="http://schemas.microsoft.com/office/drawing/2014/main" id="{C90F7B7F-5A90-40BA-BB77-9DA2A5A92AE7}"/>
              </a:ext>
            </a:extLst>
          </p:cNvPr>
          <p:cNvSpPr>
            <a:spLocks xmlns:a="http://schemas.openxmlformats.org/drawingml/2006/main" noGrp="1"/>
          </p:cNvSpPr>
          <p:nvPr/>
        </p:nvSpPr>
        <p:spPr>
          <a:xfrm xmlns:a="http://schemas.openxmlformats.org/drawingml/2006/main">
            <a:off x="4295775" y="3305175"/>
            <a:ext cx="3095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5354A"/>
                </a:solidFill>
                <a:latin typeface="Avenir Next"/>
                <a:ea typeface="Avenir Next"/>
                <a:cs typeface="Avenir Next"/>
              </a:defRPr>
            </a:pPr>
            <a:r>
              <a:rPr sz="1875" b="0">
                <a:solidFill>
                  <a:srgbClr val="15354A"/>
                </a:solidFill>
                <a:latin typeface="Avenir Next"/>
                <a:ea typeface="Avenir Next"/>
                <a:cs typeface="Avenir Next"/>
              </a:rPr>
              <a:t>Phase, condition, intervention, and design vary across candidate records.</a:t>
            </a:r>
          </a:p>
        </p:txBody>
      </p:sp>
      <p:sp>
        <p:nvSpPr>
          <p:cNvPr id="12" name="">
            <a:extLst xmlns:a="http://schemas.openxmlformats.org/drawingml/2006/main">
              <a:ext uri="{FF2B5EF4-FFF2-40B4-BE49-F238E27FC236}">
                <a16:creationId xmlns:a16="http://schemas.microsoft.com/office/drawing/2014/main" id="{FB4B5EC2-ED13-4BD8-A594-D1E7A2DEC9B2}"/>
              </a:ext>
            </a:extLst>
          </p:cNvPr>
          <p:cNvSpPr>
            <a:spLocks xmlns:a="http://schemas.openxmlformats.org/drawingml/2006/main" noGrp="1"/>
          </p:cNvSpPr>
          <p:nvPr/>
        </p:nvSpPr>
        <p:spPr>
          <a:xfrm xmlns:a="http://schemas.openxmlformats.org/drawingml/2006/main">
            <a:off x="7629525" y="2190750"/>
            <a:ext cx="0" cy="238125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13" name="">
            <a:extLst xmlns:a="http://schemas.openxmlformats.org/drawingml/2006/main">
              <a:ext uri="{FF2B5EF4-FFF2-40B4-BE49-F238E27FC236}">
                <a16:creationId xmlns:a16="http://schemas.microsoft.com/office/drawing/2014/main" id="{A6EDA29F-94DB-4556-9449-BC860FA80C8F}"/>
              </a:ext>
            </a:extLst>
          </p:cNvPr>
          <p:cNvSpPr>
            <a:spLocks xmlns:a="http://schemas.openxmlformats.org/drawingml/2006/main" noGrp="1"/>
          </p:cNvSpPr>
          <p:nvPr/>
        </p:nvSpPr>
        <p:spPr>
          <a:xfrm xmlns:a="http://schemas.openxmlformats.org/drawingml/2006/main">
            <a:off x="7962900" y="223837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BEEBE4"/>
                </a:solidFill>
                <a:latin typeface="Avenir Next"/>
                <a:ea typeface="Avenir Next"/>
                <a:cs typeface="Avenir Next"/>
              </a:defRPr>
            </a:pPr>
            <a:r>
              <a:rPr sz="2850" b="1">
                <a:solidFill>
                  <a:srgbClr val="BEEBE4"/>
                </a:solidFill>
                <a:latin typeface="Avenir Next"/>
                <a:ea typeface="Avenir Next"/>
                <a:cs typeface="Avenir Next"/>
              </a:rPr>
              <a:t>03</a:t>
            </a:r>
          </a:p>
        </p:txBody>
      </p:sp>
      <p:sp>
        <p:nvSpPr>
          <p:cNvPr id="14" name="">
            <a:extLst xmlns:a="http://schemas.openxmlformats.org/drawingml/2006/main">
              <a:ext uri="{FF2B5EF4-FFF2-40B4-BE49-F238E27FC236}">
                <a16:creationId xmlns:a16="http://schemas.microsoft.com/office/drawing/2014/main" id="{55449921-B5D1-400C-AC04-2684F93E67F4}"/>
              </a:ext>
            </a:extLst>
          </p:cNvPr>
          <p:cNvSpPr>
            <a:spLocks xmlns:a="http://schemas.openxmlformats.org/drawingml/2006/main" noGrp="1"/>
          </p:cNvSpPr>
          <p:nvPr/>
        </p:nvSpPr>
        <p:spPr>
          <a:xfrm xmlns:a="http://schemas.openxmlformats.org/drawingml/2006/main">
            <a:off x="7962900" y="28765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0A8A88"/>
                </a:solidFill>
                <a:latin typeface="Avenir Next"/>
                <a:ea typeface="Avenir Next"/>
                <a:cs typeface="Avenir Next"/>
              </a:defRPr>
            </a:pPr>
            <a:r>
              <a:rPr sz="1125" b="1">
                <a:solidFill>
                  <a:srgbClr val="0A8A88"/>
                </a:solidFill>
                <a:latin typeface="Avenir Next"/>
                <a:ea typeface="Avenir Next"/>
                <a:cs typeface="Avenir Next"/>
              </a:rPr>
              <a:t>VERIFICATION</a:t>
            </a:r>
          </a:p>
        </p:txBody>
      </p:sp>
      <p:sp>
        <p:nvSpPr>
          <p:cNvPr id="15" name="">
            <a:extLst xmlns:a="http://schemas.openxmlformats.org/drawingml/2006/main">
              <a:ext uri="{FF2B5EF4-FFF2-40B4-BE49-F238E27FC236}">
                <a16:creationId xmlns:a16="http://schemas.microsoft.com/office/drawing/2014/main" id="{CE60DFEC-4BA0-41F8-AC50-09F9903C6FAE}"/>
              </a:ext>
            </a:extLst>
          </p:cNvPr>
          <p:cNvSpPr>
            <a:spLocks xmlns:a="http://schemas.openxmlformats.org/drawingml/2006/main" noGrp="1"/>
          </p:cNvSpPr>
          <p:nvPr/>
        </p:nvSpPr>
        <p:spPr>
          <a:xfrm xmlns:a="http://schemas.openxmlformats.org/drawingml/2006/main">
            <a:off x="7962900" y="3305175"/>
            <a:ext cx="3095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5354A"/>
                </a:solidFill>
                <a:latin typeface="Avenir Next"/>
                <a:ea typeface="Avenir Next"/>
                <a:cs typeface="Avenir Next"/>
              </a:defRPr>
            </a:pPr>
            <a:r>
              <a:rPr sz="1875" b="0">
                <a:solidFill>
                  <a:srgbClr val="15354A"/>
                </a:solidFill>
                <a:latin typeface="Avenir Next"/>
                <a:ea typeface="Avenir Next"/>
                <a:cs typeface="Avenir Next"/>
              </a:rPr>
              <a:t>Stop reasons must trace back to the exact source field and registry record.</a:t>
            </a:r>
          </a:p>
        </p:txBody>
      </p:sp>
      <p:sp>
        <p:nvSpPr>
          <p:cNvPr id="16" name="">
            <a:extLst xmlns:a="http://schemas.openxmlformats.org/drawingml/2006/main">
              <a:ext uri="{FF2B5EF4-FFF2-40B4-BE49-F238E27FC236}">
                <a16:creationId xmlns:a16="http://schemas.microsoft.com/office/drawing/2014/main" id="{9EBE2588-9898-4E34-A935-DEAA166C45C9}"/>
              </a:ext>
            </a:extLst>
          </p:cNvPr>
          <p:cNvSpPr>
            <a:spLocks xmlns:a="http://schemas.openxmlformats.org/drawingml/2006/main" noGrp="1"/>
          </p:cNvSpPr>
          <p:nvPr/>
        </p:nvSpPr>
        <p:spPr>
          <a:xfrm xmlns:a="http://schemas.openxmlformats.org/drawingml/2006/main">
            <a:off x="609600" y="5000625"/>
            <a:ext cx="10972800" cy="971550"/>
          </a:xfrm>
          <a:prstGeom xmlns:a="http://schemas.openxmlformats.org/drawingml/2006/main" prst="rect">
            <a:avLst/>
          </a:prstGeom>
          <a:solidFill xmlns:a="http://schemas.openxmlformats.org/drawingml/2006/main">
            <a:srgbClr val="EAF7F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F5222F8-6E60-4712-A428-6EA87A2748C7}"/>
              </a:ext>
            </a:extLst>
          </p:cNvPr>
          <p:cNvSpPr>
            <a:spLocks xmlns:a="http://schemas.openxmlformats.org/drawingml/2006/main" noGrp="1"/>
          </p:cNvSpPr>
          <p:nvPr/>
        </p:nvSpPr>
        <p:spPr>
          <a:xfrm xmlns:a="http://schemas.openxmlformats.org/drawingml/2006/main">
            <a:off x="914400" y="5219700"/>
            <a:ext cx="10363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A2538"/>
                </a:solidFill>
                <a:latin typeface="Avenir Next"/>
                <a:ea typeface="Avenir Next"/>
                <a:cs typeface="Avenir Next"/>
              </a:defRPr>
            </a:pPr>
            <a:r>
              <a:rPr sz="1875" b="1">
                <a:solidFill>
                  <a:srgbClr val="0A2538"/>
                </a:solidFill>
                <a:latin typeface="Avenir Next"/>
                <a:ea typeface="Avenir Next"/>
                <a:cs typeface="Avenir Next"/>
              </a:rPr>
              <a:t>A useful review keeps source links visible and leaves the decision with a qualified reviewer. Uncertainty stays explicit.</a:t>
            </a:r>
          </a:p>
        </p:txBody>
      </p:sp>
      <p:sp>
        <p:nvSpPr>
          <p:cNvPr id="18" name="">
            <a:extLst xmlns:a="http://schemas.openxmlformats.org/drawingml/2006/main">
              <a:ext uri="{FF2B5EF4-FFF2-40B4-BE49-F238E27FC236}">
                <a16:creationId xmlns:a16="http://schemas.microsoft.com/office/drawing/2014/main" id="{5EB018E4-DF00-4C08-9A4D-4462B35B66AA}"/>
              </a:ext>
            </a:extLst>
          </p:cNvPr>
          <p:cNvSpPr>
            <a:spLocks xmlns:a="http://schemas.openxmlformats.org/drawingml/2006/main" noGrp="1"/>
          </p:cNvSpPr>
          <p:nvPr/>
        </p:nvSpPr>
        <p:spPr>
          <a:xfrm xmlns:a="http://schemas.openxmlformats.org/drawingml/2006/main">
            <a:off x="609600" y="64389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TRIALGUARD  ·  PRESENTATION DECK</a:t>
            </a:r>
          </a:p>
        </p:txBody>
      </p:sp>
      <p:sp>
        <p:nvSpPr>
          <p:cNvPr id="19" name="">
            <a:extLst xmlns:a="http://schemas.openxmlformats.org/drawingml/2006/main">
              <a:ext uri="{FF2B5EF4-FFF2-40B4-BE49-F238E27FC236}">
                <a16:creationId xmlns:a16="http://schemas.microsoft.com/office/drawing/2014/main" id="{B9B1C466-DE06-46FC-AA37-3A1F385DCAE1}"/>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02</a:t>
            </a:r>
          </a:p>
        </p:txBody>
      </p:sp>
    </p:spTree>
    <p:extLst>
      <p:ext uri="{BB962C8B-B14F-4D97-AF65-F5344CB8AC3E}">
        <p14:creationId xmlns:p14="http://schemas.microsoft.com/office/powerpoint/2010/main" val="15571868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8AF6940-A234-44A0-B648-1FAF8B87F24F}"/>
              </a:ext>
            </a:extLst>
          </p:cNvPr>
          <p:cNvSpPr>
            <a:spLocks xmlns:a="http://schemas.openxmlformats.org/drawingml/2006/main" noGrp="1"/>
          </p:cNvSpPr>
          <p:nvPr/>
        </p:nvSpPr>
        <p:spPr>
          <a:xfrm xmlns:a="http://schemas.openxmlformats.org/drawingml/2006/main">
            <a:off x="609600" y="466725"/>
            <a:ext cx="51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A8A88"/>
                </a:solidFill>
                <a:latin typeface="Avenir Next"/>
                <a:ea typeface="Avenir Next"/>
                <a:cs typeface="Avenir Next"/>
              </a:defRPr>
            </a:pPr>
            <a:r>
              <a:rPr sz="1275" b="1">
                <a:solidFill>
                  <a:srgbClr val="0A8A88"/>
                </a:solidFill>
                <a:latin typeface="Avenir Next"/>
                <a:ea typeface="Avenir Next"/>
                <a:cs typeface="Avenir Next"/>
              </a:rPr>
              <a:t>03</a:t>
            </a:r>
          </a:p>
        </p:txBody>
      </p:sp>
      <p:sp>
        <p:nvSpPr>
          <p:cNvPr id="2" name="">
            <a:extLst xmlns:a="http://schemas.openxmlformats.org/drawingml/2006/main">
              <a:ext uri="{FF2B5EF4-FFF2-40B4-BE49-F238E27FC236}">
                <a16:creationId xmlns:a16="http://schemas.microsoft.com/office/drawing/2014/main" id="{91AAC4A5-B936-416D-B3F5-A1814DCEEB92}"/>
              </a:ext>
            </a:extLst>
          </p:cNvPr>
          <p:cNvSpPr>
            <a:spLocks xmlns:a="http://schemas.openxmlformats.org/drawingml/2006/main" noGrp="1"/>
          </p:cNvSpPr>
          <p:nvPr/>
        </p:nvSpPr>
        <p:spPr>
          <a:xfrm xmlns:a="http://schemas.openxmlformats.org/drawingml/2006/main">
            <a:off x="609600" y="7524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0A2538"/>
                </a:solidFill>
                <a:latin typeface="Avenir Next"/>
                <a:ea typeface="Avenir Next"/>
                <a:cs typeface="Avenir Next"/>
              </a:defRPr>
            </a:pPr>
            <a:r>
              <a:rPr sz="3450" b="1">
                <a:solidFill>
                  <a:srgbClr val="0A2538"/>
                </a:solidFill>
                <a:latin typeface="Avenir Next"/>
                <a:ea typeface="Avenir Next"/>
                <a:cs typeface="Avenir Next"/>
              </a:rPr>
              <a:t>Product workflow</a:t>
            </a:r>
          </a:p>
        </p:txBody>
      </p:sp>
      <p:sp>
        <p:nvSpPr>
          <p:cNvPr id="3" name="">
            <a:extLst xmlns:a="http://schemas.openxmlformats.org/drawingml/2006/main">
              <a:ext uri="{FF2B5EF4-FFF2-40B4-BE49-F238E27FC236}">
                <a16:creationId xmlns:a16="http://schemas.microsoft.com/office/drawing/2014/main" id="{4D6AA4A4-B150-4CAD-897F-61EF5A413630}"/>
              </a:ext>
            </a:extLst>
          </p:cNvPr>
          <p:cNvSpPr>
            <a:spLocks xmlns:a="http://schemas.openxmlformats.org/drawingml/2006/main" noGrp="1"/>
          </p:cNvSpPr>
          <p:nvPr/>
        </p:nvSpPr>
        <p:spPr>
          <a:xfrm xmlns:a="http://schemas.openxmlformats.org/drawingml/2006/main">
            <a:off x="628650" y="13144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One NCT ID becomes a checked review brief with visible evidence</a:t>
            </a:r>
          </a:p>
        </p:txBody>
      </p:sp>
      <p:sp>
        <p:nvSpPr>
          <p:cNvPr id="4" name="">
            <a:extLst xmlns:a="http://schemas.openxmlformats.org/drawingml/2006/main">
              <a:ext uri="{FF2B5EF4-FFF2-40B4-BE49-F238E27FC236}">
                <a16:creationId xmlns:a16="http://schemas.microsoft.com/office/drawing/2014/main" id="{E7AF7C01-C6EF-40A8-B11F-5274AF15DBCE}"/>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5" name="">
            <a:extLst xmlns:a="http://schemas.openxmlformats.org/drawingml/2006/main">
              <a:ext uri="{FF2B5EF4-FFF2-40B4-BE49-F238E27FC236}">
                <a16:creationId xmlns:a16="http://schemas.microsoft.com/office/drawing/2014/main" id="{0027384A-1BCE-4506-9169-B13E1A3AD1F0}"/>
              </a:ext>
            </a:extLst>
          </p:cNvPr>
          <p:cNvSpPr>
            <a:spLocks xmlns:a="http://schemas.openxmlformats.org/drawingml/2006/main" noGrp="1"/>
          </p:cNvSpPr>
          <p:nvPr/>
        </p:nvSpPr>
        <p:spPr>
          <a:xfrm xmlns:a="http://schemas.openxmlformats.org/drawingml/2006/main">
            <a:off x="666750" y="2152650"/>
            <a:ext cx="400050" cy="400050"/>
          </a:xfrm>
          <a:prstGeom xmlns:a="http://schemas.openxmlformats.org/drawingml/2006/main" prst="ellipse">
            <a:avLst/>
          </a:prstGeom>
          <a:solidFill xmlns:a="http://schemas.openxmlformats.org/drawingml/2006/main">
            <a:srgbClr val="0A8A8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7DF1A63-CA4D-415D-93DF-B3D3F15E6432}"/>
              </a:ext>
            </a:extLst>
          </p:cNvPr>
          <p:cNvSpPr>
            <a:spLocks xmlns:a="http://schemas.openxmlformats.org/drawingml/2006/main" noGrp="1"/>
          </p:cNvSpPr>
          <p:nvPr/>
        </p:nvSpPr>
        <p:spPr>
          <a:xfrm xmlns:a="http://schemas.openxmlformats.org/drawingml/2006/main">
            <a:off x="666750" y="22193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87A26A4A-5CD5-497B-BD53-ED27190F700E}"/>
              </a:ext>
            </a:extLst>
          </p:cNvPr>
          <p:cNvSpPr>
            <a:spLocks xmlns:a="http://schemas.openxmlformats.org/drawingml/2006/main" noGrp="1"/>
          </p:cNvSpPr>
          <p:nvPr/>
        </p:nvSpPr>
        <p:spPr>
          <a:xfrm xmlns:a="http://schemas.openxmlformats.org/drawingml/2006/main">
            <a:off x="1257300" y="21336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A2538"/>
                </a:solidFill>
                <a:latin typeface="Avenir Next"/>
                <a:ea typeface="Avenir Next"/>
                <a:cs typeface="Avenir Next"/>
              </a:defRPr>
            </a:pPr>
            <a:r>
              <a:rPr sz="1725" b="1">
                <a:solidFill>
                  <a:srgbClr val="0A2538"/>
                </a:solidFill>
                <a:latin typeface="Avenir Next"/>
                <a:ea typeface="Avenir Next"/>
                <a:cs typeface="Avenir Next"/>
              </a:rPr>
              <a:t>Validate</a:t>
            </a:r>
          </a:p>
        </p:txBody>
      </p:sp>
      <p:sp>
        <p:nvSpPr>
          <p:cNvPr id="8" name="">
            <a:extLst xmlns:a="http://schemas.openxmlformats.org/drawingml/2006/main">
              <a:ext uri="{FF2B5EF4-FFF2-40B4-BE49-F238E27FC236}">
                <a16:creationId xmlns:a16="http://schemas.microsoft.com/office/drawing/2014/main" id="{A80F3321-0F9E-480B-B8B3-2A3737C6B9B8}"/>
              </a:ext>
            </a:extLst>
          </p:cNvPr>
          <p:cNvSpPr>
            <a:spLocks xmlns:a="http://schemas.openxmlformats.org/drawingml/2006/main" noGrp="1"/>
          </p:cNvSpPr>
          <p:nvPr/>
        </p:nvSpPr>
        <p:spPr>
          <a:xfrm xmlns:a="http://schemas.openxmlformats.org/drawingml/2006/main">
            <a:off x="1257300" y="24288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27781"/>
                </a:solidFill>
                <a:latin typeface="Avenir Next"/>
                <a:ea typeface="Avenir Next"/>
                <a:cs typeface="Avenir Next"/>
              </a:defRPr>
            </a:pPr>
            <a:r>
              <a:rPr sz="1275" b="0">
                <a:solidFill>
                  <a:srgbClr val="627781"/>
                </a:solidFill>
                <a:latin typeface="Avenir Next"/>
                <a:ea typeface="Avenir Next"/>
                <a:cs typeface="Avenir Next"/>
              </a:rPr>
              <a:t>Confirm the NCT ID before any model call.</a:t>
            </a:r>
          </a:p>
        </p:txBody>
      </p:sp>
      <p:sp>
        <p:nvSpPr>
          <p:cNvPr id="9" name="">
            <a:extLst xmlns:a="http://schemas.openxmlformats.org/drawingml/2006/main">
              <a:ext uri="{FF2B5EF4-FFF2-40B4-BE49-F238E27FC236}">
                <a16:creationId xmlns:a16="http://schemas.microsoft.com/office/drawing/2014/main" id="{130F6961-4EA4-4F81-955D-C981FD1B632F}"/>
              </a:ext>
            </a:extLst>
          </p:cNvPr>
          <p:cNvSpPr>
            <a:spLocks xmlns:a="http://schemas.openxmlformats.org/drawingml/2006/main" noGrp="1"/>
          </p:cNvSpPr>
          <p:nvPr/>
        </p:nvSpPr>
        <p:spPr>
          <a:xfrm xmlns:a="http://schemas.openxmlformats.org/drawingml/2006/main">
            <a:off x="866775" y="2562225"/>
            <a:ext cx="0" cy="314325"/>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10" name="">
            <a:extLst xmlns:a="http://schemas.openxmlformats.org/drawingml/2006/main">
              <a:ext uri="{FF2B5EF4-FFF2-40B4-BE49-F238E27FC236}">
                <a16:creationId xmlns:a16="http://schemas.microsoft.com/office/drawing/2014/main" id="{0E723889-3746-4553-A880-EFA6D158BCDF}"/>
              </a:ext>
            </a:extLst>
          </p:cNvPr>
          <p:cNvSpPr>
            <a:spLocks xmlns:a="http://schemas.openxmlformats.org/drawingml/2006/main" noGrp="1"/>
          </p:cNvSpPr>
          <p:nvPr/>
        </p:nvSpPr>
        <p:spPr>
          <a:xfrm xmlns:a="http://schemas.openxmlformats.org/drawingml/2006/main">
            <a:off x="666750" y="2895600"/>
            <a:ext cx="400050" cy="400050"/>
          </a:xfrm>
          <a:prstGeom xmlns:a="http://schemas.openxmlformats.org/drawingml/2006/main" prst="ellipse">
            <a:avLst/>
          </a:prstGeom>
          <a:solidFill xmlns:a="http://schemas.openxmlformats.org/drawingml/2006/main">
            <a:srgbClr val="0A8A8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E0A38C-6E84-46AE-8F22-D2C771D946F6}"/>
              </a:ext>
            </a:extLst>
          </p:cNvPr>
          <p:cNvSpPr>
            <a:spLocks xmlns:a="http://schemas.openxmlformats.org/drawingml/2006/main" noGrp="1"/>
          </p:cNvSpPr>
          <p:nvPr/>
        </p:nvSpPr>
        <p:spPr>
          <a:xfrm xmlns:a="http://schemas.openxmlformats.org/drawingml/2006/main">
            <a:off x="666750" y="29622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02</a:t>
            </a:r>
          </a:p>
        </p:txBody>
      </p:sp>
      <p:sp>
        <p:nvSpPr>
          <p:cNvPr id="12" name="">
            <a:extLst xmlns:a="http://schemas.openxmlformats.org/drawingml/2006/main">
              <a:ext uri="{FF2B5EF4-FFF2-40B4-BE49-F238E27FC236}">
                <a16:creationId xmlns:a16="http://schemas.microsoft.com/office/drawing/2014/main" id="{9B800A97-FD21-408E-AC61-02D5F0A1C000}"/>
              </a:ext>
            </a:extLst>
          </p:cNvPr>
          <p:cNvSpPr>
            <a:spLocks xmlns:a="http://schemas.openxmlformats.org/drawingml/2006/main" noGrp="1"/>
          </p:cNvSpPr>
          <p:nvPr/>
        </p:nvSpPr>
        <p:spPr>
          <a:xfrm xmlns:a="http://schemas.openxmlformats.org/drawingml/2006/main">
            <a:off x="1257300" y="28765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A2538"/>
                </a:solidFill>
                <a:latin typeface="Avenir Next"/>
                <a:ea typeface="Avenir Next"/>
                <a:cs typeface="Avenir Next"/>
              </a:defRPr>
            </a:pPr>
            <a:r>
              <a:rPr sz="1725" b="1">
                <a:solidFill>
                  <a:srgbClr val="0A2538"/>
                </a:solidFill>
                <a:latin typeface="Avenir Next"/>
                <a:ea typeface="Avenir Next"/>
                <a:cs typeface="Avenir Next"/>
              </a:rPr>
              <a:t>Retrieve</a:t>
            </a:r>
          </a:p>
        </p:txBody>
      </p:sp>
      <p:sp>
        <p:nvSpPr>
          <p:cNvPr id="13" name="">
            <a:extLst xmlns:a="http://schemas.openxmlformats.org/drawingml/2006/main">
              <a:ext uri="{FF2B5EF4-FFF2-40B4-BE49-F238E27FC236}">
                <a16:creationId xmlns:a16="http://schemas.microsoft.com/office/drawing/2014/main" id="{CD64E665-9024-4FFE-B18F-0C152B578115}"/>
              </a:ext>
            </a:extLst>
          </p:cNvPr>
          <p:cNvSpPr>
            <a:spLocks xmlns:a="http://schemas.openxmlformats.org/drawingml/2006/main" noGrp="1"/>
          </p:cNvSpPr>
          <p:nvPr/>
        </p:nvSpPr>
        <p:spPr>
          <a:xfrm xmlns:a="http://schemas.openxmlformats.org/drawingml/2006/main">
            <a:off x="1257300" y="31718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27781"/>
                </a:solidFill>
                <a:latin typeface="Avenir Next"/>
                <a:ea typeface="Avenir Next"/>
                <a:cs typeface="Avenir Next"/>
              </a:defRPr>
            </a:pPr>
            <a:r>
              <a:rPr sz="1275" b="0">
                <a:solidFill>
                  <a:srgbClr val="627781"/>
                </a:solidFill>
                <a:latin typeface="Avenir Next"/>
                <a:ea typeface="Avenir Next"/>
                <a:cs typeface="Avenir Next"/>
              </a:rPr>
              <a:t>Load an allowlisted public trial record.</a:t>
            </a:r>
          </a:p>
        </p:txBody>
      </p:sp>
      <p:sp>
        <p:nvSpPr>
          <p:cNvPr id="14" name="">
            <a:extLst xmlns:a="http://schemas.openxmlformats.org/drawingml/2006/main">
              <a:ext uri="{FF2B5EF4-FFF2-40B4-BE49-F238E27FC236}">
                <a16:creationId xmlns:a16="http://schemas.microsoft.com/office/drawing/2014/main" id="{A5D337CB-0434-43A6-B240-849FB12112BE}"/>
              </a:ext>
            </a:extLst>
          </p:cNvPr>
          <p:cNvSpPr>
            <a:spLocks xmlns:a="http://schemas.openxmlformats.org/drawingml/2006/main" noGrp="1"/>
          </p:cNvSpPr>
          <p:nvPr/>
        </p:nvSpPr>
        <p:spPr>
          <a:xfrm xmlns:a="http://schemas.openxmlformats.org/drawingml/2006/main">
            <a:off x="866775" y="3305175"/>
            <a:ext cx="0" cy="314325"/>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15" name="">
            <a:extLst xmlns:a="http://schemas.openxmlformats.org/drawingml/2006/main">
              <a:ext uri="{FF2B5EF4-FFF2-40B4-BE49-F238E27FC236}">
                <a16:creationId xmlns:a16="http://schemas.microsoft.com/office/drawing/2014/main" id="{F6FF611A-23B3-465E-89A5-D145227BCAC2}"/>
              </a:ext>
            </a:extLst>
          </p:cNvPr>
          <p:cNvSpPr>
            <a:spLocks xmlns:a="http://schemas.openxmlformats.org/drawingml/2006/main" noGrp="1"/>
          </p:cNvSpPr>
          <p:nvPr/>
        </p:nvSpPr>
        <p:spPr>
          <a:xfrm xmlns:a="http://schemas.openxmlformats.org/drawingml/2006/main">
            <a:off x="666750" y="3638550"/>
            <a:ext cx="400050" cy="400050"/>
          </a:xfrm>
          <a:prstGeom xmlns:a="http://schemas.openxmlformats.org/drawingml/2006/main" prst="ellipse">
            <a:avLst/>
          </a:prstGeom>
          <a:solidFill xmlns:a="http://schemas.openxmlformats.org/drawingml/2006/main">
            <a:srgbClr val="0A8A8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D835B45-751E-4D4D-9E3B-352B46E9C18F}"/>
              </a:ext>
            </a:extLst>
          </p:cNvPr>
          <p:cNvSpPr>
            <a:spLocks xmlns:a="http://schemas.openxmlformats.org/drawingml/2006/main" noGrp="1"/>
          </p:cNvSpPr>
          <p:nvPr/>
        </p:nvSpPr>
        <p:spPr>
          <a:xfrm xmlns:a="http://schemas.openxmlformats.org/drawingml/2006/main">
            <a:off x="666750" y="37052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03</a:t>
            </a:r>
          </a:p>
        </p:txBody>
      </p:sp>
      <p:sp>
        <p:nvSpPr>
          <p:cNvPr id="17" name="">
            <a:extLst xmlns:a="http://schemas.openxmlformats.org/drawingml/2006/main">
              <a:ext uri="{FF2B5EF4-FFF2-40B4-BE49-F238E27FC236}">
                <a16:creationId xmlns:a16="http://schemas.microsoft.com/office/drawing/2014/main" id="{3C34839E-2F60-4E7B-A0DF-25AECC80AEB2}"/>
              </a:ext>
            </a:extLst>
          </p:cNvPr>
          <p:cNvSpPr>
            <a:spLocks xmlns:a="http://schemas.openxmlformats.org/drawingml/2006/main" noGrp="1"/>
          </p:cNvSpPr>
          <p:nvPr/>
        </p:nvSpPr>
        <p:spPr>
          <a:xfrm xmlns:a="http://schemas.openxmlformats.org/drawingml/2006/main">
            <a:off x="1257300" y="36195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A2538"/>
                </a:solidFill>
                <a:latin typeface="Avenir Next"/>
                <a:ea typeface="Avenir Next"/>
                <a:cs typeface="Avenir Next"/>
              </a:defRPr>
            </a:pPr>
            <a:r>
              <a:rPr sz="1725" b="1">
                <a:solidFill>
                  <a:srgbClr val="0A2538"/>
                </a:solidFill>
                <a:latin typeface="Avenir Next"/>
                <a:ea typeface="Avenir Next"/>
                <a:cs typeface="Avenir Next"/>
              </a:rPr>
              <a:t>Compare</a:t>
            </a:r>
          </a:p>
        </p:txBody>
      </p:sp>
      <p:sp>
        <p:nvSpPr>
          <p:cNvPr id="18" name="">
            <a:extLst xmlns:a="http://schemas.openxmlformats.org/drawingml/2006/main">
              <a:ext uri="{FF2B5EF4-FFF2-40B4-BE49-F238E27FC236}">
                <a16:creationId xmlns:a16="http://schemas.microsoft.com/office/drawing/2014/main" id="{04EC5866-8720-4F7C-BB31-BFB3C45E6CD2}"/>
              </a:ext>
            </a:extLst>
          </p:cNvPr>
          <p:cNvSpPr>
            <a:spLocks xmlns:a="http://schemas.openxmlformats.org/drawingml/2006/main" noGrp="1"/>
          </p:cNvSpPr>
          <p:nvPr/>
        </p:nvSpPr>
        <p:spPr>
          <a:xfrm xmlns:a="http://schemas.openxmlformats.org/drawingml/2006/main">
            <a:off x="1257300" y="39147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27781"/>
                </a:solidFill>
                <a:latin typeface="Avenir Next"/>
                <a:ea typeface="Avenir Next"/>
                <a:cs typeface="Avenir Next"/>
              </a:defRPr>
            </a:pPr>
            <a:r>
              <a:rPr sz="1275" b="0">
                <a:solidFill>
                  <a:srgbClr val="627781"/>
                </a:solidFill>
                <a:latin typeface="Avenir Next"/>
                <a:ea typeface="Avenir Next"/>
                <a:cs typeface="Avenir Next"/>
              </a:rPr>
              <a:t>Build the cohort and rank stopped precedents.</a:t>
            </a:r>
          </a:p>
        </p:txBody>
      </p:sp>
      <p:sp>
        <p:nvSpPr>
          <p:cNvPr id="19" name="">
            <a:extLst xmlns:a="http://schemas.openxmlformats.org/drawingml/2006/main">
              <a:ext uri="{FF2B5EF4-FFF2-40B4-BE49-F238E27FC236}">
                <a16:creationId xmlns:a16="http://schemas.microsoft.com/office/drawing/2014/main" id="{4F6EAA0F-8C66-450A-913B-3AEFDDDBB35C}"/>
              </a:ext>
            </a:extLst>
          </p:cNvPr>
          <p:cNvSpPr>
            <a:spLocks xmlns:a="http://schemas.openxmlformats.org/drawingml/2006/main" noGrp="1"/>
          </p:cNvSpPr>
          <p:nvPr/>
        </p:nvSpPr>
        <p:spPr>
          <a:xfrm xmlns:a="http://schemas.openxmlformats.org/drawingml/2006/main">
            <a:off x="866775" y="4048125"/>
            <a:ext cx="0" cy="314325"/>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20" name="">
            <a:extLst xmlns:a="http://schemas.openxmlformats.org/drawingml/2006/main">
              <a:ext uri="{FF2B5EF4-FFF2-40B4-BE49-F238E27FC236}">
                <a16:creationId xmlns:a16="http://schemas.microsoft.com/office/drawing/2014/main" id="{8848B1A6-BEC4-4FCE-A111-3D418CEC0904}"/>
              </a:ext>
            </a:extLst>
          </p:cNvPr>
          <p:cNvSpPr>
            <a:spLocks xmlns:a="http://schemas.openxmlformats.org/drawingml/2006/main" noGrp="1"/>
          </p:cNvSpPr>
          <p:nvPr/>
        </p:nvSpPr>
        <p:spPr>
          <a:xfrm xmlns:a="http://schemas.openxmlformats.org/drawingml/2006/main">
            <a:off x="666750" y="4381500"/>
            <a:ext cx="400050" cy="400050"/>
          </a:xfrm>
          <a:prstGeom xmlns:a="http://schemas.openxmlformats.org/drawingml/2006/main" prst="ellipse">
            <a:avLst/>
          </a:prstGeom>
          <a:solidFill xmlns:a="http://schemas.openxmlformats.org/drawingml/2006/main">
            <a:srgbClr val="0A8A8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CCA1354-A7BD-4C3E-89C1-EC12107A8681}"/>
              </a:ext>
            </a:extLst>
          </p:cNvPr>
          <p:cNvSpPr>
            <a:spLocks xmlns:a="http://schemas.openxmlformats.org/drawingml/2006/main" noGrp="1"/>
          </p:cNvSpPr>
          <p:nvPr/>
        </p:nvSpPr>
        <p:spPr>
          <a:xfrm xmlns:a="http://schemas.openxmlformats.org/drawingml/2006/main">
            <a:off x="666750" y="444817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04</a:t>
            </a:r>
          </a:p>
        </p:txBody>
      </p:sp>
      <p:sp>
        <p:nvSpPr>
          <p:cNvPr id="22" name="">
            <a:extLst xmlns:a="http://schemas.openxmlformats.org/drawingml/2006/main">
              <a:ext uri="{FF2B5EF4-FFF2-40B4-BE49-F238E27FC236}">
                <a16:creationId xmlns:a16="http://schemas.microsoft.com/office/drawing/2014/main" id="{1998BC61-C002-4871-A73C-C431D6E63E00}"/>
              </a:ext>
            </a:extLst>
          </p:cNvPr>
          <p:cNvSpPr>
            <a:spLocks xmlns:a="http://schemas.openxmlformats.org/drawingml/2006/main" noGrp="1"/>
          </p:cNvSpPr>
          <p:nvPr/>
        </p:nvSpPr>
        <p:spPr>
          <a:xfrm xmlns:a="http://schemas.openxmlformats.org/drawingml/2006/main">
            <a:off x="1257300" y="43624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A2538"/>
                </a:solidFill>
                <a:latin typeface="Avenir Next"/>
                <a:ea typeface="Avenir Next"/>
                <a:cs typeface="Avenir Next"/>
              </a:defRPr>
            </a:pPr>
            <a:r>
              <a:rPr sz="1725" b="1">
                <a:solidFill>
                  <a:srgbClr val="0A2538"/>
                </a:solidFill>
                <a:latin typeface="Avenir Next"/>
                <a:ea typeface="Avenir Next"/>
                <a:cs typeface="Avenir Next"/>
              </a:rPr>
              <a:t>Draft</a:t>
            </a:r>
          </a:p>
        </p:txBody>
      </p:sp>
      <p:sp>
        <p:nvSpPr>
          <p:cNvPr id="23" name="">
            <a:extLst xmlns:a="http://schemas.openxmlformats.org/drawingml/2006/main">
              <a:ext uri="{FF2B5EF4-FFF2-40B4-BE49-F238E27FC236}">
                <a16:creationId xmlns:a16="http://schemas.microsoft.com/office/drawing/2014/main" id="{3653AA7C-78A8-4B8F-9E41-4FAC70D616A6}"/>
              </a:ext>
            </a:extLst>
          </p:cNvPr>
          <p:cNvSpPr>
            <a:spLocks xmlns:a="http://schemas.openxmlformats.org/drawingml/2006/main" noGrp="1"/>
          </p:cNvSpPr>
          <p:nvPr/>
        </p:nvSpPr>
        <p:spPr>
          <a:xfrm xmlns:a="http://schemas.openxmlformats.org/drawingml/2006/main">
            <a:off x="1257300" y="46577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27781"/>
                </a:solidFill>
                <a:latin typeface="Avenir Next"/>
                <a:ea typeface="Avenir Next"/>
                <a:cs typeface="Avenir Next"/>
              </a:defRPr>
            </a:pPr>
            <a:r>
              <a:rPr sz="1275" b="0">
                <a:solidFill>
                  <a:srgbClr val="627781"/>
                </a:solidFill>
                <a:latin typeface="Avenir Next"/>
                <a:ea typeface="Avenir Next"/>
                <a:cs typeface="Avenir Next"/>
              </a:rPr>
              <a:t>Create evidence-linked review questions.</a:t>
            </a:r>
          </a:p>
        </p:txBody>
      </p:sp>
      <p:sp>
        <p:nvSpPr>
          <p:cNvPr id="24" name="">
            <a:extLst xmlns:a="http://schemas.openxmlformats.org/drawingml/2006/main">
              <a:ext uri="{FF2B5EF4-FFF2-40B4-BE49-F238E27FC236}">
                <a16:creationId xmlns:a16="http://schemas.microsoft.com/office/drawing/2014/main" id="{5968E299-78C2-4918-A9A2-1A9DBE9F1621}"/>
              </a:ext>
            </a:extLst>
          </p:cNvPr>
          <p:cNvSpPr>
            <a:spLocks xmlns:a="http://schemas.openxmlformats.org/drawingml/2006/main" noGrp="1"/>
          </p:cNvSpPr>
          <p:nvPr/>
        </p:nvSpPr>
        <p:spPr>
          <a:xfrm xmlns:a="http://schemas.openxmlformats.org/drawingml/2006/main">
            <a:off x="866775" y="4791075"/>
            <a:ext cx="0" cy="314325"/>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25" name="">
            <a:extLst xmlns:a="http://schemas.openxmlformats.org/drawingml/2006/main">
              <a:ext uri="{FF2B5EF4-FFF2-40B4-BE49-F238E27FC236}">
                <a16:creationId xmlns:a16="http://schemas.microsoft.com/office/drawing/2014/main" id="{3E76AFAC-0E28-4D4D-961F-7C173AF17656}"/>
              </a:ext>
            </a:extLst>
          </p:cNvPr>
          <p:cNvSpPr>
            <a:spLocks xmlns:a="http://schemas.openxmlformats.org/drawingml/2006/main" noGrp="1"/>
          </p:cNvSpPr>
          <p:nvPr/>
        </p:nvSpPr>
        <p:spPr>
          <a:xfrm xmlns:a="http://schemas.openxmlformats.org/drawingml/2006/main">
            <a:off x="666750" y="5124450"/>
            <a:ext cx="400050" cy="400050"/>
          </a:xfrm>
          <a:prstGeom xmlns:a="http://schemas.openxmlformats.org/drawingml/2006/main" prst="ellipse">
            <a:avLst/>
          </a:prstGeom>
          <a:solidFill xmlns:a="http://schemas.openxmlformats.org/drawingml/2006/main">
            <a:srgbClr val="E56B5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BFB3459-E967-4F46-8CEB-11F9031A05DF}"/>
              </a:ext>
            </a:extLst>
          </p:cNvPr>
          <p:cNvSpPr>
            <a:spLocks xmlns:a="http://schemas.openxmlformats.org/drawingml/2006/main" noGrp="1"/>
          </p:cNvSpPr>
          <p:nvPr/>
        </p:nvSpPr>
        <p:spPr>
          <a:xfrm xmlns:a="http://schemas.openxmlformats.org/drawingml/2006/main">
            <a:off x="666750" y="51911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05</a:t>
            </a:r>
          </a:p>
        </p:txBody>
      </p:sp>
      <p:sp>
        <p:nvSpPr>
          <p:cNvPr id="27" name="">
            <a:extLst xmlns:a="http://schemas.openxmlformats.org/drawingml/2006/main">
              <a:ext uri="{FF2B5EF4-FFF2-40B4-BE49-F238E27FC236}">
                <a16:creationId xmlns:a16="http://schemas.microsoft.com/office/drawing/2014/main" id="{758F9E52-D5E3-48FB-8DC1-DDC662BB34F5}"/>
              </a:ext>
            </a:extLst>
          </p:cNvPr>
          <p:cNvSpPr>
            <a:spLocks xmlns:a="http://schemas.openxmlformats.org/drawingml/2006/main" noGrp="1"/>
          </p:cNvSpPr>
          <p:nvPr/>
        </p:nvSpPr>
        <p:spPr>
          <a:xfrm xmlns:a="http://schemas.openxmlformats.org/drawingml/2006/main">
            <a:off x="1257300" y="51054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A2538"/>
                </a:solidFill>
                <a:latin typeface="Avenir Next"/>
                <a:ea typeface="Avenir Next"/>
                <a:cs typeface="Avenir Next"/>
              </a:defRPr>
            </a:pPr>
            <a:r>
              <a:rPr sz="1725" b="1">
                <a:solidFill>
                  <a:srgbClr val="0A2538"/>
                </a:solidFill>
                <a:latin typeface="Avenir Next"/>
                <a:ea typeface="Avenir Next"/>
                <a:cs typeface="Avenir Next"/>
              </a:rPr>
              <a:t>Release</a:t>
            </a:r>
          </a:p>
        </p:txBody>
      </p:sp>
      <p:sp>
        <p:nvSpPr>
          <p:cNvPr id="28" name="">
            <a:extLst xmlns:a="http://schemas.openxmlformats.org/drawingml/2006/main">
              <a:ext uri="{FF2B5EF4-FFF2-40B4-BE49-F238E27FC236}">
                <a16:creationId xmlns:a16="http://schemas.microsoft.com/office/drawing/2014/main" id="{59F8BAD8-3206-4723-9563-A90B97784F96}"/>
              </a:ext>
            </a:extLst>
          </p:cNvPr>
          <p:cNvSpPr>
            <a:spLocks xmlns:a="http://schemas.openxmlformats.org/drawingml/2006/main" noGrp="1"/>
          </p:cNvSpPr>
          <p:nvPr/>
        </p:nvSpPr>
        <p:spPr>
          <a:xfrm xmlns:a="http://schemas.openxmlformats.org/drawingml/2006/main">
            <a:off x="1257300" y="54006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27781"/>
                </a:solidFill>
                <a:latin typeface="Avenir Next"/>
                <a:ea typeface="Avenir Next"/>
                <a:cs typeface="Avenir Next"/>
              </a:defRPr>
            </a:pPr>
            <a:r>
              <a:rPr sz="1275" b="0">
                <a:solidFill>
                  <a:srgbClr val="627781"/>
                </a:solidFill>
                <a:latin typeface="Avenir Next"/>
                <a:ea typeface="Avenir Next"/>
                <a:cs typeface="Avenir Next"/>
              </a:rPr>
              <a:t>Challenge the draft and apply deterministic checks.</a:t>
            </a:r>
          </a:p>
        </p:txBody>
      </p:sp>
      <p:sp>
        <p:nvSpPr>
          <p:cNvPr id="29" name="">
            <a:extLst xmlns:a="http://schemas.openxmlformats.org/drawingml/2006/main">
              <a:ext uri="{FF2B5EF4-FFF2-40B4-BE49-F238E27FC236}">
                <a16:creationId xmlns:a16="http://schemas.microsoft.com/office/drawing/2014/main" id="{95C33649-4C1C-43D9-A136-11A94B024700}"/>
              </a:ext>
            </a:extLst>
          </p:cNvPr>
          <p:cNvSpPr>
            <a:spLocks xmlns:a="http://schemas.openxmlformats.org/drawingml/2006/main" noGrp="1"/>
          </p:cNvSpPr>
          <p:nvPr/>
        </p:nvSpPr>
        <p:spPr>
          <a:xfrm xmlns:a="http://schemas.openxmlformats.org/drawingml/2006/main">
            <a:off x="5238750" y="2076450"/>
            <a:ext cx="6334125" cy="3981450"/>
          </a:xfrm>
          <a:prstGeom xmlns:a="http://schemas.openxmlformats.org/drawingml/2006/main" prst="rect">
            <a:avLst/>
          </a:prstGeom>
          <a:solidFill xmlns:a="http://schemas.openxmlformats.org/drawingml/2006/main">
            <a:srgbClr val="F5FAF9"/>
          </a:solidFill>
          <a:ln xmlns:a="http://schemas.openxmlformats.org/drawingml/2006/main" w="19050">
            <a:solidFill>
              <a:srgbClr val="0A8A88"/>
            </a:solidFill>
          </a:ln>
        </p:spPr>
      </p:sp>
      <p:sp>
        <p:nvSpPr>
          <p:cNvPr id="30" name="">
            <a:extLst xmlns:a="http://schemas.openxmlformats.org/drawingml/2006/main">
              <a:ext uri="{FF2B5EF4-FFF2-40B4-BE49-F238E27FC236}">
                <a16:creationId xmlns:a16="http://schemas.microsoft.com/office/drawing/2014/main" id="{07A0C34E-A175-4D02-A66A-F0E055940CB2}"/>
              </a:ext>
            </a:extLst>
          </p:cNvPr>
          <p:cNvSpPr>
            <a:spLocks xmlns:a="http://schemas.openxmlformats.org/drawingml/2006/main" noGrp="1"/>
          </p:cNvSpPr>
          <p:nvPr/>
        </p:nvSpPr>
        <p:spPr>
          <a:xfrm xmlns:a="http://schemas.openxmlformats.org/drawingml/2006/main">
            <a:off x="5238750" y="1885950"/>
            <a:ext cx="228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CHECKED DEMO REPORT</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e831716c99344d16"/>
          <a:stretch xmlns:a="http://schemas.openxmlformats.org/drawingml/2006/main"/>
        </p:blipFill>
        <p:spPr>
          <a:xfrm xmlns:a="http://schemas.openxmlformats.org/drawingml/2006/main">
            <a:off x="5314950" y="2154436"/>
            <a:ext cx="6181725" cy="3863578"/>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084AD510-51BD-4B8D-9664-18AC9B9F8AC8}"/>
              </a:ext>
            </a:extLst>
          </p:cNvPr>
          <p:cNvSpPr>
            <a:spLocks xmlns:a="http://schemas.openxmlformats.org/drawingml/2006/main" noGrp="1"/>
          </p:cNvSpPr>
          <p:nvPr/>
        </p:nvSpPr>
        <p:spPr>
          <a:xfrm xmlns:a="http://schemas.openxmlformats.org/drawingml/2006/main">
            <a:off x="609600" y="64389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TRIALGUARD  ·  PRESENTATION DECK</a:t>
            </a:r>
          </a:p>
        </p:txBody>
      </p:sp>
      <p:sp>
        <p:nvSpPr>
          <p:cNvPr id="33" name="">
            <a:extLst xmlns:a="http://schemas.openxmlformats.org/drawingml/2006/main">
              <a:ext uri="{FF2B5EF4-FFF2-40B4-BE49-F238E27FC236}">
                <a16:creationId xmlns:a16="http://schemas.microsoft.com/office/drawing/2014/main" id="{E9723571-5524-4237-B996-DF4311EA698D}"/>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03</a:t>
            </a:r>
          </a:p>
        </p:txBody>
      </p:sp>
    </p:spTree>
    <p:extLst>
      <p:ext uri="{BB962C8B-B14F-4D97-AF65-F5344CB8AC3E}">
        <p14:creationId xmlns:p14="http://schemas.microsoft.com/office/powerpoint/2010/main" val="17914521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1DE2A5C0-74C7-415F-9B9C-F67ED06F9528}"/>
              </a:ext>
            </a:extLst>
          </p:cNvPr>
          <p:cNvSpPr>
            <a:spLocks xmlns:a="http://schemas.openxmlformats.org/drawingml/2006/main" noGrp="1"/>
          </p:cNvSpPr>
          <p:nvPr/>
        </p:nvSpPr>
        <p:spPr>
          <a:xfrm xmlns:a="http://schemas.openxmlformats.org/drawingml/2006/main">
            <a:off x="609600" y="466725"/>
            <a:ext cx="51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A8A88"/>
                </a:solidFill>
                <a:latin typeface="Avenir Next"/>
                <a:ea typeface="Avenir Next"/>
                <a:cs typeface="Avenir Next"/>
              </a:defRPr>
            </a:pPr>
            <a:r>
              <a:rPr sz="1275" b="1">
                <a:solidFill>
                  <a:srgbClr val="0A8A88"/>
                </a:solidFill>
                <a:latin typeface="Avenir Next"/>
                <a:ea typeface="Avenir Next"/>
                <a:cs typeface="Avenir Next"/>
              </a:rPr>
              <a:t>04</a:t>
            </a:r>
          </a:p>
        </p:txBody>
      </p:sp>
      <p:sp>
        <p:nvSpPr>
          <p:cNvPr id="2" name="">
            <a:extLst xmlns:a="http://schemas.openxmlformats.org/drawingml/2006/main">
              <a:ext uri="{FF2B5EF4-FFF2-40B4-BE49-F238E27FC236}">
                <a16:creationId xmlns:a16="http://schemas.microsoft.com/office/drawing/2014/main" id="{953240DC-5976-4C88-8F8D-6452F9EC4D83}"/>
              </a:ext>
            </a:extLst>
          </p:cNvPr>
          <p:cNvSpPr>
            <a:spLocks xmlns:a="http://schemas.openxmlformats.org/drawingml/2006/main" noGrp="1"/>
          </p:cNvSpPr>
          <p:nvPr/>
        </p:nvSpPr>
        <p:spPr>
          <a:xfrm xmlns:a="http://schemas.openxmlformats.org/drawingml/2006/main">
            <a:off x="609600" y="7524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0A2538"/>
                </a:solidFill>
                <a:latin typeface="Avenir Next"/>
                <a:ea typeface="Avenir Next"/>
                <a:cs typeface="Avenir Next"/>
              </a:defRPr>
            </a:pPr>
            <a:r>
              <a:rPr sz="3450" b="1">
                <a:solidFill>
                  <a:srgbClr val="0A2538"/>
                </a:solidFill>
                <a:latin typeface="Avenir Next"/>
                <a:ea typeface="Avenir Next"/>
                <a:cs typeface="Avenir Next"/>
              </a:rPr>
              <a:t>System architecture</a:t>
            </a:r>
          </a:p>
        </p:txBody>
      </p:sp>
      <p:sp>
        <p:nvSpPr>
          <p:cNvPr id="3" name="">
            <a:extLst xmlns:a="http://schemas.openxmlformats.org/drawingml/2006/main">
              <a:ext uri="{FF2B5EF4-FFF2-40B4-BE49-F238E27FC236}">
                <a16:creationId xmlns:a16="http://schemas.microsoft.com/office/drawing/2014/main" id="{4382CC10-D011-4F09-966A-756FE70E795E}"/>
              </a:ext>
            </a:extLst>
          </p:cNvPr>
          <p:cNvSpPr>
            <a:spLocks xmlns:a="http://schemas.openxmlformats.org/drawingml/2006/main" noGrp="1"/>
          </p:cNvSpPr>
          <p:nvPr/>
        </p:nvSpPr>
        <p:spPr>
          <a:xfrm xmlns:a="http://schemas.openxmlformats.org/drawingml/2006/main">
            <a:off x="628650" y="13144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The intended AWS design keeps model output inside a deterministic release path</a:t>
            </a:r>
          </a:p>
        </p:txBody>
      </p:sp>
      <p:sp>
        <p:nvSpPr>
          <p:cNvPr id="4" name="">
            <a:extLst xmlns:a="http://schemas.openxmlformats.org/drawingml/2006/main">
              <a:ext uri="{FF2B5EF4-FFF2-40B4-BE49-F238E27FC236}">
                <a16:creationId xmlns:a16="http://schemas.microsoft.com/office/drawing/2014/main" id="{44D8FD61-9BC2-4978-B2B1-AFF8C67630FB}"/>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5" name="">
            <a:extLst xmlns:a="http://schemas.openxmlformats.org/drawingml/2006/main">
              <a:ext uri="{FF2B5EF4-FFF2-40B4-BE49-F238E27FC236}">
                <a16:creationId xmlns:a16="http://schemas.microsoft.com/office/drawing/2014/main" id="{034C1584-5CAE-4951-88EF-883A9E5843B4}"/>
              </a:ext>
            </a:extLst>
          </p:cNvPr>
          <p:cNvSpPr>
            <a:spLocks xmlns:a="http://schemas.openxmlformats.org/drawingml/2006/main" noGrp="1"/>
          </p:cNvSpPr>
          <p:nvPr/>
        </p:nvSpPr>
        <p:spPr>
          <a:xfrm xmlns:a="http://schemas.openxmlformats.org/drawingml/2006/main">
            <a:off x="2000250" y="2543175"/>
            <a:ext cx="304800" cy="171450"/>
          </a:xfrm>
          <a:prstGeom xmlns:a="http://schemas.openxmlformats.org/drawingml/2006/main" prst="rightArrow">
            <a:avLst/>
          </a:prstGeom>
          <a:solidFill xmlns:a="http://schemas.openxmlformats.org/drawingml/2006/main">
            <a:srgbClr val="BEEBE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C5964DC-FCEC-4D79-BFCA-3303B9DD76BA}"/>
              </a:ext>
            </a:extLst>
          </p:cNvPr>
          <p:cNvSpPr>
            <a:spLocks xmlns:a="http://schemas.openxmlformats.org/drawingml/2006/main" noGrp="1"/>
          </p:cNvSpPr>
          <p:nvPr/>
        </p:nvSpPr>
        <p:spPr>
          <a:xfrm xmlns:a="http://schemas.openxmlformats.org/drawingml/2006/main">
            <a:off x="4210050" y="2543175"/>
            <a:ext cx="304800" cy="171450"/>
          </a:xfrm>
          <a:prstGeom xmlns:a="http://schemas.openxmlformats.org/drawingml/2006/main" prst="rightArrow">
            <a:avLst/>
          </a:prstGeom>
          <a:solidFill xmlns:a="http://schemas.openxmlformats.org/drawingml/2006/main">
            <a:srgbClr val="BEEBE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843CF07-1B2E-4420-BEF9-EA5FF40C4F04}"/>
              </a:ext>
            </a:extLst>
          </p:cNvPr>
          <p:cNvSpPr>
            <a:spLocks xmlns:a="http://schemas.openxmlformats.org/drawingml/2006/main" noGrp="1"/>
          </p:cNvSpPr>
          <p:nvPr/>
        </p:nvSpPr>
        <p:spPr>
          <a:xfrm xmlns:a="http://schemas.openxmlformats.org/drawingml/2006/main">
            <a:off x="6991350" y="2543175"/>
            <a:ext cx="304800" cy="171450"/>
          </a:xfrm>
          <a:prstGeom xmlns:a="http://schemas.openxmlformats.org/drawingml/2006/main" prst="rightArrow">
            <a:avLst/>
          </a:prstGeom>
          <a:solidFill xmlns:a="http://schemas.openxmlformats.org/drawingml/2006/main">
            <a:srgbClr val="BEEBE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A2C206-93B3-47ED-82DE-051B6F3B1562}"/>
              </a:ext>
            </a:extLst>
          </p:cNvPr>
          <p:cNvSpPr>
            <a:spLocks xmlns:a="http://schemas.openxmlformats.org/drawingml/2006/main" noGrp="1"/>
          </p:cNvSpPr>
          <p:nvPr/>
        </p:nvSpPr>
        <p:spPr>
          <a:xfrm xmlns:a="http://schemas.openxmlformats.org/drawingml/2006/main">
            <a:off x="9886950" y="2543175"/>
            <a:ext cx="304800" cy="171450"/>
          </a:xfrm>
          <a:prstGeom xmlns:a="http://schemas.openxmlformats.org/drawingml/2006/main" prst="rightArrow">
            <a:avLst/>
          </a:prstGeom>
          <a:solidFill xmlns:a="http://schemas.openxmlformats.org/drawingml/2006/main">
            <a:srgbClr val="BEEBE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8BF8075-626F-4FBA-A87D-07E5A2E39295}"/>
              </a:ext>
            </a:extLst>
          </p:cNvPr>
          <p:cNvSpPr>
            <a:spLocks xmlns:a="http://schemas.openxmlformats.org/drawingml/2006/main" noGrp="1"/>
          </p:cNvSpPr>
          <p:nvPr/>
        </p:nvSpPr>
        <p:spPr>
          <a:xfrm xmlns:a="http://schemas.openxmlformats.org/drawingml/2006/main">
            <a:off x="609600" y="2133600"/>
            <a:ext cx="1352550" cy="990600"/>
          </a:xfrm>
          <a:prstGeom xmlns:a="http://schemas.openxmlformats.org/drawingml/2006/main" prst="roundRect">
            <a:avLst>
              <a:gd name="adj" fmla="val 7692"/>
            </a:avLst>
          </a:prstGeom>
          <a:solidFill xmlns:a="http://schemas.openxmlformats.org/drawingml/2006/main">
            <a:srgbClr val="F5FAF9"/>
          </a:solidFill>
          <a:ln xmlns:a="http://schemas.openxmlformats.org/drawingml/2006/main" w="19050">
            <a:solidFill>
              <a:srgbClr val="0A8A88"/>
            </a:solidFill>
          </a:ln>
        </p:spPr>
      </p:sp>
      <p:sp>
        <p:nvSpPr>
          <p:cNvPr id="10" name="">
            <a:extLst xmlns:a="http://schemas.openxmlformats.org/drawingml/2006/main">
              <a:ext uri="{FF2B5EF4-FFF2-40B4-BE49-F238E27FC236}">
                <a16:creationId xmlns:a16="http://schemas.microsoft.com/office/drawing/2014/main" id="{61CC2557-34F1-412C-9888-38269186725A}"/>
              </a:ext>
            </a:extLst>
          </p:cNvPr>
          <p:cNvSpPr>
            <a:spLocks xmlns:a="http://schemas.openxmlformats.org/drawingml/2006/main" noGrp="1"/>
          </p:cNvSpPr>
          <p:nvPr/>
        </p:nvSpPr>
        <p:spPr>
          <a:xfrm xmlns:a="http://schemas.openxmlformats.org/drawingml/2006/main">
            <a:off x="742950" y="2257425"/>
            <a:ext cx="1085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USER</a:t>
            </a:r>
          </a:p>
        </p:txBody>
      </p:sp>
      <p:sp>
        <p:nvSpPr>
          <p:cNvPr id="11" name="">
            <a:extLst xmlns:a="http://schemas.openxmlformats.org/drawingml/2006/main">
              <a:ext uri="{FF2B5EF4-FFF2-40B4-BE49-F238E27FC236}">
                <a16:creationId xmlns:a16="http://schemas.microsoft.com/office/drawing/2014/main" id="{58FF4355-6CA3-409C-94FE-6C45522EEFED}"/>
              </a:ext>
            </a:extLst>
          </p:cNvPr>
          <p:cNvSpPr>
            <a:spLocks xmlns:a="http://schemas.openxmlformats.org/drawingml/2006/main" noGrp="1"/>
          </p:cNvSpPr>
          <p:nvPr/>
        </p:nvSpPr>
        <p:spPr>
          <a:xfrm xmlns:a="http://schemas.openxmlformats.org/drawingml/2006/main">
            <a:off x="723900" y="2476500"/>
            <a:ext cx="112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Browser</a:t>
            </a:r>
          </a:p>
        </p:txBody>
      </p:sp>
      <p:sp>
        <p:nvSpPr>
          <p:cNvPr id="12" name="">
            <a:extLst xmlns:a="http://schemas.openxmlformats.org/drawingml/2006/main">
              <a:ext uri="{FF2B5EF4-FFF2-40B4-BE49-F238E27FC236}">
                <a16:creationId xmlns:a16="http://schemas.microsoft.com/office/drawing/2014/main" id="{E921CA69-3924-47E5-A2B5-42C46B14A613}"/>
              </a:ext>
            </a:extLst>
          </p:cNvPr>
          <p:cNvSpPr>
            <a:spLocks xmlns:a="http://schemas.openxmlformats.org/drawingml/2006/main" noGrp="1"/>
          </p:cNvSpPr>
          <p:nvPr/>
        </p:nvSpPr>
        <p:spPr>
          <a:xfrm xmlns:a="http://schemas.openxmlformats.org/drawingml/2006/main">
            <a:off x="723900" y="2781300"/>
            <a:ext cx="1123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627781"/>
                </a:solidFill>
                <a:latin typeface="Avenir Next"/>
                <a:ea typeface="Avenir Next"/>
                <a:cs typeface="Avenir Next"/>
              </a:defRPr>
            </a:pPr>
            <a:r>
              <a:rPr sz="900" b="0">
                <a:solidFill>
                  <a:srgbClr val="627781"/>
                </a:solidFill>
                <a:latin typeface="Avenir Next"/>
                <a:ea typeface="Avenir Next"/>
                <a:cs typeface="Avenir Next"/>
              </a:rPr>
              <a:t>Public review UI</a:t>
            </a:r>
          </a:p>
        </p:txBody>
      </p:sp>
      <p:sp>
        <p:nvSpPr>
          <p:cNvPr id="13" name="">
            <a:extLst xmlns:a="http://schemas.openxmlformats.org/drawingml/2006/main">
              <a:ext uri="{FF2B5EF4-FFF2-40B4-BE49-F238E27FC236}">
                <a16:creationId xmlns:a16="http://schemas.microsoft.com/office/drawing/2014/main" id="{0120298B-E8E8-48AB-8D31-471A3C42EE5F}"/>
              </a:ext>
            </a:extLst>
          </p:cNvPr>
          <p:cNvSpPr>
            <a:spLocks xmlns:a="http://schemas.openxmlformats.org/drawingml/2006/main" noGrp="1"/>
          </p:cNvSpPr>
          <p:nvPr/>
        </p:nvSpPr>
        <p:spPr>
          <a:xfrm xmlns:a="http://schemas.openxmlformats.org/drawingml/2006/main">
            <a:off x="2362200" y="2133600"/>
            <a:ext cx="1809750" cy="990600"/>
          </a:xfrm>
          <a:prstGeom xmlns:a="http://schemas.openxmlformats.org/drawingml/2006/main" prst="roundRect">
            <a:avLst>
              <a:gd name="adj" fmla="val 7692"/>
            </a:avLst>
          </a:prstGeom>
          <a:solidFill xmlns:a="http://schemas.openxmlformats.org/drawingml/2006/main">
            <a:srgbClr val="EAF7F4"/>
          </a:solidFill>
          <a:ln xmlns:a="http://schemas.openxmlformats.org/drawingml/2006/main" w="19050">
            <a:solidFill>
              <a:srgbClr val="0A8A88"/>
            </a:solidFill>
          </a:ln>
        </p:spPr>
      </p:sp>
      <p:sp>
        <p:nvSpPr>
          <p:cNvPr id="14" name="">
            <a:extLst xmlns:a="http://schemas.openxmlformats.org/drawingml/2006/main">
              <a:ext uri="{FF2B5EF4-FFF2-40B4-BE49-F238E27FC236}">
                <a16:creationId xmlns:a16="http://schemas.microsoft.com/office/drawing/2014/main" id="{8DEE4158-E484-4308-B787-89A39C02915B}"/>
              </a:ext>
            </a:extLst>
          </p:cNvPr>
          <p:cNvSpPr>
            <a:spLocks xmlns:a="http://schemas.openxmlformats.org/drawingml/2006/main" noGrp="1"/>
          </p:cNvSpPr>
          <p:nvPr/>
        </p:nvSpPr>
        <p:spPr>
          <a:xfrm xmlns:a="http://schemas.openxmlformats.org/drawingml/2006/main">
            <a:off x="2495550" y="2257425"/>
            <a:ext cx="1543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AWS APP RUNNER</a:t>
            </a:r>
          </a:p>
        </p:txBody>
      </p:sp>
      <p:sp>
        <p:nvSpPr>
          <p:cNvPr id="15" name="">
            <a:extLst xmlns:a="http://schemas.openxmlformats.org/drawingml/2006/main">
              <a:ext uri="{FF2B5EF4-FFF2-40B4-BE49-F238E27FC236}">
                <a16:creationId xmlns:a16="http://schemas.microsoft.com/office/drawing/2014/main" id="{A458989F-C5ED-4A6D-AEEE-F801A59273D2}"/>
              </a:ext>
            </a:extLst>
          </p:cNvPr>
          <p:cNvSpPr>
            <a:spLocks xmlns:a="http://schemas.openxmlformats.org/drawingml/2006/main" noGrp="1"/>
          </p:cNvSpPr>
          <p:nvPr/>
        </p:nvSpPr>
        <p:spPr>
          <a:xfrm xmlns:a="http://schemas.openxmlformats.org/drawingml/2006/main">
            <a:off x="2476500" y="247650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FastAPI</a:t>
            </a:r>
          </a:p>
        </p:txBody>
      </p:sp>
      <p:sp>
        <p:nvSpPr>
          <p:cNvPr id="16" name="">
            <a:extLst xmlns:a="http://schemas.openxmlformats.org/drawingml/2006/main">
              <a:ext uri="{FF2B5EF4-FFF2-40B4-BE49-F238E27FC236}">
                <a16:creationId xmlns:a16="http://schemas.microsoft.com/office/drawing/2014/main" id="{09CAD77F-2843-4B9A-A902-CA214FEBAB56}"/>
              </a:ext>
            </a:extLst>
          </p:cNvPr>
          <p:cNvSpPr>
            <a:spLocks xmlns:a="http://schemas.openxmlformats.org/drawingml/2006/main" noGrp="1"/>
          </p:cNvSpPr>
          <p:nvPr/>
        </p:nvSpPr>
        <p:spPr>
          <a:xfrm xmlns:a="http://schemas.openxmlformats.org/drawingml/2006/main">
            <a:off x="2476500" y="2781300"/>
            <a:ext cx="158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627781"/>
                </a:solidFill>
                <a:latin typeface="Avenir Next"/>
                <a:ea typeface="Avenir Next"/>
                <a:cs typeface="Avenir Next"/>
              </a:defRPr>
            </a:pPr>
            <a:r>
              <a:rPr sz="900" b="0">
                <a:solidFill>
                  <a:srgbClr val="627781"/>
                </a:solidFill>
                <a:latin typeface="Avenir Next"/>
                <a:ea typeface="Avenir Next"/>
                <a:cs typeface="Avenir Next"/>
              </a:rPr>
              <a:t>Container service</a:t>
            </a:r>
          </a:p>
        </p:txBody>
      </p:sp>
      <p:sp>
        <p:nvSpPr>
          <p:cNvPr id="17" name="">
            <a:extLst xmlns:a="http://schemas.openxmlformats.org/drawingml/2006/main">
              <a:ext uri="{FF2B5EF4-FFF2-40B4-BE49-F238E27FC236}">
                <a16:creationId xmlns:a16="http://schemas.microsoft.com/office/drawing/2014/main" id="{91666767-B011-4002-B967-964F273D6A02}"/>
              </a:ext>
            </a:extLst>
          </p:cNvPr>
          <p:cNvSpPr>
            <a:spLocks xmlns:a="http://schemas.openxmlformats.org/drawingml/2006/main" noGrp="1"/>
          </p:cNvSpPr>
          <p:nvPr/>
        </p:nvSpPr>
        <p:spPr>
          <a:xfrm xmlns:a="http://schemas.openxmlformats.org/drawingml/2006/main">
            <a:off x="4572000" y="2133600"/>
            <a:ext cx="2381250" cy="990600"/>
          </a:xfrm>
          <a:prstGeom xmlns:a="http://schemas.openxmlformats.org/drawingml/2006/main" prst="roundRect">
            <a:avLst>
              <a:gd name="adj" fmla="val 7692"/>
            </a:avLst>
          </a:prstGeom>
          <a:solidFill xmlns:a="http://schemas.openxmlformats.org/drawingml/2006/main">
            <a:srgbClr val="0A2538"/>
          </a:solidFill>
          <a:ln xmlns:a="http://schemas.openxmlformats.org/drawingml/2006/main" w="19050">
            <a:solidFill>
              <a:srgbClr val="0A2538"/>
            </a:solidFill>
          </a:ln>
        </p:spPr>
      </p:sp>
      <p:sp>
        <p:nvSpPr>
          <p:cNvPr id="18" name="">
            <a:extLst xmlns:a="http://schemas.openxmlformats.org/drawingml/2006/main">
              <a:ext uri="{FF2B5EF4-FFF2-40B4-BE49-F238E27FC236}">
                <a16:creationId xmlns:a16="http://schemas.microsoft.com/office/drawing/2014/main" id="{7FFE8AA1-2201-4FFC-8282-C8556CEF3296}"/>
              </a:ext>
            </a:extLst>
          </p:cNvPr>
          <p:cNvSpPr>
            <a:spLocks xmlns:a="http://schemas.openxmlformats.org/drawingml/2006/main" noGrp="1"/>
          </p:cNvSpPr>
          <p:nvPr/>
        </p:nvSpPr>
        <p:spPr>
          <a:xfrm xmlns:a="http://schemas.openxmlformats.org/drawingml/2006/main">
            <a:off x="4705350" y="2257425"/>
            <a:ext cx="2114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BEEBE4"/>
                </a:solidFill>
                <a:latin typeface="Avenir Next"/>
                <a:ea typeface="Avenir Next"/>
                <a:cs typeface="Avenir Next"/>
              </a:defRPr>
            </a:pPr>
            <a:r>
              <a:rPr sz="750" b="1">
                <a:solidFill>
                  <a:srgbClr val="BEEBE4"/>
                </a:solidFill>
                <a:latin typeface="Avenir Next"/>
                <a:ea typeface="Avenir Next"/>
                <a:cs typeface="Avenir Next"/>
              </a:rPr>
              <a:t>APPLICATION</a:t>
            </a:r>
          </a:p>
        </p:txBody>
      </p:sp>
      <p:sp>
        <p:nvSpPr>
          <p:cNvPr id="19" name="">
            <a:extLst xmlns:a="http://schemas.openxmlformats.org/drawingml/2006/main">
              <a:ext uri="{FF2B5EF4-FFF2-40B4-BE49-F238E27FC236}">
                <a16:creationId xmlns:a16="http://schemas.microsoft.com/office/drawing/2014/main" id="{500408C3-BC29-4A7B-8AD7-D4007989C9EA}"/>
              </a:ext>
            </a:extLst>
          </p:cNvPr>
          <p:cNvSpPr>
            <a:spLocks xmlns:a="http://schemas.openxmlformats.org/drawingml/2006/main" noGrp="1"/>
          </p:cNvSpPr>
          <p:nvPr/>
        </p:nvSpPr>
        <p:spPr>
          <a:xfrm xmlns:a="http://schemas.openxmlformats.org/drawingml/2006/main">
            <a:off x="4686300" y="2476500"/>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Bounded orchestrator</a:t>
            </a:r>
          </a:p>
        </p:txBody>
      </p:sp>
      <p:sp>
        <p:nvSpPr>
          <p:cNvPr id="20" name="">
            <a:extLst xmlns:a="http://schemas.openxmlformats.org/drawingml/2006/main">
              <a:ext uri="{FF2B5EF4-FFF2-40B4-BE49-F238E27FC236}">
                <a16:creationId xmlns:a16="http://schemas.microsoft.com/office/drawing/2014/main" id="{CFB0E972-B6B0-4D03-B3B5-1CDED5A36DBC}"/>
              </a:ext>
            </a:extLst>
          </p:cNvPr>
          <p:cNvSpPr>
            <a:spLocks xmlns:a="http://schemas.openxmlformats.org/drawingml/2006/main" noGrp="1"/>
          </p:cNvSpPr>
          <p:nvPr/>
        </p:nvSpPr>
        <p:spPr>
          <a:xfrm xmlns:a="http://schemas.openxmlformats.org/drawingml/2006/main">
            <a:off x="4686300" y="2781300"/>
            <a:ext cx="2152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BEEBE4"/>
                </a:solidFill>
                <a:latin typeface="Avenir Next"/>
                <a:ea typeface="Avenir Next"/>
                <a:cs typeface="Avenir Next"/>
              </a:defRPr>
            </a:pPr>
            <a:r>
              <a:rPr sz="900" b="0">
                <a:solidFill>
                  <a:srgbClr val="BEEBE4"/>
                </a:solidFill>
                <a:latin typeface="Avenir Next"/>
                <a:ea typeface="Avenir Next"/>
                <a:cs typeface="Avenir Next"/>
              </a:rPr>
              <a:t>Call limits and one revision</a:t>
            </a:r>
          </a:p>
        </p:txBody>
      </p:sp>
      <p:sp>
        <p:nvSpPr>
          <p:cNvPr id="21" name="">
            <a:extLst xmlns:a="http://schemas.openxmlformats.org/drawingml/2006/main">
              <a:ext uri="{FF2B5EF4-FFF2-40B4-BE49-F238E27FC236}">
                <a16:creationId xmlns:a16="http://schemas.microsoft.com/office/drawing/2014/main" id="{861C518E-2599-4B32-B49A-6972D59304E6}"/>
              </a:ext>
            </a:extLst>
          </p:cNvPr>
          <p:cNvSpPr>
            <a:spLocks xmlns:a="http://schemas.openxmlformats.org/drawingml/2006/main" noGrp="1"/>
          </p:cNvSpPr>
          <p:nvPr/>
        </p:nvSpPr>
        <p:spPr>
          <a:xfrm xmlns:a="http://schemas.openxmlformats.org/drawingml/2006/main">
            <a:off x="7353300" y="2133600"/>
            <a:ext cx="24955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9050">
            <a:solidFill>
              <a:srgbClr val="E56B52"/>
            </a:solidFill>
          </a:ln>
        </p:spPr>
      </p:sp>
      <p:sp>
        <p:nvSpPr>
          <p:cNvPr id="22" name="">
            <a:extLst xmlns:a="http://schemas.openxmlformats.org/drawingml/2006/main">
              <a:ext uri="{FF2B5EF4-FFF2-40B4-BE49-F238E27FC236}">
                <a16:creationId xmlns:a16="http://schemas.microsoft.com/office/drawing/2014/main" id="{8231886F-F43B-4DE8-ACDB-6C790CDBFB3D}"/>
              </a:ext>
            </a:extLst>
          </p:cNvPr>
          <p:cNvSpPr>
            <a:spLocks xmlns:a="http://schemas.openxmlformats.org/drawingml/2006/main" noGrp="1"/>
          </p:cNvSpPr>
          <p:nvPr/>
        </p:nvSpPr>
        <p:spPr>
          <a:xfrm xmlns:a="http://schemas.openxmlformats.org/drawingml/2006/main">
            <a:off x="7486650" y="2257425"/>
            <a:ext cx="2228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E56B52"/>
                </a:solidFill>
                <a:latin typeface="Avenir Next"/>
                <a:ea typeface="Avenir Next"/>
                <a:cs typeface="Avenir Next"/>
              </a:defRPr>
            </a:pPr>
            <a:r>
              <a:rPr sz="750" b="1">
                <a:solidFill>
                  <a:srgbClr val="E56B52"/>
                </a:solidFill>
                <a:latin typeface="Avenir Next"/>
                <a:ea typeface="Avenir Next"/>
                <a:cs typeface="Avenir Next"/>
              </a:rPr>
              <a:t>DETERMINISTIC</a:t>
            </a:r>
          </a:p>
        </p:txBody>
      </p:sp>
      <p:sp>
        <p:nvSpPr>
          <p:cNvPr id="23" name="">
            <a:extLst xmlns:a="http://schemas.openxmlformats.org/drawingml/2006/main">
              <a:ext uri="{FF2B5EF4-FFF2-40B4-BE49-F238E27FC236}">
                <a16:creationId xmlns:a16="http://schemas.microsoft.com/office/drawing/2014/main" id="{B1152A44-9CB0-4F71-851C-5A5E273B49E0}"/>
              </a:ext>
            </a:extLst>
          </p:cNvPr>
          <p:cNvSpPr>
            <a:spLocks xmlns:a="http://schemas.openxmlformats.org/drawingml/2006/main" noGrp="1"/>
          </p:cNvSpPr>
          <p:nvPr/>
        </p:nvSpPr>
        <p:spPr>
          <a:xfrm xmlns:a="http://schemas.openxmlformats.org/drawingml/2006/main">
            <a:off x="7467600" y="2476500"/>
            <a:ext cx="2266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Release gates</a:t>
            </a:r>
          </a:p>
        </p:txBody>
      </p:sp>
      <p:sp>
        <p:nvSpPr>
          <p:cNvPr id="24" name="">
            <a:extLst xmlns:a="http://schemas.openxmlformats.org/drawingml/2006/main">
              <a:ext uri="{FF2B5EF4-FFF2-40B4-BE49-F238E27FC236}">
                <a16:creationId xmlns:a16="http://schemas.microsoft.com/office/drawing/2014/main" id="{B07AAA92-B8FE-401E-8FCC-C39DF8695B23}"/>
              </a:ext>
            </a:extLst>
          </p:cNvPr>
          <p:cNvSpPr>
            <a:spLocks xmlns:a="http://schemas.openxmlformats.org/drawingml/2006/main" noGrp="1"/>
          </p:cNvSpPr>
          <p:nvPr/>
        </p:nvSpPr>
        <p:spPr>
          <a:xfrm xmlns:a="http://schemas.openxmlformats.org/drawingml/2006/main">
            <a:off x="7467600" y="2781300"/>
            <a:ext cx="2266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627781"/>
                </a:solidFill>
                <a:latin typeface="Avenir Next"/>
                <a:ea typeface="Avenir Next"/>
                <a:cs typeface="Avenir Next"/>
              </a:defRPr>
            </a:pPr>
            <a:r>
              <a:rPr sz="900" b="0">
                <a:solidFill>
                  <a:srgbClr val="627781"/>
                </a:solidFill>
                <a:latin typeface="Avenir Next"/>
                <a:ea typeface="Avenir Next"/>
                <a:cs typeface="Avenir Next"/>
              </a:rPr>
              <a:t>Citation · numeric · language</a:t>
            </a:r>
          </a:p>
        </p:txBody>
      </p:sp>
      <p:sp>
        <p:nvSpPr>
          <p:cNvPr id="25" name="">
            <a:extLst xmlns:a="http://schemas.openxmlformats.org/drawingml/2006/main">
              <a:ext uri="{FF2B5EF4-FFF2-40B4-BE49-F238E27FC236}">
                <a16:creationId xmlns:a16="http://schemas.microsoft.com/office/drawing/2014/main" id="{08ECF5CB-1EF2-4B6C-BEB9-B1C12878AFEE}"/>
              </a:ext>
            </a:extLst>
          </p:cNvPr>
          <p:cNvSpPr>
            <a:spLocks xmlns:a="http://schemas.openxmlformats.org/drawingml/2006/main" noGrp="1"/>
          </p:cNvSpPr>
          <p:nvPr/>
        </p:nvSpPr>
        <p:spPr>
          <a:xfrm xmlns:a="http://schemas.openxmlformats.org/drawingml/2006/main">
            <a:off x="10248900" y="2133600"/>
            <a:ext cx="1333500" cy="990600"/>
          </a:xfrm>
          <a:prstGeom xmlns:a="http://schemas.openxmlformats.org/drawingml/2006/main" prst="roundRect">
            <a:avLst>
              <a:gd name="adj" fmla="val 7692"/>
            </a:avLst>
          </a:prstGeom>
          <a:solidFill xmlns:a="http://schemas.openxmlformats.org/drawingml/2006/main">
            <a:srgbClr val="FFF6E9"/>
          </a:solidFill>
          <a:ln xmlns:a="http://schemas.openxmlformats.org/drawingml/2006/main" w="19050">
            <a:solidFill>
              <a:srgbClr val="E56B52"/>
            </a:solidFill>
          </a:ln>
        </p:spPr>
      </p:sp>
      <p:sp>
        <p:nvSpPr>
          <p:cNvPr id="26" name="">
            <a:extLst xmlns:a="http://schemas.openxmlformats.org/drawingml/2006/main">
              <a:ext uri="{FF2B5EF4-FFF2-40B4-BE49-F238E27FC236}">
                <a16:creationId xmlns:a16="http://schemas.microsoft.com/office/drawing/2014/main" id="{DDF40520-B7D0-4E21-A2CA-52440C1822AC}"/>
              </a:ext>
            </a:extLst>
          </p:cNvPr>
          <p:cNvSpPr>
            <a:spLocks xmlns:a="http://schemas.openxmlformats.org/drawingml/2006/main" noGrp="1"/>
          </p:cNvSpPr>
          <p:nvPr/>
        </p:nvSpPr>
        <p:spPr>
          <a:xfrm xmlns:a="http://schemas.openxmlformats.org/drawingml/2006/main">
            <a:off x="10382250" y="2257425"/>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E56B52"/>
                </a:solidFill>
                <a:latin typeface="Avenir Next"/>
                <a:ea typeface="Avenir Next"/>
                <a:cs typeface="Avenir Next"/>
              </a:defRPr>
            </a:pPr>
            <a:r>
              <a:rPr sz="750" b="1">
                <a:solidFill>
                  <a:srgbClr val="E56B52"/>
                </a:solidFill>
                <a:latin typeface="Avenir Next"/>
                <a:ea typeface="Avenir Next"/>
                <a:cs typeface="Avenir Next"/>
              </a:rPr>
              <a:t>OUTPUT</a:t>
            </a:r>
          </a:p>
        </p:txBody>
      </p:sp>
      <p:sp>
        <p:nvSpPr>
          <p:cNvPr id="27" name="">
            <a:extLst xmlns:a="http://schemas.openxmlformats.org/drawingml/2006/main">
              <a:ext uri="{FF2B5EF4-FFF2-40B4-BE49-F238E27FC236}">
                <a16:creationId xmlns:a16="http://schemas.microsoft.com/office/drawing/2014/main" id="{A9A8E2A4-8B0C-48B9-8CBB-63683A98321A}"/>
              </a:ext>
            </a:extLst>
          </p:cNvPr>
          <p:cNvSpPr>
            <a:spLocks xmlns:a="http://schemas.openxmlformats.org/drawingml/2006/main" noGrp="1"/>
          </p:cNvSpPr>
          <p:nvPr/>
        </p:nvSpPr>
        <p:spPr>
          <a:xfrm xmlns:a="http://schemas.openxmlformats.org/drawingml/2006/main">
            <a:off x="10363200" y="247650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Report</a:t>
            </a:r>
          </a:p>
        </p:txBody>
      </p:sp>
      <p:sp>
        <p:nvSpPr>
          <p:cNvPr id="28" name="">
            <a:extLst xmlns:a="http://schemas.openxmlformats.org/drawingml/2006/main">
              <a:ext uri="{FF2B5EF4-FFF2-40B4-BE49-F238E27FC236}">
                <a16:creationId xmlns:a16="http://schemas.microsoft.com/office/drawing/2014/main" id="{2C93218F-66DF-443F-B1E7-27F3B99A0BAB}"/>
              </a:ext>
            </a:extLst>
          </p:cNvPr>
          <p:cNvSpPr>
            <a:spLocks xmlns:a="http://schemas.openxmlformats.org/drawingml/2006/main" noGrp="1"/>
          </p:cNvSpPr>
          <p:nvPr/>
        </p:nvSpPr>
        <p:spPr>
          <a:xfrm xmlns:a="http://schemas.openxmlformats.org/drawingml/2006/main">
            <a:off x="10363200" y="2781300"/>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627781"/>
                </a:solidFill>
                <a:latin typeface="Avenir Next"/>
                <a:ea typeface="Avenir Next"/>
                <a:cs typeface="Avenir Next"/>
              </a:defRPr>
            </a:pPr>
            <a:r>
              <a:rPr sz="900" b="0">
                <a:solidFill>
                  <a:srgbClr val="627781"/>
                </a:solidFill>
                <a:latin typeface="Avenir Next"/>
                <a:ea typeface="Avenir Next"/>
                <a:cs typeface="Avenir Next"/>
              </a:rPr>
              <a:t>Human review</a:t>
            </a:r>
          </a:p>
        </p:txBody>
      </p:sp>
      <p:sp>
        <p:nvSpPr>
          <p:cNvPr id="29" name="">
            <a:extLst xmlns:a="http://schemas.openxmlformats.org/drawingml/2006/main">
              <a:ext uri="{FF2B5EF4-FFF2-40B4-BE49-F238E27FC236}">
                <a16:creationId xmlns:a16="http://schemas.microsoft.com/office/drawing/2014/main" id="{8596A240-A765-4222-8892-D1ED269AE82D}"/>
              </a:ext>
            </a:extLst>
          </p:cNvPr>
          <p:cNvSpPr>
            <a:spLocks xmlns:a="http://schemas.openxmlformats.org/drawingml/2006/main" noGrp="1"/>
          </p:cNvSpPr>
          <p:nvPr/>
        </p:nvSpPr>
        <p:spPr>
          <a:xfrm xmlns:a="http://schemas.openxmlformats.org/drawingml/2006/main">
            <a:off x="5762625" y="3124200"/>
            <a:ext cx="0" cy="409575"/>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30" name="">
            <a:extLst xmlns:a="http://schemas.openxmlformats.org/drawingml/2006/main">
              <a:ext uri="{FF2B5EF4-FFF2-40B4-BE49-F238E27FC236}">
                <a16:creationId xmlns:a16="http://schemas.microsoft.com/office/drawing/2014/main" id="{09F3FBCE-3A9A-4ADD-A252-4F12B04B2E62}"/>
              </a:ext>
            </a:extLst>
          </p:cNvPr>
          <p:cNvSpPr>
            <a:spLocks xmlns:a="http://schemas.openxmlformats.org/drawingml/2006/main" noGrp="1"/>
          </p:cNvSpPr>
          <p:nvPr/>
        </p:nvSpPr>
        <p:spPr>
          <a:xfrm xmlns:a="http://schemas.openxmlformats.org/drawingml/2006/main">
            <a:off x="4171950" y="3524250"/>
            <a:ext cx="4400550" cy="0"/>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31" name="">
            <a:extLst xmlns:a="http://schemas.openxmlformats.org/drawingml/2006/main">
              <a:ext uri="{FF2B5EF4-FFF2-40B4-BE49-F238E27FC236}">
                <a16:creationId xmlns:a16="http://schemas.microsoft.com/office/drawing/2014/main" id="{1532737C-8FBB-4AB6-B33E-55E9BB2E92DE}"/>
              </a:ext>
            </a:extLst>
          </p:cNvPr>
          <p:cNvSpPr>
            <a:spLocks xmlns:a="http://schemas.openxmlformats.org/drawingml/2006/main" noGrp="1"/>
          </p:cNvSpPr>
          <p:nvPr/>
        </p:nvSpPr>
        <p:spPr>
          <a:xfrm xmlns:a="http://schemas.openxmlformats.org/drawingml/2006/main">
            <a:off x="4171950" y="3524250"/>
            <a:ext cx="0" cy="247650"/>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32" name="">
            <a:extLst xmlns:a="http://schemas.openxmlformats.org/drawingml/2006/main">
              <a:ext uri="{FF2B5EF4-FFF2-40B4-BE49-F238E27FC236}">
                <a16:creationId xmlns:a16="http://schemas.microsoft.com/office/drawing/2014/main" id="{B1A1C7BF-A435-417B-A96B-112CF44D645A}"/>
              </a:ext>
            </a:extLst>
          </p:cNvPr>
          <p:cNvSpPr>
            <a:spLocks xmlns:a="http://schemas.openxmlformats.org/drawingml/2006/main" noGrp="1"/>
          </p:cNvSpPr>
          <p:nvPr/>
        </p:nvSpPr>
        <p:spPr>
          <a:xfrm xmlns:a="http://schemas.openxmlformats.org/drawingml/2006/main">
            <a:off x="8572500" y="3524250"/>
            <a:ext cx="0" cy="247650"/>
          </a:xfrm>
          <a:prstGeom xmlns:a="http://schemas.openxmlformats.org/drawingml/2006/main" prst="line">
            <a:avLst/>
          </a:prstGeom>
          <a:noFill xmlns:a="http://schemas.openxmlformats.org/drawingml/2006/main"/>
          <a:ln xmlns:a="http://schemas.openxmlformats.org/drawingml/2006/main" w="28575">
            <a:solidFill>
              <a:srgbClr val="BEEBE4"/>
            </a:solidFill>
          </a:ln>
        </p:spPr>
      </p:sp>
      <p:sp>
        <p:nvSpPr>
          <p:cNvPr id="33" name="">
            <a:extLst xmlns:a="http://schemas.openxmlformats.org/drawingml/2006/main">
              <a:ext uri="{FF2B5EF4-FFF2-40B4-BE49-F238E27FC236}">
                <a16:creationId xmlns:a16="http://schemas.microsoft.com/office/drawing/2014/main" id="{10011B1B-16F2-4D41-A651-F4CCA085B73E}"/>
              </a:ext>
            </a:extLst>
          </p:cNvPr>
          <p:cNvSpPr>
            <a:spLocks xmlns:a="http://schemas.openxmlformats.org/drawingml/2006/main" noGrp="1"/>
          </p:cNvSpPr>
          <p:nvPr/>
        </p:nvSpPr>
        <p:spPr>
          <a:xfrm xmlns:a="http://schemas.openxmlformats.org/drawingml/2006/main">
            <a:off x="4086225" y="3705225"/>
            <a:ext cx="171450" cy="209550"/>
          </a:xfrm>
          <a:prstGeom xmlns:a="http://schemas.openxmlformats.org/drawingml/2006/main" prst="downArrow">
            <a:avLst/>
          </a:prstGeom>
          <a:solidFill xmlns:a="http://schemas.openxmlformats.org/drawingml/2006/main">
            <a:srgbClr val="BEEBE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6CD3A5B-2A78-49E8-AB2A-07A14294C81D}"/>
              </a:ext>
            </a:extLst>
          </p:cNvPr>
          <p:cNvSpPr>
            <a:spLocks xmlns:a="http://schemas.openxmlformats.org/drawingml/2006/main" noGrp="1"/>
          </p:cNvSpPr>
          <p:nvPr/>
        </p:nvSpPr>
        <p:spPr>
          <a:xfrm xmlns:a="http://schemas.openxmlformats.org/drawingml/2006/main">
            <a:off x="8486775" y="3705225"/>
            <a:ext cx="171450" cy="209550"/>
          </a:xfrm>
          <a:prstGeom xmlns:a="http://schemas.openxmlformats.org/drawingml/2006/main" prst="downArrow">
            <a:avLst/>
          </a:prstGeom>
          <a:solidFill xmlns:a="http://schemas.openxmlformats.org/drawingml/2006/main">
            <a:srgbClr val="BEEBE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97252D0-C0BF-486E-A257-A83FCDD96EE3}"/>
              </a:ext>
            </a:extLst>
          </p:cNvPr>
          <p:cNvSpPr>
            <a:spLocks xmlns:a="http://schemas.openxmlformats.org/drawingml/2006/main" noGrp="1"/>
          </p:cNvSpPr>
          <p:nvPr/>
        </p:nvSpPr>
        <p:spPr>
          <a:xfrm xmlns:a="http://schemas.openxmlformats.org/drawingml/2006/main">
            <a:off x="4362450" y="3286125"/>
            <a:ext cx="800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READS</a:t>
            </a:r>
          </a:p>
        </p:txBody>
      </p:sp>
      <p:sp>
        <p:nvSpPr>
          <p:cNvPr id="36" name="">
            <a:extLst xmlns:a="http://schemas.openxmlformats.org/drawingml/2006/main">
              <a:ext uri="{FF2B5EF4-FFF2-40B4-BE49-F238E27FC236}">
                <a16:creationId xmlns:a16="http://schemas.microsoft.com/office/drawing/2014/main" id="{F4650A2D-B70C-44EF-82B4-D1E1CB7232FF}"/>
              </a:ext>
            </a:extLst>
          </p:cNvPr>
          <p:cNvSpPr>
            <a:spLocks xmlns:a="http://schemas.openxmlformats.org/drawingml/2006/main" noGrp="1"/>
          </p:cNvSpPr>
          <p:nvPr/>
        </p:nvSpPr>
        <p:spPr>
          <a:xfrm xmlns:a="http://schemas.openxmlformats.org/drawingml/2006/main">
            <a:off x="7600950" y="32861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INVOKES</a:t>
            </a:r>
          </a:p>
        </p:txBody>
      </p:sp>
      <p:sp>
        <p:nvSpPr>
          <p:cNvPr id="37" name="">
            <a:extLst xmlns:a="http://schemas.openxmlformats.org/drawingml/2006/main">
              <a:ext uri="{FF2B5EF4-FFF2-40B4-BE49-F238E27FC236}">
                <a16:creationId xmlns:a16="http://schemas.microsoft.com/office/drawing/2014/main" id="{B1030C5B-2291-41C3-B75D-1C84FE06F802}"/>
              </a:ext>
            </a:extLst>
          </p:cNvPr>
          <p:cNvSpPr>
            <a:spLocks xmlns:a="http://schemas.openxmlformats.org/drawingml/2006/main" noGrp="1"/>
          </p:cNvSpPr>
          <p:nvPr/>
        </p:nvSpPr>
        <p:spPr>
          <a:xfrm xmlns:a="http://schemas.openxmlformats.org/drawingml/2006/main">
            <a:off x="2971800" y="3876675"/>
            <a:ext cx="2400300" cy="1066800"/>
          </a:xfrm>
          <a:prstGeom xmlns:a="http://schemas.openxmlformats.org/drawingml/2006/main" prst="roundRect">
            <a:avLst>
              <a:gd name="adj" fmla="val 7143"/>
            </a:avLst>
          </a:prstGeom>
          <a:solidFill xmlns:a="http://schemas.openxmlformats.org/drawingml/2006/main">
            <a:srgbClr val="F5FAF9"/>
          </a:solidFill>
          <a:ln xmlns:a="http://schemas.openxmlformats.org/drawingml/2006/main" w="19050">
            <a:solidFill>
              <a:srgbClr val="0A8A88"/>
            </a:solidFill>
          </a:ln>
        </p:spPr>
      </p:sp>
      <p:sp>
        <p:nvSpPr>
          <p:cNvPr id="38" name="">
            <a:extLst xmlns:a="http://schemas.openxmlformats.org/drawingml/2006/main">
              <a:ext uri="{FF2B5EF4-FFF2-40B4-BE49-F238E27FC236}">
                <a16:creationId xmlns:a16="http://schemas.microsoft.com/office/drawing/2014/main" id="{144624A4-D75D-4307-81D9-89B8B15710D5}"/>
              </a:ext>
            </a:extLst>
          </p:cNvPr>
          <p:cNvSpPr>
            <a:spLocks xmlns:a="http://schemas.openxmlformats.org/drawingml/2006/main" noGrp="1"/>
          </p:cNvSpPr>
          <p:nvPr/>
        </p:nvSpPr>
        <p:spPr>
          <a:xfrm xmlns:a="http://schemas.openxmlformats.org/drawingml/2006/main">
            <a:off x="3105150" y="40005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8A88"/>
                </a:solidFill>
                <a:latin typeface="Avenir Next"/>
                <a:ea typeface="Avenir Next"/>
                <a:cs typeface="Avenir Next"/>
              </a:defRPr>
            </a:pPr>
            <a:r>
              <a:rPr sz="750" b="1">
                <a:solidFill>
                  <a:srgbClr val="0A8A88"/>
                </a:solidFill>
                <a:latin typeface="Avenir Next"/>
                <a:ea typeface="Avenir Next"/>
                <a:cs typeface="Avenir Next"/>
              </a:rPr>
              <a:t>PUBLIC DATA</a:t>
            </a:r>
          </a:p>
        </p:txBody>
      </p:sp>
      <p:sp>
        <p:nvSpPr>
          <p:cNvPr id="39" name="">
            <a:extLst xmlns:a="http://schemas.openxmlformats.org/drawingml/2006/main">
              <a:ext uri="{FF2B5EF4-FFF2-40B4-BE49-F238E27FC236}">
                <a16:creationId xmlns:a16="http://schemas.microsoft.com/office/drawing/2014/main" id="{D2611701-EC8E-4C97-A711-17B6A2D0DA03}"/>
              </a:ext>
            </a:extLst>
          </p:cNvPr>
          <p:cNvSpPr>
            <a:spLocks xmlns:a="http://schemas.openxmlformats.org/drawingml/2006/main" noGrp="1"/>
          </p:cNvSpPr>
          <p:nvPr/>
        </p:nvSpPr>
        <p:spPr>
          <a:xfrm xmlns:a="http://schemas.openxmlformats.org/drawingml/2006/main">
            <a:off x="3086100" y="421957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ClinicalTrials.gov</a:t>
            </a:r>
          </a:p>
        </p:txBody>
      </p:sp>
      <p:sp>
        <p:nvSpPr>
          <p:cNvPr id="40" name="">
            <a:extLst xmlns:a="http://schemas.openxmlformats.org/drawingml/2006/main">
              <a:ext uri="{FF2B5EF4-FFF2-40B4-BE49-F238E27FC236}">
                <a16:creationId xmlns:a16="http://schemas.microsoft.com/office/drawing/2014/main" id="{DC8F0F25-8054-41F1-ABD7-9B11D64DB961}"/>
              </a:ext>
            </a:extLst>
          </p:cNvPr>
          <p:cNvSpPr>
            <a:spLocks xmlns:a="http://schemas.openxmlformats.org/drawingml/2006/main" noGrp="1"/>
          </p:cNvSpPr>
          <p:nvPr/>
        </p:nvSpPr>
        <p:spPr>
          <a:xfrm xmlns:a="http://schemas.openxmlformats.org/drawingml/2006/main">
            <a:off x="3086100" y="4524375"/>
            <a:ext cx="2171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627781"/>
                </a:solidFill>
                <a:latin typeface="Avenir Next"/>
                <a:ea typeface="Avenir Next"/>
                <a:cs typeface="Avenir Next"/>
              </a:defRPr>
            </a:pPr>
            <a:r>
              <a:rPr sz="900" b="0">
                <a:solidFill>
                  <a:srgbClr val="627781"/>
                </a:solidFill>
                <a:latin typeface="Avenir Next"/>
                <a:ea typeface="Avenir Next"/>
                <a:cs typeface="Avenir Next"/>
              </a:rPr>
              <a:t>Allowlisted fields · bounded cohort</a:t>
            </a:r>
          </a:p>
        </p:txBody>
      </p:sp>
      <p:sp>
        <p:nvSpPr>
          <p:cNvPr id="41" name="">
            <a:extLst xmlns:a="http://schemas.openxmlformats.org/drawingml/2006/main">
              <a:ext uri="{FF2B5EF4-FFF2-40B4-BE49-F238E27FC236}">
                <a16:creationId xmlns:a16="http://schemas.microsoft.com/office/drawing/2014/main" id="{B5EFACB5-DC25-420A-AE70-A3E5CB5A5954}"/>
              </a:ext>
            </a:extLst>
          </p:cNvPr>
          <p:cNvSpPr>
            <a:spLocks xmlns:a="http://schemas.openxmlformats.org/drawingml/2006/main" noGrp="1"/>
          </p:cNvSpPr>
          <p:nvPr/>
        </p:nvSpPr>
        <p:spPr>
          <a:xfrm xmlns:a="http://schemas.openxmlformats.org/drawingml/2006/main">
            <a:off x="5753100" y="3829050"/>
            <a:ext cx="5829300" cy="1162050"/>
          </a:xfrm>
          <a:prstGeom xmlns:a="http://schemas.openxmlformats.org/drawingml/2006/main" prst="roundRect">
            <a:avLst>
              <a:gd name="adj" fmla="val 6557"/>
            </a:avLst>
          </a:prstGeom>
          <a:solidFill xmlns:a="http://schemas.openxmlformats.org/drawingml/2006/main">
            <a:srgbClr val="F5FAF9"/>
          </a:solidFill>
          <a:ln xmlns:a="http://schemas.openxmlformats.org/drawingml/2006/main" w="19050">
            <a:solidFill>
              <a:srgbClr val="0A8A88"/>
            </a:solidFill>
          </a:ln>
        </p:spPr>
      </p:sp>
      <p:sp>
        <p:nvSpPr>
          <p:cNvPr id="42" name="">
            <a:extLst xmlns:a="http://schemas.openxmlformats.org/drawingml/2006/main">
              <a:ext uri="{FF2B5EF4-FFF2-40B4-BE49-F238E27FC236}">
                <a16:creationId xmlns:a16="http://schemas.microsoft.com/office/drawing/2014/main" id="{03B70887-CA92-4566-9A0D-6776437B6A1A}"/>
              </a:ext>
            </a:extLst>
          </p:cNvPr>
          <p:cNvSpPr>
            <a:spLocks xmlns:a="http://schemas.openxmlformats.org/drawingml/2006/main" noGrp="1"/>
          </p:cNvSpPr>
          <p:nvPr/>
        </p:nvSpPr>
        <p:spPr>
          <a:xfrm xmlns:a="http://schemas.openxmlformats.org/drawingml/2006/main">
            <a:off x="5943600" y="3962400"/>
            <a:ext cx="5448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0A8A88"/>
                </a:solidFill>
                <a:latin typeface="Avenir Next"/>
                <a:ea typeface="Avenir Next"/>
                <a:cs typeface="Avenir Next"/>
              </a:defRPr>
            </a:pPr>
            <a:r>
              <a:rPr sz="825" b="1">
                <a:solidFill>
                  <a:srgbClr val="0A8A88"/>
                </a:solidFill>
                <a:latin typeface="Avenir Next"/>
                <a:ea typeface="Avenir Next"/>
                <a:cs typeface="Avenir Next"/>
              </a:rPr>
              <a:t>AMAZON BEDROCK  ·  US-EAST-1</a:t>
            </a:r>
          </a:p>
        </p:txBody>
      </p:sp>
      <p:sp>
        <p:nvSpPr>
          <p:cNvPr id="43" name="">
            <a:extLst xmlns:a="http://schemas.openxmlformats.org/drawingml/2006/main">
              <a:ext uri="{FF2B5EF4-FFF2-40B4-BE49-F238E27FC236}">
                <a16:creationId xmlns:a16="http://schemas.microsoft.com/office/drawing/2014/main" id="{9F46F36F-1C9D-48FB-9B9F-8CC9134C9C24}"/>
              </a:ext>
            </a:extLst>
          </p:cNvPr>
          <p:cNvSpPr>
            <a:spLocks xmlns:a="http://schemas.openxmlformats.org/drawingml/2006/main" noGrp="1"/>
          </p:cNvSpPr>
          <p:nvPr/>
        </p:nvSpPr>
        <p:spPr>
          <a:xfrm xmlns:a="http://schemas.openxmlformats.org/drawingml/2006/main">
            <a:off x="5943600" y="4343400"/>
            <a:ext cx="16383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7E6E3"/>
            </a:solidFill>
          </a:ln>
        </p:spPr>
      </p:sp>
      <p:sp>
        <p:nvSpPr>
          <p:cNvPr id="44" name="">
            <a:extLst xmlns:a="http://schemas.openxmlformats.org/drawingml/2006/main">
              <a:ext uri="{FF2B5EF4-FFF2-40B4-BE49-F238E27FC236}">
                <a16:creationId xmlns:a16="http://schemas.microsoft.com/office/drawing/2014/main" id="{378C93E5-9E0F-47A4-9D41-5EAAD20DF86D}"/>
              </a:ext>
            </a:extLst>
          </p:cNvPr>
          <p:cNvSpPr>
            <a:spLocks xmlns:a="http://schemas.openxmlformats.org/drawingml/2006/main" noGrp="1"/>
          </p:cNvSpPr>
          <p:nvPr/>
        </p:nvSpPr>
        <p:spPr>
          <a:xfrm xmlns:a="http://schemas.openxmlformats.org/drawingml/2006/main">
            <a:off x="6019800" y="4419600"/>
            <a:ext cx="1485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2538"/>
                </a:solidFill>
                <a:latin typeface="Avenir Next"/>
                <a:ea typeface="Avenir Next"/>
                <a:cs typeface="Avenir Next"/>
              </a:defRPr>
            </a:pPr>
            <a:r>
              <a:rPr sz="750" b="1">
                <a:solidFill>
                  <a:srgbClr val="0A2538"/>
                </a:solidFill>
                <a:latin typeface="Avenir Next"/>
                <a:ea typeface="Avenir Next"/>
                <a:cs typeface="Avenir Next"/>
              </a:rPr>
              <a:t>EVIDENCE</a:t>
            </a:r>
          </a:p>
        </p:txBody>
      </p:sp>
      <p:sp>
        <p:nvSpPr>
          <p:cNvPr id="45" name="">
            <a:extLst xmlns:a="http://schemas.openxmlformats.org/drawingml/2006/main">
              <a:ext uri="{FF2B5EF4-FFF2-40B4-BE49-F238E27FC236}">
                <a16:creationId xmlns:a16="http://schemas.microsoft.com/office/drawing/2014/main" id="{39D470DD-960A-4495-8564-77E2E9D8B28A}"/>
              </a:ext>
            </a:extLst>
          </p:cNvPr>
          <p:cNvSpPr>
            <a:spLocks xmlns:a="http://schemas.openxmlformats.org/drawingml/2006/main" noGrp="1"/>
          </p:cNvSpPr>
          <p:nvPr/>
        </p:nvSpPr>
        <p:spPr>
          <a:xfrm xmlns:a="http://schemas.openxmlformats.org/drawingml/2006/main">
            <a:off x="6019800" y="4610100"/>
            <a:ext cx="1485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0">
                <a:solidFill>
                  <a:srgbClr val="627781"/>
                </a:solidFill>
                <a:latin typeface="Avenir Next"/>
                <a:ea typeface="Avenir Next"/>
                <a:cs typeface="Avenir Next"/>
              </a:defRPr>
            </a:pPr>
            <a:r>
              <a:rPr sz="825" b="0">
                <a:solidFill>
                  <a:srgbClr val="627781"/>
                </a:solidFill>
                <a:latin typeface="Avenir Next"/>
                <a:ea typeface="Avenir Next"/>
                <a:cs typeface="Avenir Next"/>
              </a:rPr>
              <a:t>Grounded facts</a:t>
            </a:r>
          </a:p>
        </p:txBody>
      </p:sp>
      <p:sp>
        <p:nvSpPr>
          <p:cNvPr id="46" name="">
            <a:extLst xmlns:a="http://schemas.openxmlformats.org/drawingml/2006/main">
              <a:ext uri="{FF2B5EF4-FFF2-40B4-BE49-F238E27FC236}">
                <a16:creationId xmlns:a16="http://schemas.microsoft.com/office/drawing/2014/main" id="{595E0E44-15F2-4CDC-A66F-69F4174643FD}"/>
              </a:ext>
            </a:extLst>
          </p:cNvPr>
          <p:cNvSpPr>
            <a:spLocks xmlns:a="http://schemas.openxmlformats.org/drawingml/2006/main" noGrp="1"/>
          </p:cNvSpPr>
          <p:nvPr/>
        </p:nvSpPr>
        <p:spPr>
          <a:xfrm xmlns:a="http://schemas.openxmlformats.org/drawingml/2006/main">
            <a:off x="7734300" y="4343400"/>
            <a:ext cx="17526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7E6E3"/>
            </a:solidFill>
          </a:ln>
        </p:spPr>
      </p:sp>
      <p:sp>
        <p:nvSpPr>
          <p:cNvPr id="47" name="">
            <a:extLst xmlns:a="http://schemas.openxmlformats.org/drawingml/2006/main">
              <a:ext uri="{FF2B5EF4-FFF2-40B4-BE49-F238E27FC236}">
                <a16:creationId xmlns:a16="http://schemas.microsoft.com/office/drawing/2014/main" id="{48153685-8A70-45BE-B0CC-09D066EDCAB8}"/>
              </a:ext>
            </a:extLst>
          </p:cNvPr>
          <p:cNvSpPr>
            <a:spLocks xmlns:a="http://schemas.openxmlformats.org/drawingml/2006/main" noGrp="1"/>
          </p:cNvSpPr>
          <p:nvPr/>
        </p:nvSpPr>
        <p:spPr>
          <a:xfrm xmlns:a="http://schemas.openxmlformats.org/drawingml/2006/main">
            <a:off x="7810500" y="44196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2538"/>
                </a:solidFill>
                <a:latin typeface="Avenir Next"/>
                <a:ea typeface="Avenir Next"/>
                <a:cs typeface="Avenir Next"/>
              </a:defRPr>
            </a:pPr>
            <a:r>
              <a:rPr sz="750" b="1">
                <a:solidFill>
                  <a:srgbClr val="0A2538"/>
                </a:solidFill>
                <a:latin typeface="Avenir Next"/>
                <a:ea typeface="Avenir Next"/>
                <a:cs typeface="Avenir Next"/>
              </a:rPr>
              <a:t>COORDINATOR</a:t>
            </a:r>
          </a:p>
        </p:txBody>
      </p:sp>
      <p:sp>
        <p:nvSpPr>
          <p:cNvPr id="48" name="">
            <a:extLst xmlns:a="http://schemas.openxmlformats.org/drawingml/2006/main">
              <a:ext uri="{FF2B5EF4-FFF2-40B4-BE49-F238E27FC236}">
                <a16:creationId xmlns:a16="http://schemas.microsoft.com/office/drawing/2014/main" id="{86DE368E-A1C6-48F9-922B-FA2DD9DC6BFE}"/>
              </a:ext>
            </a:extLst>
          </p:cNvPr>
          <p:cNvSpPr>
            <a:spLocks xmlns:a="http://schemas.openxmlformats.org/drawingml/2006/main" noGrp="1"/>
          </p:cNvSpPr>
          <p:nvPr/>
        </p:nvSpPr>
        <p:spPr>
          <a:xfrm xmlns:a="http://schemas.openxmlformats.org/drawingml/2006/main">
            <a:off x="7810500" y="46101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0">
                <a:solidFill>
                  <a:srgbClr val="627781"/>
                </a:solidFill>
                <a:latin typeface="Avenir Next"/>
                <a:ea typeface="Avenir Next"/>
                <a:cs typeface="Avenir Next"/>
              </a:defRPr>
            </a:pPr>
            <a:r>
              <a:rPr sz="825" b="0">
                <a:solidFill>
                  <a:srgbClr val="627781"/>
                </a:solidFill>
                <a:latin typeface="Avenir Next"/>
                <a:ea typeface="Avenir Next"/>
                <a:cs typeface="Avenir Next"/>
              </a:rPr>
              <a:t>Review questions</a:t>
            </a:r>
          </a:p>
        </p:txBody>
      </p:sp>
      <p:sp>
        <p:nvSpPr>
          <p:cNvPr id="49" name="">
            <a:extLst xmlns:a="http://schemas.openxmlformats.org/drawingml/2006/main">
              <a:ext uri="{FF2B5EF4-FFF2-40B4-BE49-F238E27FC236}">
                <a16:creationId xmlns:a16="http://schemas.microsoft.com/office/drawing/2014/main" id="{7C9407AF-1E9B-4526-9E79-B11586A476FE}"/>
              </a:ext>
            </a:extLst>
          </p:cNvPr>
          <p:cNvSpPr>
            <a:spLocks xmlns:a="http://schemas.openxmlformats.org/drawingml/2006/main" noGrp="1"/>
          </p:cNvSpPr>
          <p:nvPr/>
        </p:nvSpPr>
        <p:spPr>
          <a:xfrm xmlns:a="http://schemas.openxmlformats.org/drawingml/2006/main">
            <a:off x="9639300" y="4343400"/>
            <a:ext cx="17526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7E6E3"/>
            </a:solidFill>
          </a:ln>
        </p:spPr>
      </p:sp>
      <p:sp>
        <p:nvSpPr>
          <p:cNvPr id="50" name="">
            <a:extLst xmlns:a="http://schemas.openxmlformats.org/drawingml/2006/main">
              <a:ext uri="{FF2B5EF4-FFF2-40B4-BE49-F238E27FC236}">
                <a16:creationId xmlns:a16="http://schemas.microsoft.com/office/drawing/2014/main" id="{02C33535-C676-4C43-9673-714932096ECC}"/>
              </a:ext>
            </a:extLst>
          </p:cNvPr>
          <p:cNvSpPr>
            <a:spLocks xmlns:a="http://schemas.openxmlformats.org/drawingml/2006/main" noGrp="1"/>
          </p:cNvSpPr>
          <p:nvPr/>
        </p:nvSpPr>
        <p:spPr>
          <a:xfrm xmlns:a="http://schemas.openxmlformats.org/drawingml/2006/main">
            <a:off x="9715500" y="44196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0A2538"/>
                </a:solidFill>
                <a:latin typeface="Avenir Next"/>
                <a:ea typeface="Avenir Next"/>
                <a:cs typeface="Avenir Next"/>
              </a:defRPr>
            </a:pPr>
            <a:r>
              <a:rPr sz="750" b="1">
                <a:solidFill>
                  <a:srgbClr val="0A2538"/>
                </a:solidFill>
                <a:latin typeface="Avenir Next"/>
                <a:ea typeface="Avenir Next"/>
                <a:cs typeface="Avenir Next"/>
              </a:rPr>
              <a:t>CHALLENGE</a:t>
            </a:r>
          </a:p>
        </p:txBody>
      </p:sp>
      <p:sp>
        <p:nvSpPr>
          <p:cNvPr id="51" name="">
            <a:extLst xmlns:a="http://schemas.openxmlformats.org/drawingml/2006/main">
              <a:ext uri="{FF2B5EF4-FFF2-40B4-BE49-F238E27FC236}">
                <a16:creationId xmlns:a16="http://schemas.microsoft.com/office/drawing/2014/main" id="{59F133D9-F481-420B-A5CC-190F831686C2}"/>
              </a:ext>
            </a:extLst>
          </p:cNvPr>
          <p:cNvSpPr>
            <a:spLocks xmlns:a="http://schemas.openxmlformats.org/drawingml/2006/main" noGrp="1"/>
          </p:cNvSpPr>
          <p:nvPr/>
        </p:nvSpPr>
        <p:spPr>
          <a:xfrm xmlns:a="http://schemas.openxmlformats.org/drawingml/2006/main">
            <a:off x="9715500" y="46101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0">
                <a:solidFill>
                  <a:srgbClr val="627781"/>
                </a:solidFill>
                <a:latin typeface="Avenir Next"/>
                <a:ea typeface="Avenir Next"/>
                <a:cs typeface="Avenir Next"/>
              </a:defRPr>
            </a:pPr>
            <a:r>
              <a:rPr sz="825" b="0">
                <a:solidFill>
                  <a:srgbClr val="627781"/>
                </a:solidFill>
                <a:latin typeface="Avenir Next"/>
                <a:ea typeface="Avenir Next"/>
                <a:cs typeface="Avenir Next"/>
              </a:rPr>
              <a:t>Adversarial review</a:t>
            </a:r>
          </a:p>
        </p:txBody>
      </p:sp>
      <p:sp>
        <p:nvSpPr>
          <p:cNvPr id="52" name="">
            <a:extLst xmlns:a="http://schemas.openxmlformats.org/drawingml/2006/main">
              <a:ext uri="{FF2B5EF4-FFF2-40B4-BE49-F238E27FC236}">
                <a16:creationId xmlns:a16="http://schemas.microsoft.com/office/drawing/2014/main" id="{D300DE08-6BA9-4008-8978-63DFAD7E9C75}"/>
              </a:ext>
            </a:extLst>
          </p:cNvPr>
          <p:cNvSpPr>
            <a:spLocks xmlns:a="http://schemas.openxmlformats.org/drawingml/2006/main" noGrp="1"/>
          </p:cNvSpPr>
          <p:nvPr/>
        </p:nvSpPr>
        <p:spPr>
          <a:xfrm xmlns:a="http://schemas.openxmlformats.org/drawingml/2006/main">
            <a:off x="609600" y="5305425"/>
            <a:ext cx="5219700" cy="800100"/>
          </a:xfrm>
          <a:prstGeom xmlns:a="http://schemas.openxmlformats.org/drawingml/2006/main" prst="roundRect">
            <a:avLst>
              <a:gd name="adj" fmla="val 9524"/>
            </a:avLst>
          </a:prstGeom>
          <a:solidFill xmlns:a="http://schemas.openxmlformats.org/drawingml/2006/main">
            <a:srgbClr val="EAF7F4"/>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5E85F7E9-DEB0-4747-8E3B-25DF396FF891}"/>
              </a:ext>
            </a:extLst>
          </p:cNvPr>
          <p:cNvSpPr>
            <a:spLocks xmlns:a="http://schemas.openxmlformats.org/drawingml/2006/main" noGrp="1"/>
          </p:cNvSpPr>
          <p:nvPr/>
        </p:nvSpPr>
        <p:spPr>
          <a:xfrm xmlns:a="http://schemas.openxmlformats.org/drawingml/2006/main">
            <a:off x="819150" y="5457825"/>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0A8A88"/>
                </a:solidFill>
                <a:latin typeface="Avenir Next"/>
                <a:ea typeface="Avenir Next"/>
                <a:cs typeface="Avenir Next"/>
              </a:defRPr>
            </a:pPr>
            <a:r>
              <a:rPr sz="825" b="1">
                <a:solidFill>
                  <a:srgbClr val="0A8A88"/>
                </a:solidFill>
                <a:latin typeface="Avenir Next"/>
                <a:ea typeface="Avenir Next"/>
                <a:cs typeface="Avenir Next"/>
              </a:rPr>
              <a:t>IAM WORKLOAD ROLE</a:t>
            </a:r>
          </a:p>
        </p:txBody>
      </p:sp>
      <p:sp>
        <p:nvSpPr>
          <p:cNvPr id="54" name="">
            <a:extLst xmlns:a="http://schemas.openxmlformats.org/drawingml/2006/main">
              <a:ext uri="{FF2B5EF4-FFF2-40B4-BE49-F238E27FC236}">
                <a16:creationId xmlns:a16="http://schemas.microsoft.com/office/drawing/2014/main" id="{04A3AC15-90CA-4016-A532-0313E5F9DBCB}"/>
              </a:ext>
            </a:extLst>
          </p:cNvPr>
          <p:cNvSpPr>
            <a:spLocks xmlns:a="http://schemas.openxmlformats.org/drawingml/2006/main" noGrp="1"/>
          </p:cNvSpPr>
          <p:nvPr/>
        </p:nvSpPr>
        <p:spPr>
          <a:xfrm xmlns:a="http://schemas.openxmlformats.org/drawingml/2006/main">
            <a:off x="819150" y="5695950"/>
            <a:ext cx="466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A2538"/>
                </a:solidFill>
                <a:latin typeface="Avenir Next"/>
                <a:ea typeface="Avenir Next"/>
                <a:cs typeface="Avenir Next"/>
              </a:defRPr>
            </a:pPr>
            <a:r>
              <a:rPr sz="1500" b="1">
                <a:solidFill>
                  <a:srgbClr val="0A2538"/>
                </a:solidFill>
                <a:latin typeface="Avenir Next"/>
                <a:ea typeface="Avenir Next"/>
                <a:cs typeface="Avenir Next"/>
              </a:rPr>
              <a:t>No embedded credentials</a:t>
            </a:r>
          </a:p>
        </p:txBody>
      </p:sp>
      <p:sp>
        <p:nvSpPr>
          <p:cNvPr id="55" name="">
            <a:extLst xmlns:a="http://schemas.openxmlformats.org/drawingml/2006/main">
              <a:ext uri="{FF2B5EF4-FFF2-40B4-BE49-F238E27FC236}">
                <a16:creationId xmlns:a16="http://schemas.microsoft.com/office/drawing/2014/main" id="{51163D04-92B2-40DC-B957-B9B21CE5C7C5}"/>
              </a:ext>
            </a:extLst>
          </p:cNvPr>
          <p:cNvSpPr>
            <a:spLocks xmlns:a="http://schemas.openxmlformats.org/drawingml/2006/main" noGrp="1"/>
          </p:cNvSpPr>
          <p:nvPr/>
        </p:nvSpPr>
        <p:spPr>
          <a:xfrm xmlns:a="http://schemas.openxmlformats.org/drawingml/2006/main">
            <a:off x="5981700" y="5305425"/>
            <a:ext cx="5600700" cy="800100"/>
          </a:xfrm>
          <a:prstGeom xmlns:a="http://schemas.openxmlformats.org/drawingml/2006/main" prst="roundRect">
            <a:avLst>
              <a:gd name="adj" fmla="val 9524"/>
            </a:avLst>
          </a:prstGeom>
          <a:solidFill xmlns:a="http://schemas.openxmlformats.org/drawingml/2006/main">
            <a:srgbClr val="EEF4F3"/>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ED23C41-ED18-465A-9BAF-43AF7036CF01}"/>
              </a:ext>
            </a:extLst>
          </p:cNvPr>
          <p:cNvSpPr>
            <a:spLocks xmlns:a="http://schemas.openxmlformats.org/drawingml/2006/main" noGrp="1"/>
          </p:cNvSpPr>
          <p:nvPr/>
        </p:nvSpPr>
        <p:spPr>
          <a:xfrm xmlns:a="http://schemas.openxmlformats.org/drawingml/2006/main">
            <a:off x="6191250" y="54578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0A8A88"/>
                </a:solidFill>
                <a:latin typeface="Avenir Next"/>
                <a:ea typeface="Avenir Next"/>
                <a:cs typeface="Avenir Next"/>
              </a:defRPr>
            </a:pPr>
            <a:r>
              <a:rPr sz="825" b="1">
                <a:solidFill>
                  <a:srgbClr val="0A8A88"/>
                </a:solidFill>
                <a:latin typeface="Avenir Next"/>
                <a:ea typeface="Avenir Next"/>
                <a:cs typeface="Avenir Next"/>
              </a:rPr>
              <a:t>CLOUDWATCH METADATA-ONLY LOGS</a:t>
            </a:r>
          </a:p>
        </p:txBody>
      </p:sp>
      <p:sp>
        <p:nvSpPr>
          <p:cNvPr id="57" name="">
            <a:extLst xmlns:a="http://schemas.openxmlformats.org/drawingml/2006/main">
              <a:ext uri="{FF2B5EF4-FFF2-40B4-BE49-F238E27FC236}">
                <a16:creationId xmlns:a16="http://schemas.microsoft.com/office/drawing/2014/main" id="{990F7892-52A0-47CE-B96B-66F5F08938C1}"/>
              </a:ext>
            </a:extLst>
          </p:cNvPr>
          <p:cNvSpPr>
            <a:spLocks xmlns:a="http://schemas.openxmlformats.org/drawingml/2006/main" noGrp="1"/>
          </p:cNvSpPr>
          <p:nvPr/>
        </p:nvSpPr>
        <p:spPr>
          <a:xfrm xmlns:a="http://schemas.openxmlformats.org/drawingml/2006/main">
            <a:off x="6191250" y="569595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A2538"/>
                </a:solidFill>
                <a:latin typeface="Avenir Next"/>
                <a:ea typeface="Avenir Next"/>
                <a:cs typeface="Avenir Next"/>
              </a:defRPr>
            </a:pPr>
            <a:r>
              <a:rPr sz="1350" b="1">
                <a:solidFill>
                  <a:srgbClr val="0A2538"/>
                </a:solidFill>
                <a:latin typeface="Avenir Next"/>
                <a:ea typeface="Avenir Next"/>
                <a:cs typeface="Avenir Next"/>
              </a:rPr>
              <a:t>Run ID, latency, token counts, and gate status only</a:t>
            </a:r>
          </a:p>
        </p:txBody>
      </p:sp>
      <p:sp>
        <p:nvSpPr>
          <p:cNvPr id="58" name="">
            <a:extLst xmlns:a="http://schemas.openxmlformats.org/drawingml/2006/main">
              <a:ext uri="{FF2B5EF4-FFF2-40B4-BE49-F238E27FC236}">
                <a16:creationId xmlns:a16="http://schemas.microsoft.com/office/drawing/2014/main" id="{AA85DFE8-F35C-47FC-A192-27ECB8CCD8ED}"/>
              </a:ext>
            </a:extLst>
          </p:cNvPr>
          <p:cNvSpPr>
            <a:spLocks xmlns:a="http://schemas.openxmlformats.org/drawingml/2006/main" noGrp="1"/>
          </p:cNvSpPr>
          <p:nvPr/>
        </p:nvSpPr>
        <p:spPr>
          <a:xfrm xmlns:a="http://schemas.openxmlformats.org/drawingml/2006/main">
            <a:off x="609600" y="64389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TRIALGUARD  ·  PRESENTATION DECK</a:t>
            </a:r>
          </a:p>
        </p:txBody>
      </p:sp>
      <p:sp>
        <p:nvSpPr>
          <p:cNvPr id="59" name="">
            <a:extLst xmlns:a="http://schemas.openxmlformats.org/drawingml/2006/main">
              <a:ext uri="{FF2B5EF4-FFF2-40B4-BE49-F238E27FC236}">
                <a16:creationId xmlns:a16="http://schemas.microsoft.com/office/drawing/2014/main" id="{1F029C92-9C92-47A6-AE15-7D53E608A5F2}"/>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04</a:t>
            </a:r>
          </a:p>
        </p:txBody>
      </p:sp>
    </p:spTree>
    <p:extLst>
      <p:ext uri="{BB962C8B-B14F-4D97-AF65-F5344CB8AC3E}">
        <p14:creationId xmlns:p14="http://schemas.microsoft.com/office/powerpoint/2010/main" val="1773093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8A63C95-8C56-4904-AB02-9C994E641F7C}"/>
              </a:ext>
            </a:extLst>
          </p:cNvPr>
          <p:cNvSpPr>
            <a:spLocks xmlns:a="http://schemas.openxmlformats.org/drawingml/2006/main" noGrp="1"/>
          </p:cNvSpPr>
          <p:nvPr/>
        </p:nvSpPr>
        <p:spPr>
          <a:xfrm xmlns:a="http://schemas.openxmlformats.org/drawingml/2006/main">
            <a:off x="609600" y="466725"/>
            <a:ext cx="51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A8A88"/>
                </a:solidFill>
                <a:latin typeface="Avenir Next"/>
                <a:ea typeface="Avenir Next"/>
                <a:cs typeface="Avenir Next"/>
              </a:defRPr>
            </a:pPr>
            <a:r>
              <a:rPr sz="1275" b="1">
                <a:solidFill>
                  <a:srgbClr val="0A8A88"/>
                </a:solidFill>
                <a:latin typeface="Avenir Next"/>
                <a:ea typeface="Avenir Next"/>
                <a:cs typeface="Avenir Next"/>
              </a:rPr>
              <a:t>05</a:t>
            </a:r>
          </a:p>
        </p:txBody>
      </p:sp>
      <p:sp>
        <p:nvSpPr>
          <p:cNvPr id="2" name="">
            <a:extLst xmlns:a="http://schemas.openxmlformats.org/drawingml/2006/main">
              <a:ext uri="{FF2B5EF4-FFF2-40B4-BE49-F238E27FC236}">
                <a16:creationId xmlns:a16="http://schemas.microsoft.com/office/drawing/2014/main" id="{41D59F46-FA9E-4534-B7E4-54D6615F5B64}"/>
              </a:ext>
            </a:extLst>
          </p:cNvPr>
          <p:cNvSpPr>
            <a:spLocks xmlns:a="http://schemas.openxmlformats.org/drawingml/2006/main" noGrp="1"/>
          </p:cNvSpPr>
          <p:nvPr/>
        </p:nvSpPr>
        <p:spPr>
          <a:xfrm xmlns:a="http://schemas.openxmlformats.org/drawingml/2006/main">
            <a:off x="609600" y="7524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0A2538"/>
                </a:solidFill>
                <a:latin typeface="Avenir Next"/>
                <a:ea typeface="Avenir Next"/>
                <a:cs typeface="Avenir Next"/>
              </a:defRPr>
            </a:pPr>
            <a:r>
              <a:rPr sz="3450" b="1">
                <a:solidFill>
                  <a:srgbClr val="0A2538"/>
                </a:solidFill>
                <a:latin typeface="Avenir Next"/>
                <a:ea typeface="Avenir Next"/>
                <a:cs typeface="Avenir Next"/>
              </a:rPr>
              <a:t>Evaluation results</a:t>
            </a:r>
          </a:p>
        </p:txBody>
      </p:sp>
      <p:sp>
        <p:nvSpPr>
          <p:cNvPr id="3" name="">
            <a:extLst xmlns:a="http://schemas.openxmlformats.org/drawingml/2006/main">
              <a:ext uri="{FF2B5EF4-FFF2-40B4-BE49-F238E27FC236}">
                <a16:creationId xmlns:a16="http://schemas.microsoft.com/office/drawing/2014/main" id="{0B4D5ACE-4A39-4B51-AA2F-32B5DE2CD17C}"/>
              </a:ext>
            </a:extLst>
          </p:cNvPr>
          <p:cNvSpPr>
            <a:spLocks xmlns:a="http://schemas.openxmlformats.org/drawingml/2006/main" noGrp="1"/>
          </p:cNvSpPr>
          <p:nvPr/>
        </p:nvSpPr>
        <p:spPr>
          <a:xfrm xmlns:a="http://schemas.openxmlformats.org/drawingml/2006/main">
            <a:off x="628650" y="13144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Repeatable checks and one live smoke test show the current implementation boundary</a:t>
            </a:r>
          </a:p>
        </p:txBody>
      </p:sp>
      <p:sp>
        <p:nvSpPr>
          <p:cNvPr id="4" name="">
            <a:extLst xmlns:a="http://schemas.openxmlformats.org/drawingml/2006/main">
              <a:ext uri="{FF2B5EF4-FFF2-40B4-BE49-F238E27FC236}">
                <a16:creationId xmlns:a16="http://schemas.microsoft.com/office/drawing/2014/main" id="{31BA7E9D-C961-4C6E-8D66-9BE5CF0CFED6}"/>
              </a:ext>
            </a:extLst>
          </p:cNvPr>
          <p:cNvSpPr>
            <a:spLocks xmlns:a="http://schemas.openxmlformats.org/drawingml/2006/main" noGrp="1"/>
          </p:cNvSpPr>
          <p:nvPr/>
        </p:nvSpPr>
        <p:spPr>
          <a:xfrm xmlns:a="http://schemas.openxmlformats.org/drawingml/2006/main">
            <a:off x="609600" y="1790700"/>
            <a:ext cx="109728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5" name="">
            <a:extLst xmlns:a="http://schemas.openxmlformats.org/drawingml/2006/main">
              <a:ext uri="{FF2B5EF4-FFF2-40B4-BE49-F238E27FC236}">
                <a16:creationId xmlns:a16="http://schemas.microsoft.com/office/drawing/2014/main" id="{29D11933-27B4-49F2-A6C4-022029567D0C}"/>
              </a:ext>
            </a:extLst>
          </p:cNvPr>
          <p:cNvSpPr>
            <a:spLocks xmlns:a="http://schemas.openxmlformats.org/drawingml/2006/main" noGrp="1"/>
          </p:cNvSpPr>
          <p:nvPr/>
        </p:nvSpPr>
        <p:spPr>
          <a:xfrm xmlns:a="http://schemas.openxmlformats.org/drawingml/2006/main">
            <a:off x="628650" y="21145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0A8A88"/>
                </a:solidFill>
                <a:latin typeface="Avenir Next"/>
                <a:ea typeface="Avenir Next"/>
                <a:cs typeface="Avenir Next"/>
              </a:defRPr>
            </a:pPr>
            <a:r>
              <a:rPr sz="1050" b="1">
                <a:solidFill>
                  <a:srgbClr val="0A8A88"/>
                </a:solidFill>
                <a:latin typeface="Avenir Next"/>
                <a:ea typeface="Avenir Next"/>
                <a:cs typeface="Avenir Next"/>
              </a:rPr>
              <a:t>AUTOMATED VALIDATION</a:t>
            </a:r>
          </a:p>
        </p:txBody>
      </p:sp>
      <p:sp>
        <p:nvSpPr>
          <p:cNvPr id="6" name="">
            <a:extLst xmlns:a="http://schemas.openxmlformats.org/drawingml/2006/main">
              <a:ext uri="{FF2B5EF4-FFF2-40B4-BE49-F238E27FC236}">
                <a16:creationId xmlns:a16="http://schemas.microsoft.com/office/drawing/2014/main" id="{1260709B-046F-44B9-B7E0-513F677AFD7A}"/>
              </a:ext>
            </a:extLst>
          </p:cNvPr>
          <p:cNvSpPr>
            <a:spLocks xmlns:a="http://schemas.openxmlformats.org/drawingml/2006/main" noGrp="1"/>
          </p:cNvSpPr>
          <p:nvPr/>
        </p:nvSpPr>
        <p:spPr>
          <a:xfrm xmlns:a="http://schemas.openxmlformats.org/drawingml/2006/main">
            <a:off x="609600" y="24574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650" b="1">
                <a:solidFill>
                  <a:srgbClr val="0A2538"/>
                </a:solidFill>
                <a:latin typeface="Avenir Next"/>
                <a:ea typeface="Avenir Next"/>
                <a:cs typeface="Avenir Next"/>
              </a:defRPr>
            </a:pPr>
            <a:r>
              <a:rPr sz="4650" b="1">
                <a:solidFill>
                  <a:srgbClr val="0A2538"/>
                </a:solidFill>
                <a:latin typeface="Avenir Next"/>
                <a:ea typeface="Avenir Next"/>
                <a:cs typeface="Avenir Next"/>
              </a:rPr>
              <a:t>52/52</a:t>
            </a:r>
          </a:p>
        </p:txBody>
      </p:sp>
      <p:sp>
        <p:nvSpPr>
          <p:cNvPr id="7" name="">
            <a:extLst xmlns:a="http://schemas.openxmlformats.org/drawingml/2006/main">
              <a:ext uri="{FF2B5EF4-FFF2-40B4-BE49-F238E27FC236}">
                <a16:creationId xmlns:a16="http://schemas.microsoft.com/office/drawing/2014/main" id="{5011C1E8-F3BB-4E8A-81F7-A583389B3D69}"/>
              </a:ext>
            </a:extLst>
          </p:cNvPr>
          <p:cNvSpPr>
            <a:spLocks xmlns:a="http://schemas.openxmlformats.org/drawingml/2006/main" noGrp="1"/>
          </p:cNvSpPr>
          <p:nvPr/>
        </p:nvSpPr>
        <p:spPr>
          <a:xfrm xmlns:a="http://schemas.openxmlformats.org/drawingml/2006/main">
            <a:off x="628650" y="31146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tests pass</a:t>
            </a:r>
          </a:p>
        </p:txBody>
      </p:sp>
      <p:sp>
        <p:nvSpPr>
          <p:cNvPr id="8" name="">
            <a:extLst xmlns:a="http://schemas.openxmlformats.org/drawingml/2006/main">
              <a:ext uri="{FF2B5EF4-FFF2-40B4-BE49-F238E27FC236}">
                <a16:creationId xmlns:a16="http://schemas.microsoft.com/office/drawing/2014/main" id="{F1E399C6-7D8C-41F6-8DAF-0BD50C914460}"/>
              </a:ext>
            </a:extLst>
          </p:cNvPr>
          <p:cNvSpPr>
            <a:spLocks xmlns:a="http://schemas.openxmlformats.org/drawingml/2006/main" noGrp="1"/>
          </p:cNvSpPr>
          <p:nvPr/>
        </p:nvSpPr>
        <p:spPr>
          <a:xfrm xmlns:a="http://schemas.openxmlformats.org/drawingml/2006/main">
            <a:off x="609600" y="3600450"/>
            <a:ext cx="40005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9" name="">
            <a:extLst xmlns:a="http://schemas.openxmlformats.org/drawingml/2006/main">
              <a:ext uri="{FF2B5EF4-FFF2-40B4-BE49-F238E27FC236}">
                <a16:creationId xmlns:a16="http://schemas.microsoft.com/office/drawing/2014/main" id="{E1BDE7D7-F02A-4CB5-B123-E365BF8139A6}"/>
              </a:ext>
            </a:extLst>
          </p:cNvPr>
          <p:cNvSpPr>
            <a:spLocks xmlns:a="http://schemas.openxmlformats.org/drawingml/2006/main" noGrp="1"/>
          </p:cNvSpPr>
          <p:nvPr/>
        </p:nvSpPr>
        <p:spPr>
          <a:xfrm xmlns:a="http://schemas.openxmlformats.org/drawingml/2006/main">
            <a:off x="609600" y="3829050"/>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650" b="1">
                <a:solidFill>
                  <a:srgbClr val="0A2538"/>
                </a:solidFill>
                <a:latin typeface="Avenir Next"/>
                <a:ea typeface="Avenir Next"/>
                <a:cs typeface="Avenir Next"/>
              </a:defRPr>
            </a:pPr>
            <a:r>
              <a:rPr sz="4650" b="1">
                <a:solidFill>
                  <a:srgbClr val="0A2538"/>
                </a:solidFill>
                <a:latin typeface="Avenir Next"/>
                <a:ea typeface="Avenir Next"/>
                <a:cs typeface="Avenir Next"/>
              </a:rPr>
              <a:t>7/7</a:t>
            </a:r>
          </a:p>
        </p:txBody>
      </p:sp>
      <p:sp>
        <p:nvSpPr>
          <p:cNvPr id="10" name="">
            <a:extLst xmlns:a="http://schemas.openxmlformats.org/drawingml/2006/main">
              <a:ext uri="{FF2B5EF4-FFF2-40B4-BE49-F238E27FC236}">
                <a16:creationId xmlns:a16="http://schemas.microsoft.com/office/drawing/2014/main" id="{9EFF4DD2-281A-4A60-8355-C050BA883D62}"/>
              </a:ext>
            </a:extLst>
          </p:cNvPr>
          <p:cNvSpPr>
            <a:spLocks xmlns:a="http://schemas.openxmlformats.org/drawingml/2006/main" noGrp="1"/>
          </p:cNvSpPr>
          <p:nvPr/>
        </p:nvSpPr>
        <p:spPr>
          <a:xfrm xmlns:a="http://schemas.openxmlformats.org/drawingml/2006/main">
            <a:off x="628650" y="4495800"/>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27781"/>
                </a:solidFill>
                <a:latin typeface="Avenir Next"/>
                <a:ea typeface="Avenir Next"/>
                <a:cs typeface="Avenir Next"/>
              </a:defRPr>
            </a:pPr>
            <a:r>
              <a:rPr sz="1650" b="0">
                <a:solidFill>
                  <a:srgbClr val="627781"/>
                </a:solidFill>
                <a:latin typeface="Avenir Next"/>
                <a:ea typeface="Avenir Next"/>
                <a:cs typeface="Avenir Next"/>
              </a:rPr>
              <a:t>synthetic offline evaluation behaviors matched</a:t>
            </a:r>
          </a:p>
        </p:txBody>
      </p:sp>
      <p:sp>
        <p:nvSpPr>
          <p:cNvPr id="11" name="">
            <a:extLst xmlns:a="http://schemas.openxmlformats.org/drawingml/2006/main">
              <a:ext uri="{FF2B5EF4-FFF2-40B4-BE49-F238E27FC236}">
                <a16:creationId xmlns:a16="http://schemas.microsoft.com/office/drawing/2014/main" id="{6B0C6F01-B02A-4AF3-BC10-C79F4802ED29}"/>
              </a:ext>
            </a:extLst>
          </p:cNvPr>
          <p:cNvSpPr>
            <a:spLocks xmlns:a="http://schemas.openxmlformats.org/drawingml/2006/main" noGrp="1"/>
          </p:cNvSpPr>
          <p:nvPr/>
        </p:nvSpPr>
        <p:spPr>
          <a:xfrm xmlns:a="http://schemas.openxmlformats.org/drawingml/2006/main">
            <a:off x="628650" y="5257800"/>
            <a:ext cx="3857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27781"/>
                </a:solidFill>
                <a:latin typeface="Avenir Next"/>
                <a:ea typeface="Avenir Next"/>
                <a:cs typeface="Avenir Next"/>
              </a:defRPr>
            </a:pPr>
            <a:r>
              <a:rPr sz="1200" b="0">
                <a:solidFill>
                  <a:srgbClr val="627781"/>
                </a:solidFill>
                <a:latin typeface="Avenir Next"/>
                <a:ea typeface="Avenir Next"/>
                <a:cs typeface="Avenir Next"/>
              </a:rPr>
              <a:t>Cases cover invalid IDs, sparse evidence, prompt injection, fabricated citations, and numeric mismatches.</a:t>
            </a:r>
          </a:p>
        </p:txBody>
      </p:sp>
      <p:sp>
        <p:nvSpPr>
          <p:cNvPr id="12" name="">
            <a:extLst xmlns:a="http://schemas.openxmlformats.org/drawingml/2006/main">
              <a:ext uri="{FF2B5EF4-FFF2-40B4-BE49-F238E27FC236}">
                <a16:creationId xmlns:a16="http://schemas.microsoft.com/office/drawing/2014/main" id="{CC8AA7E5-C3B2-4017-8800-2600DAFAE3B0}"/>
              </a:ext>
            </a:extLst>
          </p:cNvPr>
          <p:cNvSpPr>
            <a:spLocks xmlns:a="http://schemas.openxmlformats.org/drawingml/2006/main" noGrp="1"/>
          </p:cNvSpPr>
          <p:nvPr/>
        </p:nvSpPr>
        <p:spPr>
          <a:xfrm xmlns:a="http://schemas.openxmlformats.org/drawingml/2006/main">
            <a:off x="5010150" y="2057400"/>
            <a:ext cx="0" cy="400050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13" name="">
            <a:extLst xmlns:a="http://schemas.openxmlformats.org/drawingml/2006/main">
              <a:ext uri="{FF2B5EF4-FFF2-40B4-BE49-F238E27FC236}">
                <a16:creationId xmlns:a16="http://schemas.microsoft.com/office/drawing/2014/main" id="{B0370D80-9ACD-4E74-AA96-51BD187A1A38}"/>
              </a:ext>
            </a:extLst>
          </p:cNvPr>
          <p:cNvSpPr>
            <a:spLocks xmlns:a="http://schemas.openxmlformats.org/drawingml/2006/main" noGrp="1"/>
          </p:cNvSpPr>
          <p:nvPr/>
        </p:nvSpPr>
        <p:spPr>
          <a:xfrm xmlns:a="http://schemas.openxmlformats.org/drawingml/2006/main">
            <a:off x="5486400" y="2114550"/>
            <a:ext cx="561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E56B52"/>
                </a:solidFill>
                <a:latin typeface="Avenir Next"/>
                <a:ea typeface="Avenir Next"/>
                <a:cs typeface="Avenir Next"/>
              </a:defRPr>
            </a:pPr>
            <a:r>
              <a:rPr sz="1050" b="1">
                <a:solidFill>
                  <a:srgbClr val="E56B52"/>
                </a:solidFill>
                <a:latin typeface="Avenir Next"/>
                <a:ea typeface="Avenir Next"/>
                <a:cs typeface="Avenir Next"/>
              </a:rPr>
              <a:t>LIVE SMOKE TEST  ·  ONE SAMPLE</a:t>
            </a:r>
          </a:p>
        </p:txBody>
      </p:sp>
      <p:sp>
        <p:nvSpPr>
          <p:cNvPr id="14" name="">
            <a:extLst xmlns:a="http://schemas.openxmlformats.org/drawingml/2006/main">
              <a:ext uri="{FF2B5EF4-FFF2-40B4-BE49-F238E27FC236}">
                <a16:creationId xmlns:a16="http://schemas.microsoft.com/office/drawing/2014/main" id="{463D2B75-13CA-4EA4-B3B8-AB9ED3D95234}"/>
              </a:ext>
            </a:extLst>
          </p:cNvPr>
          <p:cNvSpPr>
            <a:spLocks xmlns:a="http://schemas.openxmlformats.org/drawingml/2006/main" noGrp="1"/>
          </p:cNvSpPr>
          <p:nvPr/>
        </p:nvSpPr>
        <p:spPr>
          <a:xfrm xmlns:a="http://schemas.openxmlformats.org/drawingml/2006/main">
            <a:off x="5486400" y="247650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A8A88"/>
                </a:solidFill>
                <a:latin typeface="Avenir Next"/>
                <a:ea typeface="Avenir Next"/>
                <a:cs typeface="Avenir Next"/>
              </a:defRPr>
            </a:pPr>
            <a:r>
              <a:rPr sz="1425" b="1">
                <a:solidFill>
                  <a:srgbClr val="0A8A88"/>
                </a:solidFill>
                <a:latin typeface="Avenir Next"/>
                <a:ea typeface="Avenir Next"/>
                <a:cs typeface="Avenir Next"/>
              </a:rPr>
              <a:t>NCT06860815</a:t>
            </a:r>
          </a:p>
        </p:txBody>
      </p:sp>
      <p:sp>
        <p:nvSpPr>
          <p:cNvPr id="15" name="">
            <a:extLst xmlns:a="http://schemas.openxmlformats.org/drawingml/2006/main">
              <a:ext uri="{FF2B5EF4-FFF2-40B4-BE49-F238E27FC236}">
                <a16:creationId xmlns:a16="http://schemas.microsoft.com/office/drawing/2014/main" id="{9A3CA84D-31A8-469E-BA97-AD051E8D64A1}"/>
              </a:ext>
            </a:extLst>
          </p:cNvPr>
          <p:cNvSpPr>
            <a:spLocks xmlns:a="http://schemas.openxmlformats.org/drawingml/2006/main" noGrp="1"/>
          </p:cNvSpPr>
          <p:nvPr/>
        </p:nvSpPr>
        <p:spPr>
          <a:xfrm xmlns:a="http://schemas.openxmlformats.org/drawingml/2006/main">
            <a:off x="5486400" y="2857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0A2538"/>
                </a:solidFill>
                <a:latin typeface="Avenir Next"/>
                <a:ea typeface="Avenir Next"/>
                <a:cs typeface="Avenir Next"/>
              </a:defRPr>
            </a:pPr>
            <a:r>
              <a:rPr sz="2850" b="1">
                <a:solidFill>
                  <a:srgbClr val="0A2538"/>
                </a:solidFill>
                <a:latin typeface="Avenir Next"/>
                <a:ea typeface="Avenir Next"/>
                <a:cs typeface="Avenir Next"/>
              </a:rPr>
              <a:t>Full release</a:t>
            </a:r>
          </a:p>
        </p:txBody>
      </p:sp>
      <p:sp>
        <p:nvSpPr>
          <p:cNvPr id="16" name="">
            <a:extLst xmlns:a="http://schemas.openxmlformats.org/drawingml/2006/main">
              <a:ext uri="{FF2B5EF4-FFF2-40B4-BE49-F238E27FC236}">
                <a16:creationId xmlns:a16="http://schemas.microsoft.com/office/drawing/2014/main" id="{96F238EC-A735-4B01-9C3C-592687A14B6C}"/>
              </a:ext>
            </a:extLst>
          </p:cNvPr>
          <p:cNvSpPr>
            <a:spLocks xmlns:a="http://schemas.openxmlformats.org/drawingml/2006/main" noGrp="1"/>
          </p:cNvSpPr>
          <p:nvPr/>
        </p:nvSpPr>
        <p:spPr>
          <a:xfrm xmlns:a="http://schemas.openxmlformats.org/drawingml/2006/main">
            <a:off x="8458200" y="2962275"/>
            <a:ext cx="2828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1">
                <a:solidFill>
                  <a:srgbClr val="0A8A88"/>
                </a:solidFill>
                <a:latin typeface="Avenir Next"/>
                <a:ea typeface="Avenir Next"/>
                <a:cs typeface="Avenir Next"/>
              </a:defRPr>
            </a:pPr>
            <a:r>
              <a:rPr sz="1425" b="1">
                <a:solidFill>
                  <a:srgbClr val="0A8A88"/>
                </a:solidFill>
                <a:latin typeface="Avenir Next"/>
                <a:ea typeface="Avenir Next"/>
                <a:cs typeface="Avenir Next"/>
              </a:rPr>
              <a:t>14/14 checks passed</a:t>
            </a:r>
          </a:p>
        </p:txBody>
      </p:sp>
      <p:sp>
        <p:nvSpPr>
          <p:cNvPr id="17" name="">
            <a:extLst xmlns:a="http://schemas.openxmlformats.org/drawingml/2006/main">
              <a:ext uri="{FF2B5EF4-FFF2-40B4-BE49-F238E27FC236}">
                <a16:creationId xmlns:a16="http://schemas.microsoft.com/office/drawing/2014/main" id="{6BFB9D5B-8528-426B-95B1-001C9D9A1D87}"/>
              </a:ext>
            </a:extLst>
          </p:cNvPr>
          <p:cNvSpPr>
            <a:spLocks xmlns:a="http://schemas.openxmlformats.org/drawingml/2006/main" noGrp="1"/>
          </p:cNvSpPr>
          <p:nvPr/>
        </p:nvSpPr>
        <p:spPr>
          <a:xfrm xmlns:a="http://schemas.openxmlformats.org/drawingml/2006/main">
            <a:off x="5486400" y="3476625"/>
            <a:ext cx="581025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18" name="">
            <a:extLst xmlns:a="http://schemas.openxmlformats.org/drawingml/2006/main">
              <a:ext uri="{FF2B5EF4-FFF2-40B4-BE49-F238E27FC236}">
                <a16:creationId xmlns:a16="http://schemas.microsoft.com/office/drawing/2014/main" id="{07324B9F-0138-4AAB-865B-4321793A41B6}"/>
              </a:ext>
            </a:extLst>
          </p:cNvPr>
          <p:cNvSpPr>
            <a:spLocks xmlns:a="http://schemas.openxmlformats.org/drawingml/2006/main" noGrp="1"/>
          </p:cNvSpPr>
          <p:nvPr/>
        </p:nvSpPr>
        <p:spPr>
          <a:xfrm xmlns:a="http://schemas.openxmlformats.org/drawingml/2006/main">
            <a:off x="5486400" y="3743325"/>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A2538"/>
                </a:solidFill>
                <a:latin typeface="Avenir Next"/>
                <a:ea typeface="Avenir Next"/>
                <a:cs typeface="Avenir Next"/>
              </a:defRPr>
            </a:pPr>
            <a:r>
              <a:rPr sz="2025" b="1">
                <a:solidFill>
                  <a:srgbClr val="0A2538"/>
                </a:solidFill>
                <a:latin typeface="Avenir Next"/>
                <a:ea typeface="Avenir Next"/>
                <a:cs typeface="Avenir Next"/>
              </a:rPr>
              <a:t>3</a:t>
            </a:r>
          </a:p>
        </p:txBody>
      </p:sp>
      <p:sp>
        <p:nvSpPr>
          <p:cNvPr id="19" name="">
            <a:extLst xmlns:a="http://schemas.openxmlformats.org/drawingml/2006/main">
              <a:ext uri="{FF2B5EF4-FFF2-40B4-BE49-F238E27FC236}">
                <a16:creationId xmlns:a16="http://schemas.microsoft.com/office/drawing/2014/main" id="{9200E924-3F05-424D-8273-31FD5B0D5078}"/>
              </a:ext>
            </a:extLst>
          </p:cNvPr>
          <p:cNvSpPr>
            <a:spLocks xmlns:a="http://schemas.openxmlformats.org/drawingml/2006/main" noGrp="1"/>
          </p:cNvSpPr>
          <p:nvPr/>
        </p:nvSpPr>
        <p:spPr>
          <a:xfrm xmlns:a="http://schemas.openxmlformats.org/drawingml/2006/main">
            <a:off x="5486400" y="41529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627781"/>
                </a:solidFill>
                <a:latin typeface="Avenir Next"/>
                <a:ea typeface="Avenir Next"/>
                <a:cs typeface="Avenir Next"/>
              </a:defRPr>
            </a:pPr>
            <a:r>
              <a:rPr sz="750" b="1">
                <a:solidFill>
                  <a:srgbClr val="627781"/>
                </a:solidFill>
                <a:latin typeface="Avenir Next"/>
                <a:ea typeface="Avenir Next"/>
                <a:cs typeface="Avenir Next"/>
              </a:rPr>
              <a:t>BEDROCK CALLS</a:t>
            </a:r>
          </a:p>
        </p:txBody>
      </p:sp>
      <p:sp>
        <p:nvSpPr>
          <p:cNvPr id="20" name="">
            <a:extLst xmlns:a="http://schemas.openxmlformats.org/drawingml/2006/main">
              <a:ext uri="{FF2B5EF4-FFF2-40B4-BE49-F238E27FC236}">
                <a16:creationId xmlns:a16="http://schemas.microsoft.com/office/drawing/2014/main" id="{7329B00C-634D-43AB-82E1-747FA128D60C}"/>
              </a:ext>
            </a:extLst>
          </p:cNvPr>
          <p:cNvSpPr>
            <a:spLocks xmlns:a="http://schemas.openxmlformats.org/drawingml/2006/main" noGrp="1"/>
          </p:cNvSpPr>
          <p:nvPr/>
        </p:nvSpPr>
        <p:spPr>
          <a:xfrm xmlns:a="http://schemas.openxmlformats.org/drawingml/2006/main">
            <a:off x="6686550" y="3724275"/>
            <a:ext cx="0" cy="59055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21" name="">
            <a:extLst xmlns:a="http://schemas.openxmlformats.org/drawingml/2006/main">
              <a:ext uri="{FF2B5EF4-FFF2-40B4-BE49-F238E27FC236}">
                <a16:creationId xmlns:a16="http://schemas.microsoft.com/office/drawing/2014/main" id="{59B90232-2BAA-4472-8F14-46FABEF537E7}"/>
              </a:ext>
            </a:extLst>
          </p:cNvPr>
          <p:cNvSpPr>
            <a:spLocks xmlns:a="http://schemas.openxmlformats.org/drawingml/2006/main" noGrp="1"/>
          </p:cNvSpPr>
          <p:nvPr/>
        </p:nvSpPr>
        <p:spPr>
          <a:xfrm xmlns:a="http://schemas.openxmlformats.org/drawingml/2006/main">
            <a:off x="6953250" y="37433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A2538"/>
                </a:solidFill>
                <a:latin typeface="Avenir Next"/>
                <a:ea typeface="Avenir Next"/>
                <a:cs typeface="Avenir Next"/>
              </a:defRPr>
            </a:pPr>
            <a:r>
              <a:rPr sz="2025" b="1">
                <a:solidFill>
                  <a:srgbClr val="0A2538"/>
                </a:solidFill>
                <a:latin typeface="Avenir Next"/>
                <a:ea typeface="Avenir Next"/>
                <a:cs typeface="Avenir Next"/>
              </a:rPr>
              <a:t>10,821</a:t>
            </a:r>
          </a:p>
        </p:txBody>
      </p:sp>
      <p:sp>
        <p:nvSpPr>
          <p:cNvPr id="22" name="">
            <a:extLst xmlns:a="http://schemas.openxmlformats.org/drawingml/2006/main">
              <a:ext uri="{FF2B5EF4-FFF2-40B4-BE49-F238E27FC236}">
                <a16:creationId xmlns:a16="http://schemas.microsoft.com/office/drawing/2014/main" id="{AAEC39D8-49E4-42D5-9AA4-0F4BF81FAC7D}"/>
              </a:ext>
            </a:extLst>
          </p:cNvPr>
          <p:cNvSpPr>
            <a:spLocks xmlns:a="http://schemas.openxmlformats.org/drawingml/2006/main" noGrp="1"/>
          </p:cNvSpPr>
          <p:nvPr/>
        </p:nvSpPr>
        <p:spPr>
          <a:xfrm xmlns:a="http://schemas.openxmlformats.org/drawingml/2006/main">
            <a:off x="6953250" y="41529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627781"/>
                </a:solidFill>
                <a:latin typeface="Avenir Next"/>
                <a:ea typeface="Avenir Next"/>
                <a:cs typeface="Avenir Next"/>
              </a:defRPr>
            </a:pPr>
            <a:r>
              <a:rPr sz="750" b="1">
                <a:solidFill>
                  <a:srgbClr val="627781"/>
                </a:solidFill>
                <a:latin typeface="Avenir Next"/>
                <a:ea typeface="Avenir Next"/>
                <a:cs typeface="Avenir Next"/>
              </a:rPr>
              <a:t>INPUT TOKENS</a:t>
            </a:r>
          </a:p>
        </p:txBody>
      </p:sp>
      <p:sp>
        <p:nvSpPr>
          <p:cNvPr id="23" name="">
            <a:extLst xmlns:a="http://schemas.openxmlformats.org/drawingml/2006/main">
              <a:ext uri="{FF2B5EF4-FFF2-40B4-BE49-F238E27FC236}">
                <a16:creationId xmlns:a16="http://schemas.microsoft.com/office/drawing/2014/main" id="{5C178C9C-447C-44AB-83FC-BD869BB1ED7A}"/>
              </a:ext>
            </a:extLst>
          </p:cNvPr>
          <p:cNvSpPr>
            <a:spLocks xmlns:a="http://schemas.openxmlformats.org/drawingml/2006/main" noGrp="1"/>
          </p:cNvSpPr>
          <p:nvPr/>
        </p:nvSpPr>
        <p:spPr>
          <a:xfrm xmlns:a="http://schemas.openxmlformats.org/drawingml/2006/main">
            <a:off x="8324850" y="3724275"/>
            <a:ext cx="0" cy="59055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24" name="">
            <a:extLst xmlns:a="http://schemas.openxmlformats.org/drawingml/2006/main">
              <a:ext uri="{FF2B5EF4-FFF2-40B4-BE49-F238E27FC236}">
                <a16:creationId xmlns:a16="http://schemas.microsoft.com/office/drawing/2014/main" id="{7EFFCB08-4903-4F2B-8944-86083EF9F91A}"/>
              </a:ext>
            </a:extLst>
          </p:cNvPr>
          <p:cNvSpPr>
            <a:spLocks xmlns:a="http://schemas.openxmlformats.org/drawingml/2006/main" noGrp="1"/>
          </p:cNvSpPr>
          <p:nvPr/>
        </p:nvSpPr>
        <p:spPr>
          <a:xfrm xmlns:a="http://schemas.openxmlformats.org/drawingml/2006/main">
            <a:off x="8591550" y="37433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A2538"/>
                </a:solidFill>
                <a:latin typeface="Avenir Next"/>
                <a:ea typeface="Avenir Next"/>
                <a:cs typeface="Avenir Next"/>
              </a:defRPr>
            </a:pPr>
            <a:r>
              <a:rPr sz="2025" b="1">
                <a:solidFill>
                  <a:srgbClr val="0A2538"/>
                </a:solidFill>
                <a:latin typeface="Avenir Next"/>
                <a:ea typeface="Avenir Next"/>
                <a:cs typeface="Avenir Next"/>
              </a:rPr>
              <a:t>1,758</a:t>
            </a:r>
          </a:p>
        </p:txBody>
      </p:sp>
      <p:sp>
        <p:nvSpPr>
          <p:cNvPr id="25" name="">
            <a:extLst xmlns:a="http://schemas.openxmlformats.org/drawingml/2006/main">
              <a:ext uri="{FF2B5EF4-FFF2-40B4-BE49-F238E27FC236}">
                <a16:creationId xmlns:a16="http://schemas.microsoft.com/office/drawing/2014/main" id="{C35EF7A7-ADB8-474C-924F-ECC229339D3D}"/>
              </a:ext>
            </a:extLst>
          </p:cNvPr>
          <p:cNvSpPr>
            <a:spLocks xmlns:a="http://schemas.openxmlformats.org/drawingml/2006/main" noGrp="1"/>
          </p:cNvSpPr>
          <p:nvPr/>
        </p:nvSpPr>
        <p:spPr>
          <a:xfrm xmlns:a="http://schemas.openxmlformats.org/drawingml/2006/main">
            <a:off x="8591550" y="41529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627781"/>
                </a:solidFill>
                <a:latin typeface="Avenir Next"/>
                <a:ea typeface="Avenir Next"/>
                <a:cs typeface="Avenir Next"/>
              </a:defRPr>
            </a:pPr>
            <a:r>
              <a:rPr sz="750" b="1">
                <a:solidFill>
                  <a:srgbClr val="627781"/>
                </a:solidFill>
                <a:latin typeface="Avenir Next"/>
                <a:ea typeface="Avenir Next"/>
                <a:cs typeface="Avenir Next"/>
              </a:rPr>
              <a:t>OUTPUT TOKENS</a:t>
            </a:r>
          </a:p>
        </p:txBody>
      </p:sp>
      <p:sp>
        <p:nvSpPr>
          <p:cNvPr id="26" name="">
            <a:extLst xmlns:a="http://schemas.openxmlformats.org/drawingml/2006/main">
              <a:ext uri="{FF2B5EF4-FFF2-40B4-BE49-F238E27FC236}">
                <a16:creationId xmlns:a16="http://schemas.microsoft.com/office/drawing/2014/main" id="{6DCE65E5-A49D-44BB-B09D-9E3936ED002D}"/>
              </a:ext>
            </a:extLst>
          </p:cNvPr>
          <p:cNvSpPr>
            <a:spLocks xmlns:a="http://schemas.openxmlformats.org/drawingml/2006/main" noGrp="1"/>
          </p:cNvSpPr>
          <p:nvPr/>
        </p:nvSpPr>
        <p:spPr>
          <a:xfrm xmlns:a="http://schemas.openxmlformats.org/drawingml/2006/main">
            <a:off x="9906000" y="3724275"/>
            <a:ext cx="0" cy="59055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27" name="">
            <a:extLst xmlns:a="http://schemas.openxmlformats.org/drawingml/2006/main">
              <a:ext uri="{FF2B5EF4-FFF2-40B4-BE49-F238E27FC236}">
                <a16:creationId xmlns:a16="http://schemas.microsoft.com/office/drawing/2014/main" id="{A037D724-B3B9-4E01-9A57-EE7DC5C0CE14}"/>
              </a:ext>
            </a:extLst>
          </p:cNvPr>
          <p:cNvSpPr>
            <a:spLocks xmlns:a="http://schemas.openxmlformats.org/drawingml/2006/main" noGrp="1"/>
          </p:cNvSpPr>
          <p:nvPr/>
        </p:nvSpPr>
        <p:spPr>
          <a:xfrm xmlns:a="http://schemas.openxmlformats.org/drawingml/2006/main">
            <a:off x="10134600" y="37433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25" b="1">
                <a:solidFill>
                  <a:srgbClr val="0A2538"/>
                </a:solidFill>
                <a:latin typeface="Avenir Next"/>
                <a:ea typeface="Avenir Next"/>
                <a:cs typeface="Avenir Next"/>
              </a:defRPr>
            </a:pPr>
            <a:r>
              <a:rPr sz="2025" b="1">
                <a:solidFill>
                  <a:srgbClr val="0A2538"/>
                </a:solidFill>
                <a:latin typeface="Avenir Next"/>
                <a:ea typeface="Avenir Next"/>
                <a:cs typeface="Avenir Next"/>
              </a:rPr>
              <a:t>11.77 s</a:t>
            </a:r>
          </a:p>
        </p:txBody>
      </p:sp>
      <p:sp>
        <p:nvSpPr>
          <p:cNvPr id="28" name="">
            <a:extLst xmlns:a="http://schemas.openxmlformats.org/drawingml/2006/main">
              <a:ext uri="{FF2B5EF4-FFF2-40B4-BE49-F238E27FC236}">
                <a16:creationId xmlns:a16="http://schemas.microsoft.com/office/drawing/2014/main" id="{F4C9CB0B-9F7A-4499-990E-7AB427DE812D}"/>
              </a:ext>
            </a:extLst>
          </p:cNvPr>
          <p:cNvSpPr>
            <a:spLocks xmlns:a="http://schemas.openxmlformats.org/drawingml/2006/main" noGrp="1"/>
          </p:cNvSpPr>
          <p:nvPr/>
        </p:nvSpPr>
        <p:spPr>
          <a:xfrm xmlns:a="http://schemas.openxmlformats.org/drawingml/2006/main">
            <a:off x="10134600" y="41529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750" b="1">
                <a:solidFill>
                  <a:srgbClr val="627781"/>
                </a:solidFill>
                <a:latin typeface="Avenir Next"/>
                <a:ea typeface="Avenir Next"/>
                <a:cs typeface="Avenir Next"/>
              </a:defRPr>
            </a:pPr>
            <a:r>
              <a:rPr sz="750" b="1">
                <a:solidFill>
                  <a:srgbClr val="627781"/>
                </a:solidFill>
                <a:latin typeface="Avenir Next"/>
                <a:ea typeface="Avenir Next"/>
                <a:cs typeface="Avenir Next"/>
              </a:rPr>
              <a:t>ELAPSED</a:t>
            </a:r>
          </a:p>
        </p:txBody>
      </p:sp>
      <p:sp>
        <p:nvSpPr>
          <p:cNvPr id="29" name="">
            <a:extLst xmlns:a="http://schemas.openxmlformats.org/drawingml/2006/main">
              <a:ext uri="{FF2B5EF4-FFF2-40B4-BE49-F238E27FC236}">
                <a16:creationId xmlns:a16="http://schemas.microsoft.com/office/drawing/2014/main" id="{0BCD69A7-09C8-48C6-94A2-E42F704D6741}"/>
              </a:ext>
            </a:extLst>
          </p:cNvPr>
          <p:cNvSpPr>
            <a:spLocks xmlns:a="http://schemas.openxmlformats.org/drawingml/2006/main" noGrp="1"/>
          </p:cNvSpPr>
          <p:nvPr/>
        </p:nvSpPr>
        <p:spPr>
          <a:xfrm xmlns:a="http://schemas.openxmlformats.org/drawingml/2006/main">
            <a:off x="5486400" y="4572000"/>
            <a:ext cx="5810250" cy="800100"/>
          </a:xfrm>
          <a:prstGeom xmlns:a="http://schemas.openxmlformats.org/drawingml/2006/main" prst="roundRect">
            <a:avLst>
              <a:gd name="adj" fmla="val 9524"/>
            </a:avLst>
          </a:prstGeom>
          <a:solidFill xmlns:a="http://schemas.openxmlformats.org/drawingml/2006/main">
            <a:srgbClr val="EAF7F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94D8087-ACD3-4841-85E4-4426D4255688}"/>
              </a:ext>
            </a:extLst>
          </p:cNvPr>
          <p:cNvSpPr>
            <a:spLocks xmlns:a="http://schemas.openxmlformats.org/drawingml/2006/main" noGrp="1"/>
          </p:cNvSpPr>
          <p:nvPr/>
        </p:nvSpPr>
        <p:spPr>
          <a:xfrm xmlns:a="http://schemas.openxmlformats.org/drawingml/2006/main">
            <a:off x="5695950" y="4705350"/>
            <a:ext cx="242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0A2538"/>
                </a:solidFill>
                <a:latin typeface="Avenir Next"/>
                <a:ea typeface="Avenir Next"/>
                <a:cs typeface="Avenir Next"/>
              </a:defRPr>
            </a:pPr>
            <a:r>
              <a:rPr sz="2775" b="1">
                <a:solidFill>
                  <a:srgbClr val="0A2538"/>
                </a:solidFill>
                <a:latin typeface="Avenir Next"/>
                <a:ea typeface="Avenir Next"/>
                <a:cs typeface="Avenir Next"/>
              </a:rPr>
              <a:t>$0.001071</a:t>
            </a:r>
          </a:p>
        </p:txBody>
      </p:sp>
      <p:sp>
        <p:nvSpPr>
          <p:cNvPr id="31" name="">
            <a:extLst xmlns:a="http://schemas.openxmlformats.org/drawingml/2006/main">
              <a:ext uri="{FF2B5EF4-FFF2-40B4-BE49-F238E27FC236}">
                <a16:creationId xmlns:a16="http://schemas.microsoft.com/office/drawing/2014/main" id="{50DABAE7-6A3B-4C08-B17E-FABF0E3FBA6B}"/>
              </a:ext>
            </a:extLst>
          </p:cNvPr>
          <p:cNvSpPr>
            <a:spLocks xmlns:a="http://schemas.openxmlformats.org/drawingml/2006/main" noGrp="1"/>
          </p:cNvSpPr>
          <p:nvPr/>
        </p:nvSpPr>
        <p:spPr>
          <a:xfrm xmlns:a="http://schemas.openxmlformats.org/drawingml/2006/main">
            <a:off x="8191500" y="4819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a:solidFill>
                  <a:srgbClr val="0A8A88"/>
                </a:solidFill>
                <a:latin typeface="Avenir Next"/>
                <a:ea typeface="Avenir Next"/>
                <a:cs typeface="Avenir Next"/>
              </a:defRPr>
            </a:pPr>
            <a:r>
              <a:rPr sz="1350" b="1">
                <a:solidFill>
                  <a:srgbClr val="0A8A88"/>
                </a:solidFill>
                <a:latin typeface="Avenir Next"/>
                <a:ea typeface="Avenir Next"/>
                <a:cs typeface="Avenir Next"/>
              </a:rPr>
              <a:t>estimated Bedrock model cost</a:t>
            </a:r>
          </a:p>
        </p:txBody>
      </p:sp>
      <p:sp>
        <p:nvSpPr>
          <p:cNvPr id="32" name="">
            <a:extLst xmlns:a="http://schemas.openxmlformats.org/drawingml/2006/main">
              <a:ext uri="{FF2B5EF4-FFF2-40B4-BE49-F238E27FC236}">
                <a16:creationId xmlns:a16="http://schemas.microsoft.com/office/drawing/2014/main" id="{D2D7422D-8949-4C42-8A12-7E071E456026}"/>
              </a:ext>
            </a:extLst>
          </p:cNvPr>
          <p:cNvSpPr>
            <a:spLocks xmlns:a="http://schemas.openxmlformats.org/drawingml/2006/main" noGrp="1"/>
          </p:cNvSpPr>
          <p:nvPr/>
        </p:nvSpPr>
        <p:spPr>
          <a:xfrm xmlns:a="http://schemas.openxmlformats.org/drawingml/2006/main">
            <a:off x="5695950" y="5133975"/>
            <a:ext cx="5353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27781"/>
                </a:solidFill>
                <a:latin typeface="Avenir Next"/>
                <a:ea typeface="Avenir Next"/>
                <a:cs typeface="Avenir Next"/>
              </a:defRPr>
            </a:pPr>
            <a:r>
              <a:rPr sz="825" b="0">
                <a:solidFill>
                  <a:srgbClr val="627781"/>
                </a:solidFill>
                <a:latin typeface="Avenir Next"/>
                <a:ea typeface="Avenir Next"/>
                <a:cs typeface="Avenir Next"/>
              </a:rPr>
              <a:t>Nova Lite Standard: $0.06/M input and $0.24/M output</a:t>
            </a:r>
          </a:p>
        </p:txBody>
      </p:sp>
      <p:sp>
        <p:nvSpPr>
          <p:cNvPr id="33" name="">
            <a:extLst xmlns:a="http://schemas.openxmlformats.org/drawingml/2006/main">
              <a:ext uri="{FF2B5EF4-FFF2-40B4-BE49-F238E27FC236}">
                <a16:creationId xmlns:a16="http://schemas.microsoft.com/office/drawing/2014/main" id="{9FB1BD4C-4464-4226-A5FC-D1E810218F37}"/>
              </a:ext>
            </a:extLst>
          </p:cNvPr>
          <p:cNvSpPr>
            <a:spLocks xmlns:a="http://schemas.openxmlformats.org/drawingml/2006/main" noGrp="1"/>
          </p:cNvSpPr>
          <p:nvPr/>
        </p:nvSpPr>
        <p:spPr>
          <a:xfrm xmlns:a="http://schemas.openxmlformats.org/drawingml/2006/main">
            <a:off x="5486400" y="5562600"/>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E56B52"/>
                </a:solidFill>
                <a:latin typeface="Avenir Next"/>
                <a:ea typeface="Avenir Next"/>
                <a:cs typeface="Avenir Next"/>
              </a:defRPr>
            </a:pPr>
            <a:r>
              <a:rPr sz="1125" b="1">
                <a:solidFill>
                  <a:srgbClr val="E56B52"/>
                </a:solidFill>
                <a:latin typeface="Avenir Next"/>
                <a:ea typeface="Avenir Next"/>
                <a:cs typeface="Avenir Next"/>
              </a:rPr>
              <a:t>Rates verified 2026-09-26. One live sample, not a benchmark.</a:t>
            </a:r>
          </a:p>
        </p:txBody>
      </p:sp>
      <p:sp>
        <p:nvSpPr>
          <p:cNvPr id="34" name="">
            <a:extLst xmlns:a="http://schemas.openxmlformats.org/drawingml/2006/main">
              <a:ext uri="{FF2B5EF4-FFF2-40B4-BE49-F238E27FC236}">
                <a16:creationId xmlns:a16="http://schemas.microsoft.com/office/drawing/2014/main" id="{DE280196-CF7A-46BF-9D0E-331DDAD900B5}"/>
              </a:ext>
            </a:extLst>
          </p:cNvPr>
          <p:cNvSpPr>
            <a:spLocks xmlns:a="http://schemas.openxmlformats.org/drawingml/2006/main" noGrp="1"/>
          </p:cNvSpPr>
          <p:nvPr/>
        </p:nvSpPr>
        <p:spPr>
          <a:xfrm xmlns:a="http://schemas.openxmlformats.org/drawingml/2006/main">
            <a:off x="609600" y="64389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TRIALGUARD  ·  PRESENTATION DECK</a:t>
            </a:r>
          </a:p>
        </p:txBody>
      </p:sp>
      <p:sp>
        <p:nvSpPr>
          <p:cNvPr id="35" name="">
            <a:extLst xmlns:a="http://schemas.openxmlformats.org/drawingml/2006/main">
              <a:ext uri="{FF2B5EF4-FFF2-40B4-BE49-F238E27FC236}">
                <a16:creationId xmlns:a16="http://schemas.microsoft.com/office/drawing/2014/main" id="{6371A477-5D86-4625-B90C-6F668782EA93}"/>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27781"/>
                </a:solidFill>
                <a:latin typeface="Avenir Next"/>
                <a:ea typeface="Avenir Next"/>
                <a:cs typeface="Avenir Next"/>
              </a:defRPr>
            </a:pPr>
            <a:r>
              <a:rPr sz="900" b="1">
                <a:solidFill>
                  <a:srgbClr val="627781"/>
                </a:solidFill>
                <a:latin typeface="Avenir Next"/>
                <a:ea typeface="Avenir Next"/>
                <a:cs typeface="Avenir Next"/>
              </a:rPr>
              <a:t>05</a:t>
            </a:r>
          </a:p>
        </p:txBody>
      </p:sp>
    </p:spTree>
    <p:extLst>
      <p:ext uri="{BB962C8B-B14F-4D97-AF65-F5344CB8AC3E}">
        <p14:creationId xmlns:p14="http://schemas.microsoft.com/office/powerpoint/2010/main" val="17290165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056EDF1-4655-44CA-828C-329C2A7E0ED0}"/>
              </a:ext>
            </a:extLst>
          </p:cNvPr>
          <p:cNvSpPr>
            <a:spLocks xmlns:a="http://schemas.openxmlformats.org/drawingml/2006/main" noGrp="1"/>
          </p:cNvSpPr>
          <p:nvPr/>
        </p:nvSpPr>
        <p:spPr>
          <a:xfrm xmlns:a="http://schemas.openxmlformats.org/drawingml/2006/main">
            <a:off x="7315200" y="0"/>
            <a:ext cx="4876800" cy="6858000"/>
          </a:xfrm>
          <a:prstGeom xmlns:a="http://schemas.openxmlformats.org/drawingml/2006/main" prst="rect">
            <a:avLst/>
          </a:prstGeom>
          <a:solidFill xmlns:a="http://schemas.openxmlformats.org/drawingml/2006/main">
            <a:srgbClr val="0A253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B71BD4-17BE-4D26-9822-77125C0E4167}"/>
              </a:ext>
            </a:extLst>
          </p:cNvPr>
          <p:cNvSpPr>
            <a:spLocks xmlns:a="http://schemas.openxmlformats.org/drawingml/2006/main" noGrp="1"/>
          </p:cNvSpPr>
          <p:nvPr/>
        </p:nvSpPr>
        <p:spPr>
          <a:xfrm xmlns:a="http://schemas.openxmlformats.org/drawingml/2006/main">
            <a:off x="609600" y="466725"/>
            <a:ext cx="51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A8A88"/>
                </a:solidFill>
                <a:latin typeface="Avenir Next"/>
                <a:ea typeface="Avenir Next"/>
                <a:cs typeface="Avenir Next"/>
              </a:defRPr>
            </a:pPr>
            <a:r>
              <a:rPr sz="1275" b="1">
                <a:solidFill>
                  <a:srgbClr val="0A8A88"/>
                </a:solidFill>
                <a:latin typeface="Avenir Next"/>
                <a:ea typeface="Avenir Next"/>
                <a:cs typeface="Avenir Next"/>
              </a:rPr>
              <a:t>06</a:t>
            </a:r>
          </a:p>
        </p:txBody>
      </p:sp>
      <p:sp>
        <p:nvSpPr>
          <p:cNvPr id="3" name="">
            <a:extLst xmlns:a="http://schemas.openxmlformats.org/drawingml/2006/main">
              <a:ext uri="{FF2B5EF4-FFF2-40B4-BE49-F238E27FC236}">
                <a16:creationId xmlns:a16="http://schemas.microsoft.com/office/drawing/2014/main" id="{7B83BD69-20A8-4517-AF52-B3FCBEF16830}"/>
              </a:ext>
            </a:extLst>
          </p:cNvPr>
          <p:cNvSpPr>
            <a:spLocks xmlns:a="http://schemas.openxmlformats.org/drawingml/2006/main" noGrp="1"/>
          </p:cNvSpPr>
          <p:nvPr/>
        </p:nvSpPr>
        <p:spPr>
          <a:xfrm xmlns:a="http://schemas.openxmlformats.org/drawingml/2006/main">
            <a:off x="609600" y="75247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0A2538"/>
                </a:solidFill>
                <a:latin typeface="Avenir Next"/>
                <a:ea typeface="Avenir Next"/>
                <a:cs typeface="Avenir Next"/>
              </a:defRPr>
            </a:pPr>
            <a:r>
              <a:rPr sz="3450" b="1">
                <a:solidFill>
                  <a:srgbClr val="0A2538"/>
                </a:solidFill>
                <a:latin typeface="Avenir Next"/>
                <a:ea typeface="Avenir Next"/>
                <a:cs typeface="Avenir Next"/>
              </a:rPr>
              <a:t>Limits and next steps</a:t>
            </a:r>
          </a:p>
        </p:txBody>
      </p:sp>
      <p:sp>
        <p:nvSpPr>
          <p:cNvPr id="4" name="">
            <a:extLst xmlns:a="http://schemas.openxmlformats.org/drawingml/2006/main">
              <a:ext uri="{FF2B5EF4-FFF2-40B4-BE49-F238E27FC236}">
                <a16:creationId xmlns:a16="http://schemas.microsoft.com/office/drawing/2014/main" id="{615A131D-2C84-41FF-990A-7BF27E328CF6}"/>
              </a:ext>
            </a:extLst>
          </p:cNvPr>
          <p:cNvSpPr>
            <a:spLocks xmlns:a="http://schemas.openxmlformats.org/drawingml/2006/main" noGrp="1"/>
          </p:cNvSpPr>
          <p:nvPr/>
        </p:nvSpPr>
        <p:spPr>
          <a:xfrm xmlns:a="http://schemas.openxmlformats.org/drawingml/2006/main">
            <a:off x="628650" y="1885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0A8A88"/>
                </a:solidFill>
                <a:latin typeface="Avenir Next"/>
                <a:ea typeface="Avenir Next"/>
                <a:cs typeface="Avenir Next"/>
              </a:defRPr>
            </a:pPr>
            <a:r>
              <a:rPr sz="1050" b="1">
                <a:solidFill>
                  <a:srgbClr val="0A8A88"/>
                </a:solidFill>
                <a:latin typeface="Avenir Next"/>
                <a:ea typeface="Avenir Next"/>
                <a:cs typeface="Avenir Next"/>
              </a:rPr>
              <a:t>CURRENT BOUNDARY</a:t>
            </a:r>
          </a:p>
        </p:txBody>
      </p:sp>
      <p:sp>
        <p:nvSpPr>
          <p:cNvPr id="5" name="">
            <a:extLst xmlns:a="http://schemas.openxmlformats.org/drawingml/2006/main">
              <a:ext uri="{FF2B5EF4-FFF2-40B4-BE49-F238E27FC236}">
                <a16:creationId xmlns:a16="http://schemas.microsoft.com/office/drawing/2014/main" id="{64F749D4-DCE8-4F50-8758-026B5195C83C}"/>
              </a:ext>
            </a:extLst>
          </p:cNvPr>
          <p:cNvSpPr>
            <a:spLocks xmlns:a="http://schemas.openxmlformats.org/drawingml/2006/main" noGrp="1"/>
          </p:cNvSpPr>
          <p:nvPr/>
        </p:nvSpPr>
        <p:spPr>
          <a:xfrm xmlns:a="http://schemas.openxmlformats.org/drawingml/2006/main">
            <a:off x="628650" y="24003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A2538"/>
                </a:solidFill>
                <a:latin typeface="Avenir Next"/>
                <a:ea typeface="Avenir Next"/>
                <a:cs typeface="Avenir Next"/>
              </a:defRPr>
            </a:pPr>
            <a:r>
              <a:rPr sz="1425" b="1">
                <a:solidFill>
                  <a:srgbClr val="0A2538"/>
                </a:solidFill>
                <a:latin typeface="Avenir Next"/>
                <a:ea typeface="Avenir Next"/>
                <a:cs typeface="Avenir Next"/>
              </a:rPr>
              <a:t>Public data</a:t>
            </a:r>
          </a:p>
        </p:txBody>
      </p:sp>
      <p:sp>
        <p:nvSpPr>
          <p:cNvPr id="6" name="">
            <a:extLst xmlns:a="http://schemas.openxmlformats.org/drawingml/2006/main">
              <a:ext uri="{FF2B5EF4-FFF2-40B4-BE49-F238E27FC236}">
                <a16:creationId xmlns:a16="http://schemas.microsoft.com/office/drawing/2014/main" id="{BCC3F661-C883-41DC-886A-CA4F1519D01F}"/>
              </a:ext>
            </a:extLst>
          </p:cNvPr>
          <p:cNvSpPr>
            <a:spLocks xmlns:a="http://schemas.openxmlformats.org/drawingml/2006/main" noGrp="1"/>
          </p:cNvSpPr>
          <p:nvPr/>
        </p:nvSpPr>
        <p:spPr>
          <a:xfrm xmlns:a="http://schemas.openxmlformats.org/drawingml/2006/main">
            <a:off x="2381250" y="240030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27781"/>
                </a:solidFill>
                <a:latin typeface="Avenir Next"/>
                <a:ea typeface="Avenir Next"/>
                <a:cs typeface="Avenir Next"/>
              </a:defRPr>
            </a:pPr>
            <a:r>
              <a:rPr sz="1500" b="0">
                <a:solidFill>
                  <a:srgbClr val="627781"/>
                </a:solidFill>
                <a:latin typeface="Avenir Next"/>
                <a:ea typeface="Avenir Next"/>
                <a:cs typeface="Avenir Next"/>
              </a:rPr>
              <a:t>Selected, allowlisted ClinicalTrials.gov fields only</a:t>
            </a:r>
          </a:p>
        </p:txBody>
      </p:sp>
      <p:sp>
        <p:nvSpPr>
          <p:cNvPr id="7" name="">
            <a:extLst xmlns:a="http://schemas.openxmlformats.org/drawingml/2006/main">
              <a:ext uri="{FF2B5EF4-FFF2-40B4-BE49-F238E27FC236}">
                <a16:creationId xmlns:a16="http://schemas.microsoft.com/office/drawing/2014/main" id="{7A18C31E-967C-4147-AA56-5300DF42EF30}"/>
              </a:ext>
            </a:extLst>
          </p:cNvPr>
          <p:cNvSpPr>
            <a:spLocks xmlns:a="http://schemas.openxmlformats.org/drawingml/2006/main" noGrp="1"/>
          </p:cNvSpPr>
          <p:nvPr/>
        </p:nvSpPr>
        <p:spPr>
          <a:xfrm xmlns:a="http://schemas.openxmlformats.org/drawingml/2006/main">
            <a:off x="628650" y="2971800"/>
            <a:ext cx="59055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8" name="">
            <a:extLst xmlns:a="http://schemas.openxmlformats.org/drawingml/2006/main">
              <a:ext uri="{FF2B5EF4-FFF2-40B4-BE49-F238E27FC236}">
                <a16:creationId xmlns:a16="http://schemas.microsoft.com/office/drawing/2014/main" id="{76A17A13-7562-4C98-A627-B4E12CC95514}"/>
              </a:ext>
            </a:extLst>
          </p:cNvPr>
          <p:cNvSpPr>
            <a:spLocks xmlns:a="http://schemas.openxmlformats.org/drawingml/2006/main" noGrp="1"/>
          </p:cNvSpPr>
          <p:nvPr/>
        </p:nvSpPr>
        <p:spPr>
          <a:xfrm xmlns:a="http://schemas.openxmlformats.org/drawingml/2006/main">
            <a:off x="628650" y="31813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A2538"/>
                </a:solidFill>
                <a:latin typeface="Avenir Next"/>
                <a:ea typeface="Avenir Next"/>
                <a:cs typeface="Avenir Next"/>
              </a:defRPr>
            </a:pPr>
            <a:r>
              <a:rPr sz="1425" b="1">
                <a:solidFill>
                  <a:srgbClr val="0A2538"/>
                </a:solidFill>
                <a:latin typeface="Avenir Next"/>
                <a:ea typeface="Avenir Next"/>
                <a:cs typeface="Avenir Next"/>
              </a:rPr>
              <a:t>Sensitive data</a:t>
            </a:r>
          </a:p>
        </p:txBody>
      </p:sp>
      <p:sp>
        <p:nvSpPr>
          <p:cNvPr id="9" name="">
            <a:extLst xmlns:a="http://schemas.openxmlformats.org/drawingml/2006/main">
              <a:ext uri="{FF2B5EF4-FFF2-40B4-BE49-F238E27FC236}">
                <a16:creationId xmlns:a16="http://schemas.microsoft.com/office/drawing/2014/main" id="{C2A51042-E2A8-4518-A62B-DF81C68D94FC}"/>
              </a:ext>
            </a:extLst>
          </p:cNvPr>
          <p:cNvSpPr>
            <a:spLocks xmlns:a="http://schemas.openxmlformats.org/drawingml/2006/main" noGrp="1"/>
          </p:cNvSpPr>
          <p:nvPr/>
        </p:nvSpPr>
        <p:spPr>
          <a:xfrm xmlns:a="http://schemas.openxmlformats.org/drawingml/2006/main">
            <a:off x="2381250" y="31813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27781"/>
                </a:solidFill>
                <a:latin typeface="Avenir Next"/>
                <a:ea typeface="Avenir Next"/>
                <a:cs typeface="Avenir Next"/>
              </a:defRPr>
            </a:pPr>
            <a:r>
              <a:rPr sz="1500" b="0">
                <a:solidFill>
                  <a:srgbClr val="627781"/>
                </a:solidFill>
                <a:latin typeface="Avenir Next"/>
                <a:ea typeface="Avenir Next"/>
                <a:cs typeface="Avenir Next"/>
              </a:rPr>
              <a:t>No PHI or confidential protocol uploads</a:t>
            </a:r>
          </a:p>
        </p:txBody>
      </p:sp>
      <p:sp>
        <p:nvSpPr>
          <p:cNvPr id="10" name="">
            <a:extLst xmlns:a="http://schemas.openxmlformats.org/drawingml/2006/main">
              <a:ext uri="{FF2B5EF4-FFF2-40B4-BE49-F238E27FC236}">
                <a16:creationId xmlns:a16="http://schemas.microsoft.com/office/drawing/2014/main" id="{49DAC0C7-A330-4155-AA07-639400883668}"/>
              </a:ext>
            </a:extLst>
          </p:cNvPr>
          <p:cNvSpPr>
            <a:spLocks xmlns:a="http://schemas.openxmlformats.org/drawingml/2006/main" noGrp="1"/>
          </p:cNvSpPr>
          <p:nvPr/>
        </p:nvSpPr>
        <p:spPr>
          <a:xfrm xmlns:a="http://schemas.openxmlformats.org/drawingml/2006/main">
            <a:off x="628650" y="3752850"/>
            <a:ext cx="59055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11" name="">
            <a:extLst xmlns:a="http://schemas.openxmlformats.org/drawingml/2006/main">
              <a:ext uri="{FF2B5EF4-FFF2-40B4-BE49-F238E27FC236}">
                <a16:creationId xmlns:a16="http://schemas.microsoft.com/office/drawing/2014/main" id="{8F6520D7-7188-4B5E-9C4E-84EB14018ABB}"/>
              </a:ext>
            </a:extLst>
          </p:cNvPr>
          <p:cNvSpPr>
            <a:spLocks xmlns:a="http://schemas.openxmlformats.org/drawingml/2006/main" noGrp="1"/>
          </p:cNvSpPr>
          <p:nvPr/>
        </p:nvSpPr>
        <p:spPr>
          <a:xfrm xmlns:a="http://schemas.openxmlformats.org/drawingml/2006/main">
            <a:off x="628650" y="39624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A2538"/>
                </a:solidFill>
                <a:latin typeface="Avenir Next"/>
                <a:ea typeface="Avenir Next"/>
                <a:cs typeface="Avenir Next"/>
              </a:defRPr>
            </a:pPr>
            <a:r>
              <a:rPr sz="1425" b="1">
                <a:solidFill>
                  <a:srgbClr val="0A2538"/>
                </a:solidFill>
                <a:latin typeface="Avenir Next"/>
                <a:ea typeface="Avenir Next"/>
                <a:cs typeface="Avenir Next"/>
              </a:rPr>
              <a:t>Decision support</a:t>
            </a:r>
          </a:p>
        </p:txBody>
      </p:sp>
      <p:sp>
        <p:nvSpPr>
          <p:cNvPr id="12" name="">
            <a:extLst xmlns:a="http://schemas.openxmlformats.org/drawingml/2006/main">
              <a:ext uri="{FF2B5EF4-FFF2-40B4-BE49-F238E27FC236}">
                <a16:creationId xmlns:a16="http://schemas.microsoft.com/office/drawing/2014/main" id="{579FCC60-FC2B-409E-8584-6D54F1AC8A3F}"/>
              </a:ext>
            </a:extLst>
          </p:cNvPr>
          <p:cNvSpPr>
            <a:spLocks xmlns:a="http://schemas.openxmlformats.org/drawingml/2006/main" noGrp="1"/>
          </p:cNvSpPr>
          <p:nvPr/>
        </p:nvSpPr>
        <p:spPr>
          <a:xfrm xmlns:a="http://schemas.openxmlformats.org/drawingml/2006/main">
            <a:off x="2381250" y="396240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27781"/>
                </a:solidFill>
                <a:latin typeface="Avenir Next"/>
                <a:ea typeface="Avenir Next"/>
                <a:cs typeface="Avenir Next"/>
              </a:defRPr>
            </a:pPr>
            <a:r>
              <a:rPr sz="1500" b="0">
                <a:solidFill>
                  <a:srgbClr val="627781"/>
                </a:solidFill>
                <a:latin typeface="Avenir Next"/>
                <a:ea typeface="Avenir Next"/>
                <a:cs typeface="Avenir Next"/>
              </a:rPr>
              <a:t>No prediction, design recommendation, or clinical advice</a:t>
            </a:r>
          </a:p>
        </p:txBody>
      </p:sp>
      <p:sp>
        <p:nvSpPr>
          <p:cNvPr id="13" name="">
            <a:extLst xmlns:a="http://schemas.openxmlformats.org/drawingml/2006/main">
              <a:ext uri="{FF2B5EF4-FFF2-40B4-BE49-F238E27FC236}">
                <a16:creationId xmlns:a16="http://schemas.microsoft.com/office/drawing/2014/main" id="{2328F272-F21F-496F-9069-1C15B88571AA}"/>
              </a:ext>
            </a:extLst>
          </p:cNvPr>
          <p:cNvSpPr>
            <a:spLocks xmlns:a="http://schemas.openxmlformats.org/drawingml/2006/main" noGrp="1"/>
          </p:cNvSpPr>
          <p:nvPr/>
        </p:nvSpPr>
        <p:spPr>
          <a:xfrm xmlns:a="http://schemas.openxmlformats.org/drawingml/2006/main">
            <a:off x="628650" y="4533900"/>
            <a:ext cx="5905500" cy="0"/>
          </a:xfrm>
          <a:prstGeom xmlns:a="http://schemas.openxmlformats.org/drawingml/2006/main" prst="line">
            <a:avLst/>
          </a:prstGeom>
          <a:noFill xmlns:a="http://schemas.openxmlformats.org/drawingml/2006/main"/>
          <a:ln xmlns:a="http://schemas.openxmlformats.org/drawingml/2006/main" w="9525">
            <a:solidFill>
              <a:srgbClr val="D7E6E3"/>
            </a:solidFill>
          </a:ln>
        </p:spPr>
      </p:sp>
      <p:sp>
        <p:nvSpPr>
          <p:cNvPr id="14" name="">
            <a:extLst xmlns:a="http://schemas.openxmlformats.org/drawingml/2006/main">
              <a:ext uri="{FF2B5EF4-FFF2-40B4-BE49-F238E27FC236}">
                <a16:creationId xmlns:a16="http://schemas.microsoft.com/office/drawing/2014/main" id="{E4A0FF07-D746-48E2-8454-CB780026FD4C}"/>
              </a:ext>
            </a:extLst>
          </p:cNvPr>
          <p:cNvSpPr>
            <a:spLocks xmlns:a="http://schemas.openxmlformats.org/drawingml/2006/main" noGrp="1"/>
          </p:cNvSpPr>
          <p:nvPr/>
        </p:nvSpPr>
        <p:spPr>
          <a:xfrm xmlns:a="http://schemas.openxmlformats.org/drawingml/2006/main">
            <a:off x="628650" y="47434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A2538"/>
                </a:solidFill>
                <a:latin typeface="Avenir Next"/>
                <a:ea typeface="Avenir Next"/>
                <a:cs typeface="Avenir Next"/>
              </a:defRPr>
            </a:pPr>
            <a:r>
              <a:rPr sz="1425" b="1">
                <a:solidFill>
                  <a:srgbClr val="0A2538"/>
                </a:solidFill>
                <a:latin typeface="Avenir Next"/>
                <a:ea typeface="Avenir Next"/>
                <a:cs typeface="Avenir Next"/>
              </a:rPr>
              <a:t>Accountability</a:t>
            </a:r>
          </a:p>
        </p:txBody>
      </p:sp>
      <p:sp>
        <p:nvSpPr>
          <p:cNvPr id="15" name="">
            <a:extLst xmlns:a="http://schemas.openxmlformats.org/drawingml/2006/main">
              <a:ext uri="{FF2B5EF4-FFF2-40B4-BE49-F238E27FC236}">
                <a16:creationId xmlns:a16="http://schemas.microsoft.com/office/drawing/2014/main" id="{8F12362F-F75B-4476-9294-0FA3A1FDE535}"/>
              </a:ext>
            </a:extLst>
          </p:cNvPr>
          <p:cNvSpPr>
            <a:spLocks xmlns:a="http://schemas.openxmlformats.org/drawingml/2006/main" noGrp="1"/>
          </p:cNvSpPr>
          <p:nvPr/>
        </p:nvSpPr>
        <p:spPr>
          <a:xfrm xmlns:a="http://schemas.openxmlformats.org/drawingml/2006/main">
            <a:off x="2381250" y="47434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27781"/>
                </a:solidFill>
                <a:latin typeface="Avenir Next"/>
                <a:ea typeface="Avenir Next"/>
                <a:cs typeface="Avenir Next"/>
              </a:defRPr>
            </a:pPr>
            <a:r>
              <a:rPr sz="1500" b="0">
                <a:solidFill>
                  <a:srgbClr val="627781"/>
                </a:solidFill>
                <a:latin typeface="Avenir Next"/>
                <a:ea typeface="Avenir Next"/>
                <a:cs typeface="Avenir Next"/>
              </a:rPr>
              <a:t>A qualified reviewer makes the final decision</a:t>
            </a:r>
          </a:p>
        </p:txBody>
      </p:sp>
      <p:sp>
        <p:nvSpPr>
          <p:cNvPr id="16" name="">
            <a:extLst xmlns:a="http://schemas.openxmlformats.org/drawingml/2006/main">
              <a:ext uri="{FF2B5EF4-FFF2-40B4-BE49-F238E27FC236}">
                <a16:creationId xmlns:a16="http://schemas.microsoft.com/office/drawing/2014/main" id="{9937CBF8-42F7-42CF-943F-C89A3F0D8CE5}"/>
              </a:ext>
            </a:extLst>
          </p:cNvPr>
          <p:cNvSpPr>
            <a:spLocks xmlns:a="http://schemas.openxmlformats.org/drawingml/2006/main" noGrp="1"/>
          </p:cNvSpPr>
          <p:nvPr/>
        </p:nvSpPr>
        <p:spPr>
          <a:xfrm xmlns:a="http://schemas.openxmlformats.org/drawingml/2006/main">
            <a:off x="7810500" y="828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BEEBE4"/>
                </a:solidFill>
                <a:latin typeface="Avenir Next"/>
                <a:ea typeface="Avenir Next"/>
                <a:cs typeface="Avenir Next"/>
              </a:defRPr>
            </a:pPr>
            <a:r>
              <a:rPr sz="1050" b="1">
                <a:solidFill>
                  <a:srgbClr val="BEEBE4"/>
                </a:solidFill>
                <a:latin typeface="Avenir Next"/>
                <a:ea typeface="Avenir Next"/>
                <a:cs typeface="Avenir Next"/>
              </a:rPr>
              <a:t>DEPLOYMENT STATUS</a:t>
            </a:r>
          </a:p>
        </p:txBody>
      </p:sp>
      <p:sp>
        <p:nvSpPr>
          <p:cNvPr id="17" name="">
            <a:extLst xmlns:a="http://schemas.openxmlformats.org/drawingml/2006/main">
              <a:ext uri="{FF2B5EF4-FFF2-40B4-BE49-F238E27FC236}">
                <a16:creationId xmlns:a16="http://schemas.microsoft.com/office/drawing/2014/main" id="{6C6CE41D-3705-43E7-904C-1ED1581865CB}"/>
              </a:ext>
            </a:extLst>
          </p:cNvPr>
          <p:cNvSpPr>
            <a:spLocks xmlns:a="http://schemas.openxmlformats.org/drawingml/2006/main" noGrp="1"/>
          </p:cNvSpPr>
          <p:nvPr/>
        </p:nvSpPr>
        <p:spPr>
          <a:xfrm xmlns:a="http://schemas.openxmlformats.org/drawingml/2006/main">
            <a:off x="7810500" y="1428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PUBLIC SHOWCASE</a:t>
            </a:r>
          </a:p>
        </p:txBody>
      </p:sp>
      <p:sp>
        <p:nvSpPr>
          <p:cNvPr id="18" name="">
            <a:extLst xmlns:a="http://schemas.openxmlformats.org/drawingml/2006/main">
              <a:ext uri="{FF2B5EF4-FFF2-40B4-BE49-F238E27FC236}">
                <a16:creationId xmlns:a16="http://schemas.microsoft.com/office/drawing/2014/main" id="{AB84488E-486B-4584-9BDE-94E7A1F64354}"/>
              </a:ext>
            </a:extLst>
          </p:cNvPr>
          <p:cNvSpPr>
            <a:spLocks xmlns:a="http://schemas.openxmlformats.org/drawingml/2006/main" noGrp="1"/>
          </p:cNvSpPr>
          <p:nvPr/>
        </p:nvSpPr>
        <p:spPr>
          <a:xfrm xmlns:a="http://schemas.openxmlformats.org/drawingml/2006/main">
            <a:off x="7810500" y="1724025"/>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Static GitHub Pages</a:t>
            </a:r>
          </a:p>
        </p:txBody>
      </p:sp>
      <p:sp>
        <p:nvSpPr>
          <p:cNvPr id="19" name="">
            <a:extLst xmlns:a="http://schemas.openxmlformats.org/drawingml/2006/main">
              <a:ext uri="{FF2B5EF4-FFF2-40B4-BE49-F238E27FC236}">
                <a16:creationId xmlns:a16="http://schemas.microsoft.com/office/drawing/2014/main" id="{B8D6C3C1-03F6-4E80-845D-66E235F00554}"/>
              </a:ext>
            </a:extLst>
          </p:cNvPr>
          <p:cNvSpPr>
            <a:spLocks xmlns:a="http://schemas.openxmlformats.org/drawingml/2006/main" noGrp="1"/>
          </p:cNvSpPr>
          <p:nvPr/>
        </p:nvSpPr>
        <p:spPr>
          <a:xfrm xmlns:a="http://schemas.openxmlformats.org/drawingml/2006/main">
            <a:off x="7810500" y="2409825"/>
            <a:ext cx="3429000" cy="0"/>
          </a:xfrm>
          <a:prstGeom xmlns:a="http://schemas.openxmlformats.org/drawingml/2006/main" prst="line">
            <a:avLst/>
          </a:prstGeom>
          <a:noFill xmlns:a="http://schemas.openxmlformats.org/drawingml/2006/main"/>
          <a:ln xmlns:a="http://schemas.openxmlformats.org/drawingml/2006/main" w="9525">
            <a:solidFill>
              <a:srgbClr val="08706F"/>
            </a:solidFill>
          </a:ln>
        </p:spPr>
      </p:sp>
      <p:sp>
        <p:nvSpPr>
          <p:cNvPr id="20" name="">
            <a:extLst xmlns:a="http://schemas.openxmlformats.org/drawingml/2006/main">
              <a:ext uri="{FF2B5EF4-FFF2-40B4-BE49-F238E27FC236}">
                <a16:creationId xmlns:a16="http://schemas.microsoft.com/office/drawing/2014/main" id="{E52BCFE1-8C5D-456E-8695-5766DBB98AE1}"/>
              </a:ext>
            </a:extLst>
          </p:cNvPr>
          <p:cNvSpPr>
            <a:spLocks xmlns:a="http://schemas.openxmlformats.org/drawingml/2006/main" noGrp="1"/>
          </p:cNvSpPr>
          <p:nvPr/>
        </p:nvSpPr>
        <p:spPr>
          <a:xfrm xmlns:a="http://schemas.openxmlformats.org/drawingml/2006/main">
            <a:off x="7810500" y="2571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PRODUCTION TARGET</a:t>
            </a:r>
          </a:p>
        </p:txBody>
      </p:sp>
      <p:sp>
        <p:nvSpPr>
          <p:cNvPr id="21" name="">
            <a:extLst xmlns:a="http://schemas.openxmlformats.org/drawingml/2006/main">
              <a:ext uri="{FF2B5EF4-FFF2-40B4-BE49-F238E27FC236}">
                <a16:creationId xmlns:a16="http://schemas.microsoft.com/office/drawing/2014/main" id="{3258D39F-20BB-4820-A698-890ABE002CDB}"/>
              </a:ext>
            </a:extLst>
          </p:cNvPr>
          <p:cNvSpPr>
            <a:spLocks xmlns:a="http://schemas.openxmlformats.org/drawingml/2006/main" noGrp="1"/>
          </p:cNvSpPr>
          <p:nvPr/>
        </p:nvSpPr>
        <p:spPr>
          <a:xfrm xmlns:a="http://schemas.openxmlformats.org/drawingml/2006/main">
            <a:off x="7810500" y="2867025"/>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FastAPI on AWS App Runner with Bedrock in us-east-1</a:t>
            </a:r>
          </a:p>
        </p:txBody>
      </p:sp>
      <p:sp>
        <p:nvSpPr>
          <p:cNvPr id="22" name="">
            <a:extLst xmlns:a="http://schemas.openxmlformats.org/drawingml/2006/main">
              <a:ext uri="{FF2B5EF4-FFF2-40B4-BE49-F238E27FC236}">
                <a16:creationId xmlns:a16="http://schemas.microsoft.com/office/drawing/2014/main" id="{724D4293-E810-472E-AAB8-0916E23AA6C3}"/>
              </a:ext>
            </a:extLst>
          </p:cNvPr>
          <p:cNvSpPr>
            <a:spLocks xmlns:a="http://schemas.openxmlformats.org/drawingml/2006/main" noGrp="1"/>
          </p:cNvSpPr>
          <p:nvPr/>
        </p:nvSpPr>
        <p:spPr>
          <a:xfrm xmlns:a="http://schemas.openxmlformats.org/drawingml/2006/main">
            <a:off x="7810500" y="3552825"/>
            <a:ext cx="3429000" cy="0"/>
          </a:xfrm>
          <a:prstGeom xmlns:a="http://schemas.openxmlformats.org/drawingml/2006/main" prst="line">
            <a:avLst/>
          </a:prstGeom>
          <a:noFill xmlns:a="http://schemas.openxmlformats.org/drawingml/2006/main"/>
          <a:ln xmlns:a="http://schemas.openxmlformats.org/drawingml/2006/main" w="9525">
            <a:solidFill>
              <a:srgbClr val="08706F"/>
            </a:solidFill>
          </a:ln>
        </p:spPr>
      </p:sp>
      <p:sp>
        <p:nvSpPr>
          <p:cNvPr id="23" name="">
            <a:extLst xmlns:a="http://schemas.openxmlformats.org/drawingml/2006/main">
              <a:ext uri="{FF2B5EF4-FFF2-40B4-BE49-F238E27FC236}">
                <a16:creationId xmlns:a16="http://schemas.microsoft.com/office/drawing/2014/main" id="{86F5EDEA-5212-4E60-A6FD-1DEB13DA2233}"/>
              </a:ext>
            </a:extLst>
          </p:cNvPr>
          <p:cNvSpPr>
            <a:spLocks xmlns:a="http://schemas.openxmlformats.org/drawingml/2006/main" noGrp="1"/>
          </p:cNvSpPr>
          <p:nvPr/>
        </p:nvSpPr>
        <p:spPr>
          <a:xfrm xmlns:a="http://schemas.openxmlformats.org/drawingml/2006/main">
            <a:off x="7810500" y="3714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CURRENT CONSTRAINT</a:t>
            </a:r>
          </a:p>
        </p:txBody>
      </p:sp>
      <p:sp>
        <p:nvSpPr>
          <p:cNvPr id="24" name="">
            <a:extLst xmlns:a="http://schemas.openxmlformats.org/drawingml/2006/main">
              <a:ext uri="{FF2B5EF4-FFF2-40B4-BE49-F238E27FC236}">
                <a16:creationId xmlns:a16="http://schemas.microsoft.com/office/drawing/2014/main" id="{764AC3D9-C8DC-4868-AA85-DB8908E5B31C}"/>
              </a:ext>
            </a:extLst>
          </p:cNvPr>
          <p:cNvSpPr>
            <a:spLocks xmlns:a="http://schemas.openxmlformats.org/drawingml/2006/main" noGrp="1"/>
          </p:cNvSpPr>
          <p:nvPr/>
        </p:nvSpPr>
        <p:spPr>
          <a:xfrm xmlns:a="http://schemas.openxmlformats.org/drawingml/2006/main">
            <a:off x="7810500" y="4010025"/>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The workshop IAM role blocks App Runner provisioning</a:t>
            </a:r>
          </a:p>
        </p:txBody>
      </p:sp>
      <p:sp>
        <p:nvSpPr>
          <p:cNvPr id="25" name="">
            <a:extLst xmlns:a="http://schemas.openxmlformats.org/drawingml/2006/main">
              <a:ext uri="{FF2B5EF4-FFF2-40B4-BE49-F238E27FC236}">
                <a16:creationId xmlns:a16="http://schemas.microsoft.com/office/drawing/2014/main" id="{DACD0BF0-9EE5-4CD3-96B9-3F6D92B5FD32}"/>
              </a:ext>
            </a:extLst>
          </p:cNvPr>
          <p:cNvSpPr>
            <a:spLocks xmlns:a="http://schemas.openxmlformats.org/drawingml/2006/main" noGrp="1"/>
          </p:cNvSpPr>
          <p:nvPr/>
        </p:nvSpPr>
        <p:spPr>
          <a:xfrm xmlns:a="http://schemas.openxmlformats.org/drawingml/2006/main">
            <a:off x="7810500" y="4695825"/>
            <a:ext cx="3429000" cy="0"/>
          </a:xfrm>
          <a:prstGeom xmlns:a="http://schemas.openxmlformats.org/drawingml/2006/main" prst="line">
            <a:avLst/>
          </a:prstGeom>
          <a:noFill xmlns:a="http://schemas.openxmlformats.org/drawingml/2006/main"/>
          <a:ln xmlns:a="http://schemas.openxmlformats.org/drawingml/2006/main" w="9525">
            <a:solidFill>
              <a:srgbClr val="08706F"/>
            </a:solidFill>
          </a:ln>
        </p:spPr>
      </p:sp>
      <p:sp>
        <p:nvSpPr>
          <p:cNvPr id="26" name="">
            <a:extLst xmlns:a="http://schemas.openxmlformats.org/drawingml/2006/main">
              <a:ext uri="{FF2B5EF4-FFF2-40B4-BE49-F238E27FC236}">
                <a16:creationId xmlns:a16="http://schemas.microsoft.com/office/drawing/2014/main" id="{5BB225BC-8EEB-49FE-BB45-660AA27771D6}"/>
              </a:ext>
            </a:extLst>
          </p:cNvPr>
          <p:cNvSpPr>
            <a:spLocks xmlns:a="http://schemas.openxmlformats.org/drawingml/2006/main" noGrp="1"/>
          </p:cNvSpPr>
          <p:nvPr/>
        </p:nvSpPr>
        <p:spPr>
          <a:xfrm xmlns:a="http://schemas.openxmlformats.org/drawingml/2006/main">
            <a:off x="7810500" y="485775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PACKAGE STATUS</a:t>
            </a:r>
          </a:p>
        </p:txBody>
      </p:sp>
      <p:sp>
        <p:nvSpPr>
          <p:cNvPr id="27" name="">
            <a:extLst xmlns:a="http://schemas.openxmlformats.org/drawingml/2006/main">
              <a:ext uri="{FF2B5EF4-FFF2-40B4-BE49-F238E27FC236}">
                <a16:creationId xmlns:a16="http://schemas.microsoft.com/office/drawing/2014/main" id="{19630999-96C4-4744-9039-2C9404BA59E5}"/>
              </a:ext>
            </a:extLst>
          </p:cNvPr>
          <p:cNvSpPr>
            <a:spLocks xmlns:a="http://schemas.openxmlformats.org/drawingml/2006/main" noGrp="1"/>
          </p:cNvSpPr>
          <p:nvPr/>
        </p:nvSpPr>
        <p:spPr>
          <a:xfrm xmlns:a="http://schemas.openxmlformats.org/drawingml/2006/main">
            <a:off x="7810500" y="5153025"/>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Ready for deployment from an authorized AWS account</a:t>
            </a:r>
          </a:p>
        </p:txBody>
      </p:sp>
      <p:sp>
        <p:nvSpPr>
          <p:cNvPr id="28" name="">
            <a:extLst xmlns:a="http://schemas.openxmlformats.org/drawingml/2006/main">
              <a:ext uri="{FF2B5EF4-FFF2-40B4-BE49-F238E27FC236}">
                <a16:creationId xmlns:a16="http://schemas.microsoft.com/office/drawing/2014/main" id="{F83D3EBA-5709-42B6-8690-3122742EE3E2}"/>
              </a:ext>
            </a:extLst>
          </p:cNvPr>
          <p:cNvSpPr>
            <a:spLocks xmlns:a="http://schemas.openxmlformats.org/drawingml/2006/main" noGrp="1"/>
          </p:cNvSpPr>
          <p:nvPr/>
        </p:nvSpPr>
        <p:spPr>
          <a:xfrm xmlns:a="http://schemas.openxmlformats.org/drawingml/2006/main">
            <a:off x="628650" y="58674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E56B52"/>
                </a:solidFill>
                <a:latin typeface="Avenir Next"/>
                <a:ea typeface="Avenir Next"/>
                <a:cs typeface="Avenir Next"/>
              </a:defRPr>
            </a:pPr>
            <a:r>
              <a:rPr sz="1275" b="1">
                <a:solidFill>
                  <a:srgbClr val="E56B52"/>
                </a:solidFill>
                <a:latin typeface="Avenir Next"/>
                <a:ea typeface="Avenir Next"/>
                <a:cs typeface="Avenir Next"/>
              </a:rPr>
              <a:t>Hackathon decision-support demonstration. Not clinical, regulatory, legal, or medical advice.</a:t>
            </a:r>
          </a:p>
        </p:txBody>
      </p:sp>
      <p:sp>
        <p:nvSpPr>
          <p:cNvPr id="29" name="">
            <a:extLst xmlns:a="http://schemas.openxmlformats.org/drawingml/2006/main">
              <a:ext uri="{FF2B5EF4-FFF2-40B4-BE49-F238E27FC236}">
                <a16:creationId xmlns:a16="http://schemas.microsoft.com/office/drawing/2014/main" id="{032265E1-0B62-4E19-9978-A559E180B7FB}"/>
              </a:ext>
            </a:extLst>
          </p:cNvPr>
          <p:cNvSpPr>
            <a:spLocks xmlns:a="http://schemas.openxmlformats.org/drawingml/2006/main" noGrp="1"/>
          </p:cNvSpPr>
          <p:nvPr/>
        </p:nvSpPr>
        <p:spPr>
          <a:xfrm xmlns:a="http://schemas.openxmlformats.org/drawingml/2006/main">
            <a:off x="609600" y="64389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TRIALGUARD  ·  PRESENTATION DECK</a:t>
            </a:r>
          </a:p>
        </p:txBody>
      </p:sp>
      <p:sp>
        <p:nvSpPr>
          <p:cNvPr id="30" name="">
            <a:extLst xmlns:a="http://schemas.openxmlformats.org/drawingml/2006/main">
              <a:ext uri="{FF2B5EF4-FFF2-40B4-BE49-F238E27FC236}">
                <a16:creationId xmlns:a16="http://schemas.microsoft.com/office/drawing/2014/main" id="{2CEB53BA-C93D-49DC-9F3A-2AEB5FF4A629}"/>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BEEBE4"/>
                </a:solidFill>
                <a:latin typeface="Avenir Next"/>
                <a:ea typeface="Avenir Next"/>
                <a:cs typeface="Avenir Next"/>
              </a:defRPr>
            </a:pPr>
            <a:r>
              <a:rPr sz="900" b="1">
                <a:solidFill>
                  <a:srgbClr val="BEEBE4"/>
                </a:solidFill>
                <a:latin typeface="Avenir Next"/>
                <a:ea typeface="Avenir Next"/>
                <a:cs typeface="Avenir Next"/>
              </a:rPr>
              <a:t>06</a:t>
            </a:r>
          </a:p>
        </p:txBody>
      </p:sp>
    </p:spTree>
    <p:extLst>
      <p:ext uri="{BB962C8B-B14F-4D97-AF65-F5344CB8AC3E}">
        <p14:creationId xmlns:p14="http://schemas.microsoft.com/office/powerpoint/2010/main" val="7120518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2026-09-26T19:37:44.6950000Z</dcterms:created>
  <dcterms:modified xsi:type="dcterms:W3CDTF">2026-09-26T19:37:44.6950000Z</dcterms:modified>
</coreProperties>
</file>